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14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0F4D7-6F74-18B1-C73D-934938228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67070F-C39F-64B3-48CD-E6FD84A06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C5826C-4036-EE57-01E1-CD692565D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398D3-3D57-4FF9-90C5-D351E54AE5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1FE3A4-9BF1-B999-C580-9054200A3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2083CC-9661-9FB4-F9C9-87096617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B9EBD-30D4-4171-ACE0-CB0387A14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000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12E815-58EC-4FBA-175E-68E742FEB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E4BD54-EE32-DDD5-E101-7FF99CB7B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2A39CF-283E-0276-FD65-0F25E236F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398D3-3D57-4FF9-90C5-D351E54AE5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0AB45D-D9E3-613D-2C28-F1B6734A7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79E542-4378-C88A-B501-1B37A3365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B9EBD-30D4-4171-ACE0-CB0387A14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24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D87BA-FFD8-2761-DEF0-70214B18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CBA72A-2F72-F671-DDED-66E2C5C6F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93BCAB-02FC-F14A-8654-1C04300A5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398D3-3D57-4FF9-90C5-D351E54AE5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858F55-FF01-0D97-7431-AE0E5A984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5E4703-E126-17C0-D2A6-62DA75651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B9EBD-30D4-4171-ACE0-CB0387A14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70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DEEA9-EFB8-734B-B23D-4CF08E15F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40E0A8-FC17-644F-A409-6EDFB9603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B11E92-D831-40A5-7789-7A4377829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CAFA66-FA64-0EEB-FF51-CA290E38E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398D3-3D57-4FF9-90C5-D351E54AE5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BA55B4-AC8B-7C80-FADC-05597FEE0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6C33E7-EAA1-8174-F339-EFC7B8AF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B9EBD-30D4-4171-ACE0-CB0387A14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99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F7473-556C-F6A7-C376-F90FE6707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29A2E1-5254-7EC5-F1B0-EB1BA01E4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61202C-DCEE-376F-620D-91DB517E8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6361AF0-C73D-3EB9-0B5D-F8461651C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FDEA92-A464-86D7-4745-DBC190561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F31D66A-A34B-70F3-F154-43CCCAB63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398D3-3D57-4FF9-90C5-D351E54AE5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F46ADA-A744-B5A0-DFED-00BD6FCBE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B259C6-D711-E034-A014-C92263B33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B9EBD-30D4-4171-ACE0-CB0387A14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23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F1D47-9188-E09D-1E20-7684D5FC6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C669B3-B787-938D-FD17-E11F0426B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398D3-3D57-4FF9-90C5-D351E54AE5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B89B8E-F470-D2D1-FB0B-23C0D912E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283F88-FD80-70E2-C453-1B97FB513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B9EBD-30D4-4171-ACE0-CB0387A14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929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9B3B40-49BC-98B6-8734-99FA41628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398D3-3D57-4FF9-90C5-D351E54AE5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FD3DAD-21D2-0104-6E5B-CA2ED32E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8BF5C0-7D88-3E61-B511-F30E469C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B9EBD-30D4-4171-ACE0-CB0387A14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08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B5E44-8737-6EC0-E599-E51DCA891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35F86C-8BBF-20A8-8D3E-7243B31A3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B88DBF-A615-3362-739F-27F89E5CD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81FADF-7A80-6D05-6BE0-521C2C35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398D3-3D57-4FF9-90C5-D351E54AE5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B84338-489B-BF5E-600C-EFC0EA445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017A94-01D2-1A0C-75BB-1DA38899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B9EBD-30D4-4171-ACE0-CB0387A14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578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95FC84-3CD2-8D61-40A5-A33998EDA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C9DABB3-FAC4-3BD6-452D-59DE0C1C60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6D2CDC-2BBC-1E7B-3C80-69D262CF6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58ECE7-6BD0-0C48-1F88-52CF365C2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398D3-3D57-4FF9-90C5-D351E54AE5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B38CF8-C59D-200F-AF31-BA34D7A2F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42EDC3-85B9-84FE-C399-8CD840E6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B9EBD-30D4-4171-ACE0-CB0387A14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804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D07C51-4B49-036F-6E5E-52A07A7C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FA8A5E-3F0E-CD09-6053-0C4A38CDC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8D9297-A784-4877-C691-14B81ADD8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398D3-3D57-4FF9-90C5-D351E54AE5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32467B-85B4-A8C6-6A51-F6586962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BB5044-411A-9FB3-90D1-69E6E8477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B9EBD-30D4-4171-ACE0-CB0387A14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253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CE5192-CCFC-D8AB-8EAD-ED98B0AB34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00A518-BB5B-3998-8A62-DC301C79C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9B5372-CADA-233E-8DA4-2B785D2D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398D3-3D57-4FF9-90C5-D351E54AE5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19FAF5-BFD6-102F-343D-3B7B9BFF3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FBA91A-F4CF-8DF2-0AC2-F04251D55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B9EBD-30D4-4171-ACE0-CB0387A14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426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B173F9B-6E63-039A-F748-66E6618CD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92AE68-8E35-31D1-2C9E-48FDF19EB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4C46C1-BBDA-E91A-576D-8F94B116E8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398D3-3D57-4FF9-90C5-D351E54AE5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FB6BE7-FF32-048C-2A6E-4A89F4BEA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D7A514-1C9D-0024-F495-D8457276A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B9EBD-30D4-4171-ACE0-CB0387A14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821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svg"/><Relationship Id="rId7" Type="http://schemas.openxmlformats.org/officeDocument/2006/relationships/image" Target="../media/image9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4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4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21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24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7.sv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9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FED10C7-9466-D695-0EBE-7747B8DF1B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A131184-A862-438D-0643-998844A6CD0F}"/>
              </a:ext>
            </a:extLst>
          </p:cNvPr>
          <p:cNvSpPr/>
          <p:nvPr/>
        </p:nvSpPr>
        <p:spPr>
          <a:xfrm>
            <a:off x="0" y="0"/>
            <a:ext cx="165100" cy="6858000"/>
          </a:xfrm>
          <a:prstGeom prst="rect">
            <a:avLst/>
          </a:prstGeom>
          <a:solidFill>
            <a:srgbClr val="17233F"/>
          </a:solidFill>
          <a:ln w="0">
            <a:solidFill>
              <a:srgbClr val="1723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6F6480-5346-58F4-251C-E448E26FEEFC}"/>
              </a:ext>
            </a:extLst>
          </p:cNvPr>
          <p:cNvSpPr/>
          <p:nvPr/>
        </p:nvSpPr>
        <p:spPr>
          <a:xfrm>
            <a:off x="165100" y="0"/>
            <a:ext cx="63500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F905DD-2177-3865-3BB6-CE3C4D66D11C}"/>
              </a:ext>
            </a:extLst>
          </p:cNvPr>
          <p:cNvSpPr/>
          <p:nvPr/>
        </p:nvSpPr>
        <p:spPr>
          <a:xfrm>
            <a:off x="660400" y="609600"/>
            <a:ext cx="2032000" cy="330200"/>
          </a:xfrm>
          <a:prstGeom prst="rect">
            <a:avLst/>
          </a:prstGeom>
          <a:solidFill>
            <a:srgbClr val="E8F1FF"/>
          </a:solidFill>
          <a:ln w="6350">
            <a:solidFill>
              <a:srgbClr val="E8F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200BBE-A982-1566-6377-B9917EA9255F}"/>
              </a:ext>
            </a:extLst>
          </p:cNvPr>
          <p:cNvSpPr txBox="1"/>
          <p:nvPr/>
        </p:nvSpPr>
        <p:spPr>
          <a:xfrm>
            <a:off x="762000" y="673100"/>
            <a:ext cx="18288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1200" b="1">
                <a:solidFill>
                  <a:srgbClr val="2E6FD4"/>
                </a:solidFill>
                <a:latin typeface="Pretendard"/>
              </a:rPr>
              <a:t>6/11 </a:t>
            </a:r>
            <a:r>
              <a:rPr lang="ko-KR" altLang="en-US" sz="1200" b="1">
                <a:solidFill>
                  <a:srgbClr val="2E6FD4"/>
                </a:solidFill>
                <a:latin typeface="Pretendard"/>
              </a:rPr>
              <a:t>발표 구성 샘플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2B91D5-5D10-71FF-38B1-2D5FFE68789B}"/>
              </a:ext>
            </a:extLst>
          </p:cNvPr>
          <p:cNvSpPr txBox="1"/>
          <p:nvPr/>
        </p:nvSpPr>
        <p:spPr>
          <a:xfrm>
            <a:off x="660400" y="1600200"/>
            <a:ext cx="9652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3000" b="1">
                <a:solidFill>
                  <a:srgbClr val="1B2A4E"/>
                </a:solidFill>
                <a:latin typeface="Pretendard"/>
              </a:rPr>
              <a:t>시니어 온디바이스 헬스케어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6A4DD-6A73-ADE9-F65B-388D5D17245A}"/>
              </a:ext>
            </a:extLst>
          </p:cNvPr>
          <p:cNvSpPr txBox="1"/>
          <p:nvPr/>
        </p:nvSpPr>
        <p:spPr>
          <a:xfrm>
            <a:off x="660400" y="2082800"/>
            <a:ext cx="9652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3000" b="1">
                <a:solidFill>
                  <a:srgbClr val="1B2A4E"/>
                </a:solidFill>
                <a:latin typeface="Pretendard"/>
              </a:rPr>
              <a:t>지식증류 </a:t>
            </a:r>
            <a:r>
              <a:rPr lang="en-US" altLang="ko-KR" sz="3000" b="1">
                <a:solidFill>
                  <a:srgbClr val="1B2A4E"/>
                </a:solidFill>
                <a:latin typeface="Pretendard"/>
              </a:rPr>
              <a:t>LLM </a:t>
            </a:r>
            <a:r>
              <a:rPr lang="ko-KR" altLang="en-US" sz="3000" b="1">
                <a:solidFill>
                  <a:srgbClr val="1B2A4E"/>
                </a:solidFill>
                <a:latin typeface="Pretendard"/>
              </a:rPr>
              <a:t>프로젝트 계획서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E928047-1F7E-4064-FF06-F575A5FDCF49}"/>
              </a:ext>
            </a:extLst>
          </p:cNvPr>
          <p:cNvCxnSpPr/>
          <p:nvPr/>
        </p:nvCxnSpPr>
        <p:spPr>
          <a:xfrm>
            <a:off x="660400" y="2768600"/>
            <a:ext cx="10769600" cy="0"/>
          </a:xfrm>
          <a:prstGeom prst="line">
            <a:avLst/>
          </a:prstGeom>
          <a:ln w="38100">
            <a:solidFill>
              <a:srgbClr val="1B2A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725EF2A-C745-CAB3-63CB-A185A31DBE19}"/>
              </a:ext>
            </a:extLst>
          </p:cNvPr>
          <p:cNvSpPr txBox="1"/>
          <p:nvPr/>
        </p:nvSpPr>
        <p:spPr>
          <a:xfrm>
            <a:off x="660400" y="3124200"/>
            <a:ext cx="7112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550">
                <a:solidFill>
                  <a:srgbClr val="202635"/>
                </a:solidFill>
                <a:latin typeface="Pretendard"/>
              </a:rPr>
              <a:t>조별 모임에서 정한 발표 흐름을 유지하면서</a:t>
            </a:r>
            <a:r>
              <a:rPr lang="en-US" altLang="ko-KR" sz="1550">
                <a:solidFill>
                  <a:srgbClr val="202635"/>
                </a:solidFill>
                <a:latin typeface="Pretendard"/>
              </a:rPr>
              <a:t>, </a:t>
            </a:r>
            <a:r>
              <a:rPr lang="ko-KR" altLang="en-US" sz="1550">
                <a:solidFill>
                  <a:srgbClr val="202635"/>
                </a:solidFill>
                <a:latin typeface="Pretendard"/>
              </a:rPr>
              <a:t>장면형</a:t>
            </a:r>
            <a:r>
              <a:rPr lang="en-US" altLang="ko-KR" sz="15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550">
                <a:solidFill>
                  <a:srgbClr val="202635"/>
                </a:solidFill>
                <a:latin typeface="Pretendard"/>
              </a:rPr>
              <a:t>개념도</a:t>
            </a:r>
            <a:r>
              <a:rPr lang="en-US" altLang="ko-KR" sz="15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550">
                <a:solidFill>
                  <a:srgbClr val="202635"/>
                </a:solidFill>
                <a:latin typeface="Pretendard"/>
              </a:rPr>
              <a:t>데이터 </a:t>
            </a:r>
            <a:r>
              <a:rPr lang="en-US" altLang="ko-KR" sz="1550">
                <a:solidFill>
                  <a:srgbClr val="202635"/>
                </a:solidFill>
                <a:latin typeface="Pretendard"/>
              </a:rPr>
              <a:t>funnel·</a:t>
            </a:r>
            <a:r>
              <a:rPr lang="ko-KR" altLang="en-US" sz="1550">
                <a:solidFill>
                  <a:srgbClr val="202635"/>
                </a:solidFill>
                <a:latin typeface="Pretendard"/>
              </a:rPr>
              <a:t>아키텍처</a:t>
            </a:r>
            <a:r>
              <a:rPr lang="en-US" altLang="ko-KR" sz="15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550">
                <a:solidFill>
                  <a:srgbClr val="202635"/>
                </a:solidFill>
                <a:latin typeface="Pretendard"/>
              </a:rPr>
              <a:t>스토리보드</a:t>
            </a:r>
            <a:r>
              <a:rPr lang="en-US" altLang="ko-KR" sz="15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550">
                <a:solidFill>
                  <a:srgbClr val="202635"/>
                </a:solidFill>
                <a:latin typeface="Pretendard"/>
              </a:rPr>
              <a:t>로드맵 포맷을 섞은 팀 공유용 예시</a:t>
            </a: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0D86B081-E7DA-6C80-1C16-5E24C8618F7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75600" y="3225800"/>
            <a:ext cx="3429000" cy="1625600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88BFD38-D7EA-0B12-BD31-01677BCB006D}"/>
              </a:ext>
            </a:extLst>
          </p:cNvPr>
          <p:cNvSpPr/>
          <p:nvPr/>
        </p:nvSpPr>
        <p:spPr>
          <a:xfrm>
            <a:off x="736600" y="4394200"/>
            <a:ext cx="1422400" cy="609600"/>
          </a:xfrm>
          <a:prstGeom prst="roundRect">
            <a:avLst/>
          </a:prstGeom>
          <a:solidFill>
            <a:srgbClr val="FCEDEC"/>
          </a:solidFill>
          <a:ln w="10160">
            <a:solidFill>
              <a:srgbClr val="C5D3E8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CA4054B6-CD89-ED30-E7FE-9FA9043F6A0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650" y="4508500"/>
            <a:ext cx="292100" cy="2921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151665C-204E-9572-1620-05366EABB6AA}"/>
              </a:ext>
            </a:extLst>
          </p:cNvPr>
          <p:cNvSpPr txBox="1"/>
          <p:nvPr/>
        </p:nvSpPr>
        <p:spPr>
          <a:xfrm>
            <a:off x="1235657" y="4572000"/>
            <a:ext cx="965200" cy="33061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50" b="1" dirty="0">
                <a:solidFill>
                  <a:srgbClr val="1B2A4E"/>
                </a:solidFill>
                <a:latin typeface="Pretendard"/>
              </a:rPr>
              <a:t>오프라인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1EFACDA-C3F3-9630-44AC-B695ED19CE0A}"/>
              </a:ext>
            </a:extLst>
          </p:cNvPr>
          <p:cNvSpPr/>
          <p:nvPr/>
        </p:nvSpPr>
        <p:spPr>
          <a:xfrm>
            <a:off x="2459655" y="4394200"/>
            <a:ext cx="1422400" cy="609600"/>
          </a:xfrm>
          <a:prstGeom prst="roundRect">
            <a:avLst/>
          </a:prstGeom>
          <a:solidFill>
            <a:srgbClr val="E8F6EF"/>
          </a:solidFill>
          <a:ln w="10160">
            <a:solidFill>
              <a:srgbClr val="C5D3E8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8402EEAA-F152-F606-4C52-D6DB691222E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5705" y="4508500"/>
            <a:ext cx="292100" cy="2921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35B40B4-AED0-1D04-58C6-D9D9AEB68983}"/>
              </a:ext>
            </a:extLst>
          </p:cNvPr>
          <p:cNvSpPr txBox="1"/>
          <p:nvPr/>
        </p:nvSpPr>
        <p:spPr>
          <a:xfrm>
            <a:off x="2958712" y="4572000"/>
            <a:ext cx="965200" cy="47230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50" b="1" dirty="0">
                <a:solidFill>
                  <a:srgbClr val="1B2A4E"/>
                </a:solidFill>
                <a:latin typeface="Pretendard"/>
              </a:rPr>
              <a:t>프라이버시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09D01E5-15A2-2AEC-2895-9D0B07D58C62}"/>
              </a:ext>
            </a:extLst>
          </p:cNvPr>
          <p:cNvSpPr/>
          <p:nvPr/>
        </p:nvSpPr>
        <p:spPr>
          <a:xfrm>
            <a:off x="4182710" y="4394200"/>
            <a:ext cx="1422400" cy="609600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C5D3E8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래픽 22">
            <a:extLst>
              <a:ext uri="{FF2B5EF4-FFF2-40B4-BE49-F238E27FC236}">
                <a16:creationId xmlns:a16="http://schemas.microsoft.com/office/drawing/2014/main" id="{9B178B6F-A715-3B00-50BC-671A87FD4AE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8760" y="4508500"/>
            <a:ext cx="292100" cy="2921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9A15D4-3DD4-443C-204D-7075C01216D4}"/>
              </a:ext>
            </a:extLst>
          </p:cNvPr>
          <p:cNvSpPr txBox="1"/>
          <p:nvPr/>
        </p:nvSpPr>
        <p:spPr>
          <a:xfrm>
            <a:off x="4709760" y="4572000"/>
            <a:ext cx="7112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50" b="1" dirty="0">
                <a:solidFill>
                  <a:srgbClr val="1B2A4E"/>
                </a:solidFill>
                <a:latin typeface="Pretendard"/>
              </a:rPr>
              <a:t>말동무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988E86-936C-D073-798C-A01EBB6E475E}"/>
              </a:ext>
            </a:extLst>
          </p:cNvPr>
          <p:cNvSpPr txBox="1"/>
          <p:nvPr/>
        </p:nvSpPr>
        <p:spPr>
          <a:xfrm>
            <a:off x="660400" y="6400800"/>
            <a:ext cx="4572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900">
                <a:solidFill>
                  <a:srgbClr val="586780"/>
                </a:solidFill>
                <a:latin typeface="Pretendard"/>
              </a:rPr>
              <a:t>팀 공유용 샘플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|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실제 수치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·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구현 로그는 담당자 자료로 교체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006852-68EE-7B97-1337-1F4E381588AE}"/>
              </a:ext>
            </a:extLst>
          </p:cNvPr>
          <p:cNvSpPr txBox="1"/>
          <p:nvPr/>
        </p:nvSpPr>
        <p:spPr>
          <a:xfrm>
            <a:off x="11430000" y="6400800"/>
            <a:ext cx="304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1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944603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E250DAA-8BE8-BE94-A69A-D9796BDF2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D439BD-4254-5B4F-45E2-914A14AA344B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233F"/>
          </a:solidFill>
          <a:ln w="0">
            <a:solidFill>
              <a:srgbClr val="1723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98E8E4-CB60-4F77-F88C-412B94B20B63}"/>
              </a:ext>
            </a:extLst>
          </p:cNvPr>
          <p:cNvSpPr/>
          <p:nvPr/>
        </p:nvSpPr>
        <p:spPr>
          <a:xfrm>
            <a:off x="114300" y="0"/>
            <a:ext cx="50800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A363BB-94B0-FAE8-9EF8-A8E0C613DA00}"/>
              </a:ext>
            </a:extLst>
          </p:cNvPr>
          <p:cNvSpPr/>
          <p:nvPr/>
        </p:nvSpPr>
        <p:spPr>
          <a:xfrm>
            <a:off x="508000" y="355600"/>
            <a:ext cx="2057400" cy="330200"/>
          </a:xfrm>
          <a:prstGeom prst="rect">
            <a:avLst/>
          </a:prstGeom>
          <a:solidFill>
            <a:srgbClr val="E8F1FF"/>
          </a:solidFill>
          <a:ln w="6350">
            <a:solidFill>
              <a:srgbClr val="E8F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0357AB-575C-3B21-F1F8-943E689E9504}"/>
              </a:ext>
            </a:extLst>
          </p:cNvPr>
          <p:cNvSpPr txBox="1"/>
          <p:nvPr/>
        </p:nvSpPr>
        <p:spPr>
          <a:xfrm>
            <a:off x="609600" y="419100"/>
            <a:ext cx="1854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00" b="1">
                <a:solidFill>
                  <a:srgbClr val="2E6FD4"/>
                </a:solidFill>
                <a:latin typeface="Pretendard"/>
              </a:rPr>
              <a:t>발표 흐름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8A24E-6E25-6F2B-50EA-83F231CEFDB4}"/>
              </a:ext>
            </a:extLst>
          </p:cNvPr>
          <p:cNvSpPr txBox="1"/>
          <p:nvPr/>
        </p:nvSpPr>
        <p:spPr>
          <a:xfrm>
            <a:off x="10693400" y="482600"/>
            <a:ext cx="990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586780"/>
                </a:solidFill>
                <a:latin typeface="Pretendard"/>
              </a:rPr>
              <a:t>Exhibit 02</a:t>
            </a:r>
            <a:endParaRPr lang="ko-KR" altLang="en-US" sz="950" b="1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D255B8-7650-8423-718C-AB10781A2ECD}"/>
              </a:ext>
            </a:extLst>
          </p:cNvPr>
          <p:cNvSpPr txBox="1"/>
          <p:nvPr/>
        </p:nvSpPr>
        <p:spPr>
          <a:xfrm>
            <a:off x="584200" y="9906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2550" b="1">
                <a:solidFill>
                  <a:srgbClr val="1B2A4E"/>
                </a:solidFill>
                <a:latin typeface="Pretendard"/>
              </a:rPr>
              <a:t>7</a:t>
            </a:r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개 담당 파트는 앞 질문을 만들고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E448B5-F13A-0867-3C30-97E7EDED552E}"/>
              </a:ext>
            </a:extLst>
          </p:cNvPr>
          <p:cNvSpPr txBox="1"/>
          <p:nvPr/>
        </p:nvSpPr>
        <p:spPr>
          <a:xfrm>
            <a:off x="584200" y="13843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다음 파트가 그 질문에 답하는 구조로 연결함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827AD67-20EB-445B-CEFA-E4B3E934790C}"/>
              </a:ext>
            </a:extLst>
          </p:cNvPr>
          <p:cNvCxnSpPr/>
          <p:nvPr/>
        </p:nvCxnSpPr>
        <p:spPr>
          <a:xfrm>
            <a:off x="508000" y="1778000"/>
            <a:ext cx="11176000" cy="0"/>
          </a:xfrm>
          <a:prstGeom prst="line">
            <a:avLst/>
          </a:prstGeom>
          <a:ln w="38100">
            <a:solidFill>
              <a:srgbClr val="1B2A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111602-23C1-DC0A-5BDD-62BA5C56953E}"/>
              </a:ext>
            </a:extLst>
          </p:cNvPr>
          <p:cNvSpPr/>
          <p:nvPr/>
        </p:nvSpPr>
        <p:spPr>
          <a:xfrm>
            <a:off x="508000" y="6197600"/>
            <a:ext cx="11176000" cy="368300"/>
          </a:xfrm>
          <a:prstGeom prst="rect">
            <a:avLst/>
          </a:prstGeom>
          <a:solidFill>
            <a:srgbClr val="EEF4FC"/>
          </a:solidFill>
          <a:ln w="9525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4D176A-214A-D040-F671-41A6550D315F}"/>
              </a:ext>
            </a:extLst>
          </p:cNvPr>
          <p:cNvSpPr/>
          <p:nvPr/>
        </p:nvSpPr>
        <p:spPr>
          <a:xfrm>
            <a:off x="508000" y="6197600"/>
            <a:ext cx="76200" cy="3683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DDB0A1-9609-34E3-01EF-56767F4F0D4A}"/>
              </a:ext>
            </a:extLst>
          </p:cNvPr>
          <p:cNvSpPr txBox="1"/>
          <p:nvPr/>
        </p:nvSpPr>
        <p:spPr>
          <a:xfrm>
            <a:off x="736600" y="6311900"/>
            <a:ext cx="889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 b="1">
                <a:solidFill>
                  <a:srgbClr val="2E6FD4"/>
                </a:solidFill>
                <a:latin typeface="Pretendard"/>
              </a:rPr>
              <a:t>Takeaway</a:t>
            </a:r>
            <a:endParaRPr lang="ko-KR" altLang="en-US" sz="900" b="1">
              <a:solidFill>
                <a:srgbClr val="2E6FD4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D81A47-714C-E7A3-2AF9-CDD305C18658}"/>
              </a:ext>
            </a:extLst>
          </p:cNvPr>
          <p:cNvSpPr txBox="1"/>
          <p:nvPr/>
        </p:nvSpPr>
        <p:spPr>
          <a:xfrm>
            <a:off x="1727200" y="6273800"/>
            <a:ext cx="9144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조별 모임에서 정한 순서를 유지하고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, 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각 파트는 다음 파트의 필요성을 열어줌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E45638-EEC4-A2EF-21E1-1E8E072833AE}"/>
              </a:ext>
            </a:extLst>
          </p:cNvPr>
          <p:cNvSpPr txBox="1"/>
          <p:nvPr/>
        </p:nvSpPr>
        <p:spPr>
          <a:xfrm>
            <a:off x="508000" y="6680200"/>
            <a:ext cx="5207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>
                <a:solidFill>
                  <a:srgbClr val="586780"/>
                </a:solidFill>
                <a:latin typeface="Pretendard"/>
              </a:rPr>
              <a:t>6/11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발표 샘플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|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시니어 온디바이스 헬스케어 지식증류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LLM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8FC5B-7648-2711-6B5A-D38D0DF5BC23}"/>
              </a:ext>
            </a:extLst>
          </p:cNvPr>
          <p:cNvSpPr txBox="1"/>
          <p:nvPr/>
        </p:nvSpPr>
        <p:spPr>
          <a:xfrm>
            <a:off x="6350000" y="6680200"/>
            <a:ext cx="4572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Source: team meeting notes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95FCE6-13CC-5AA0-C85B-9718318669C7}"/>
              </a:ext>
            </a:extLst>
          </p:cNvPr>
          <p:cNvSpPr txBox="1"/>
          <p:nvPr/>
        </p:nvSpPr>
        <p:spPr>
          <a:xfrm>
            <a:off x="11379200" y="6680200"/>
            <a:ext cx="355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2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3043875-0432-7993-13ED-7D81956EDD5B}"/>
              </a:ext>
            </a:extLst>
          </p:cNvPr>
          <p:cNvSpPr/>
          <p:nvPr/>
        </p:nvSpPr>
        <p:spPr>
          <a:xfrm>
            <a:off x="939800" y="2565400"/>
            <a:ext cx="10312400" cy="533400"/>
          </a:xfrm>
          <a:prstGeom prst="roundRect">
            <a:avLst/>
          </a:prstGeom>
          <a:solidFill>
            <a:srgbClr val="EEF4FC"/>
          </a:solidFill>
          <a:ln w="1016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427A694-0328-E67A-D362-0F93A4B1AD36}"/>
              </a:ext>
            </a:extLst>
          </p:cNvPr>
          <p:cNvCxnSpPr/>
          <p:nvPr/>
        </p:nvCxnSpPr>
        <p:spPr>
          <a:xfrm>
            <a:off x="1371600" y="2832100"/>
            <a:ext cx="9448800" cy="0"/>
          </a:xfrm>
          <a:prstGeom prst="line">
            <a:avLst/>
          </a:prstGeom>
          <a:ln w="29210">
            <a:solidFill>
              <a:srgbClr val="AFC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89184ACA-DFB4-82BB-4D5E-01100EE320C3}"/>
              </a:ext>
            </a:extLst>
          </p:cNvPr>
          <p:cNvSpPr/>
          <p:nvPr/>
        </p:nvSpPr>
        <p:spPr>
          <a:xfrm>
            <a:off x="1041400" y="2387600"/>
            <a:ext cx="889000" cy="889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래픽 21">
            <a:extLst>
              <a:ext uri="{FF2B5EF4-FFF2-40B4-BE49-F238E27FC236}">
                <a16:creationId xmlns:a16="http://schemas.microsoft.com/office/drawing/2014/main" id="{A8AD4C16-E146-AC2F-5DF3-0DAFB172DD6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2590800"/>
            <a:ext cx="431800" cy="4318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E544F51-DDB7-A908-1695-F4C7B216C0BA}"/>
              </a:ext>
            </a:extLst>
          </p:cNvPr>
          <p:cNvSpPr txBox="1"/>
          <p:nvPr/>
        </p:nvSpPr>
        <p:spPr>
          <a:xfrm>
            <a:off x="1066800" y="2298700"/>
            <a:ext cx="355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Pretendard"/>
              </a:rPr>
              <a:t>1</a:t>
            </a:r>
            <a:endParaRPr lang="ko-KR" altLang="en-US" sz="10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97B1094-F47F-FD63-F433-5E8686656412}"/>
              </a:ext>
            </a:extLst>
          </p:cNvPr>
          <p:cNvSpPr/>
          <p:nvPr/>
        </p:nvSpPr>
        <p:spPr>
          <a:xfrm>
            <a:off x="977900" y="2235200"/>
            <a:ext cx="330200" cy="330200"/>
          </a:xfrm>
          <a:prstGeom prst="ellipse">
            <a:avLst/>
          </a:prstGeom>
          <a:solidFill>
            <a:srgbClr val="2E6F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E5791F-95A3-B26A-BC82-039295BFFE3B}"/>
              </a:ext>
            </a:extLst>
          </p:cNvPr>
          <p:cNvSpPr txBox="1"/>
          <p:nvPr/>
        </p:nvSpPr>
        <p:spPr>
          <a:xfrm>
            <a:off x="977900" y="2324100"/>
            <a:ext cx="330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Pretendard"/>
              </a:rPr>
              <a:t>1</a:t>
            </a:r>
            <a:endParaRPr lang="ko-KR" altLang="en-US" sz="95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C418B3-9F49-BAC3-D038-BBF067F19975}"/>
              </a:ext>
            </a:extLst>
          </p:cNvPr>
          <p:cNvSpPr txBox="1"/>
          <p:nvPr/>
        </p:nvSpPr>
        <p:spPr>
          <a:xfrm>
            <a:off x="812800" y="3479800"/>
            <a:ext cx="1346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350" b="1">
                <a:solidFill>
                  <a:srgbClr val="1B2A4E"/>
                </a:solidFill>
                <a:latin typeface="Pretendard"/>
              </a:rPr>
              <a:t>인트로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E6D2E5-8D91-FE41-A887-4BC44227EBA5}"/>
              </a:ext>
            </a:extLst>
          </p:cNvPr>
          <p:cNvSpPr txBox="1"/>
          <p:nvPr/>
        </p:nvSpPr>
        <p:spPr>
          <a:xfrm>
            <a:off x="812800" y="3810000"/>
            <a:ext cx="1346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 b="1">
                <a:solidFill>
                  <a:srgbClr val="2E6FD4"/>
                </a:solidFill>
                <a:latin typeface="Pretendard"/>
              </a:rPr>
              <a:t>남궁철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CF6AAD-844E-A4D6-654B-C66AA09BBB7B}"/>
              </a:ext>
            </a:extLst>
          </p:cNvPr>
          <p:cNvSpPr txBox="1"/>
          <p:nvPr/>
        </p:nvSpPr>
        <p:spPr>
          <a:xfrm>
            <a:off x="762000" y="4140200"/>
            <a:ext cx="14224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실버케어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오프라인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89218A0-7709-EFFC-C631-31E68CF9D5EB}"/>
              </a:ext>
            </a:extLst>
          </p:cNvPr>
          <p:cNvSpPr/>
          <p:nvPr/>
        </p:nvSpPr>
        <p:spPr>
          <a:xfrm>
            <a:off x="2628900" y="2387600"/>
            <a:ext cx="889000" cy="889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래픽 30">
            <a:extLst>
              <a:ext uri="{FF2B5EF4-FFF2-40B4-BE49-F238E27FC236}">
                <a16:creationId xmlns:a16="http://schemas.microsoft.com/office/drawing/2014/main" id="{C7CB3D71-5FA0-3EA3-A469-9D239C10BD6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7500" y="2590800"/>
            <a:ext cx="431800" cy="4318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C4BD329-CC08-60DE-2F1C-A56F45185F32}"/>
              </a:ext>
            </a:extLst>
          </p:cNvPr>
          <p:cNvSpPr txBox="1"/>
          <p:nvPr/>
        </p:nvSpPr>
        <p:spPr>
          <a:xfrm>
            <a:off x="2654300" y="2298700"/>
            <a:ext cx="355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Pretendard"/>
              </a:rPr>
              <a:t>2</a:t>
            </a:r>
            <a:endParaRPr lang="ko-KR" altLang="en-US" sz="10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F413FA1-A98D-0C50-28E2-4B2DA68C759B}"/>
              </a:ext>
            </a:extLst>
          </p:cNvPr>
          <p:cNvSpPr/>
          <p:nvPr/>
        </p:nvSpPr>
        <p:spPr>
          <a:xfrm>
            <a:off x="2565400" y="2235200"/>
            <a:ext cx="330200" cy="330200"/>
          </a:xfrm>
          <a:prstGeom prst="ellipse">
            <a:avLst/>
          </a:prstGeom>
          <a:solidFill>
            <a:srgbClr val="2E6F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BD92EB-0929-204D-D5FD-4BC88AD2ABB1}"/>
              </a:ext>
            </a:extLst>
          </p:cNvPr>
          <p:cNvSpPr txBox="1"/>
          <p:nvPr/>
        </p:nvSpPr>
        <p:spPr>
          <a:xfrm>
            <a:off x="2565400" y="2324100"/>
            <a:ext cx="330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Pretendard"/>
              </a:rPr>
              <a:t>2</a:t>
            </a:r>
            <a:endParaRPr lang="ko-KR" altLang="en-US" sz="95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F0A428-519C-D300-E4A6-89B2DB20E8B3}"/>
              </a:ext>
            </a:extLst>
          </p:cNvPr>
          <p:cNvSpPr txBox="1"/>
          <p:nvPr/>
        </p:nvSpPr>
        <p:spPr>
          <a:xfrm>
            <a:off x="2400300" y="3479800"/>
            <a:ext cx="1346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350" b="1">
                <a:solidFill>
                  <a:srgbClr val="1B2A4E"/>
                </a:solidFill>
                <a:latin typeface="Pretendard"/>
              </a:rPr>
              <a:t>이론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E55487-0C5E-61FB-FF6F-BD5743E88396}"/>
              </a:ext>
            </a:extLst>
          </p:cNvPr>
          <p:cNvSpPr txBox="1"/>
          <p:nvPr/>
        </p:nvSpPr>
        <p:spPr>
          <a:xfrm>
            <a:off x="2400300" y="3810000"/>
            <a:ext cx="1346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 b="1">
                <a:solidFill>
                  <a:srgbClr val="2E6FD4"/>
                </a:solidFill>
                <a:latin typeface="Pretendard"/>
              </a:rPr>
              <a:t>정길량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39E834-02D5-78CD-3B01-07C670735581}"/>
              </a:ext>
            </a:extLst>
          </p:cNvPr>
          <p:cNvSpPr txBox="1"/>
          <p:nvPr/>
        </p:nvSpPr>
        <p:spPr>
          <a:xfrm>
            <a:off x="2349500" y="4140200"/>
            <a:ext cx="14224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증류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경량화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0469EC7-470F-2371-EF82-CA132A2E4544}"/>
              </a:ext>
            </a:extLst>
          </p:cNvPr>
          <p:cNvSpPr/>
          <p:nvPr/>
        </p:nvSpPr>
        <p:spPr>
          <a:xfrm>
            <a:off x="4216400" y="2387600"/>
            <a:ext cx="889000" cy="889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래픽 39">
            <a:extLst>
              <a:ext uri="{FF2B5EF4-FFF2-40B4-BE49-F238E27FC236}">
                <a16:creationId xmlns:a16="http://schemas.microsoft.com/office/drawing/2014/main" id="{B93EEC65-104F-8098-3D23-31F0242D19C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2590800"/>
            <a:ext cx="431800" cy="4318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4E973F2-489D-7D94-D2E0-8E9DBEDE8A73}"/>
              </a:ext>
            </a:extLst>
          </p:cNvPr>
          <p:cNvSpPr txBox="1"/>
          <p:nvPr/>
        </p:nvSpPr>
        <p:spPr>
          <a:xfrm>
            <a:off x="4241800" y="2298700"/>
            <a:ext cx="355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Pretendard"/>
              </a:rPr>
              <a:t>3</a:t>
            </a:r>
            <a:endParaRPr lang="ko-KR" altLang="en-US" sz="10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E4DB808-4E08-DCE8-BC73-F5EBFAB1F99A}"/>
              </a:ext>
            </a:extLst>
          </p:cNvPr>
          <p:cNvSpPr/>
          <p:nvPr/>
        </p:nvSpPr>
        <p:spPr>
          <a:xfrm>
            <a:off x="4152900" y="2235200"/>
            <a:ext cx="330200" cy="330200"/>
          </a:xfrm>
          <a:prstGeom prst="ellipse">
            <a:avLst/>
          </a:prstGeom>
          <a:solidFill>
            <a:srgbClr val="2E6F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43068C-E48A-91DF-1E7C-392E7750BC6A}"/>
              </a:ext>
            </a:extLst>
          </p:cNvPr>
          <p:cNvSpPr txBox="1"/>
          <p:nvPr/>
        </p:nvSpPr>
        <p:spPr>
          <a:xfrm>
            <a:off x="4152900" y="2324100"/>
            <a:ext cx="330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Pretendard"/>
              </a:rPr>
              <a:t>3</a:t>
            </a:r>
            <a:endParaRPr lang="ko-KR" altLang="en-US" sz="95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47636F-019F-FD68-B24C-5FB9913BE948}"/>
              </a:ext>
            </a:extLst>
          </p:cNvPr>
          <p:cNvSpPr txBox="1"/>
          <p:nvPr/>
        </p:nvSpPr>
        <p:spPr>
          <a:xfrm>
            <a:off x="3987800" y="3479800"/>
            <a:ext cx="1346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350" b="1">
                <a:solidFill>
                  <a:srgbClr val="1B2A4E"/>
                </a:solidFill>
                <a:latin typeface="Pretendard"/>
              </a:rPr>
              <a:t>데이터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932DB4-FAE8-10F8-A63C-46F964BAE813}"/>
              </a:ext>
            </a:extLst>
          </p:cNvPr>
          <p:cNvSpPr txBox="1"/>
          <p:nvPr/>
        </p:nvSpPr>
        <p:spPr>
          <a:xfrm>
            <a:off x="3987800" y="3810000"/>
            <a:ext cx="1346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 b="1">
                <a:solidFill>
                  <a:srgbClr val="2E6FD4"/>
                </a:solidFill>
                <a:latin typeface="Pretendard"/>
              </a:rPr>
              <a:t>영민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E37D0F-7CE6-7D5B-E787-8D66A1E3BBFA}"/>
              </a:ext>
            </a:extLst>
          </p:cNvPr>
          <p:cNvSpPr txBox="1"/>
          <p:nvPr/>
        </p:nvSpPr>
        <p:spPr>
          <a:xfrm>
            <a:off x="3937000" y="4140200"/>
            <a:ext cx="14224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180">
                <a:solidFill>
                  <a:srgbClr val="202635"/>
                </a:solidFill>
                <a:latin typeface="Pretendard"/>
              </a:rPr>
              <a:t>AI Hub·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선정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376D6D1C-C9B7-3399-ECD2-EE0778313171}"/>
              </a:ext>
            </a:extLst>
          </p:cNvPr>
          <p:cNvSpPr/>
          <p:nvPr/>
        </p:nvSpPr>
        <p:spPr>
          <a:xfrm>
            <a:off x="5803900" y="2387600"/>
            <a:ext cx="889000" cy="889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그래픽 48">
            <a:extLst>
              <a:ext uri="{FF2B5EF4-FFF2-40B4-BE49-F238E27FC236}">
                <a16:creationId xmlns:a16="http://schemas.microsoft.com/office/drawing/2014/main" id="{BC1C69C4-4FF2-7714-C06D-02D026D2B62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2500" y="2590800"/>
            <a:ext cx="431800" cy="4318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B82CD02-DE88-310F-8EE9-07572893CC66}"/>
              </a:ext>
            </a:extLst>
          </p:cNvPr>
          <p:cNvSpPr txBox="1"/>
          <p:nvPr/>
        </p:nvSpPr>
        <p:spPr>
          <a:xfrm>
            <a:off x="5829300" y="2298700"/>
            <a:ext cx="355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Pretendard"/>
              </a:rPr>
              <a:t>4</a:t>
            </a:r>
            <a:endParaRPr lang="ko-KR" altLang="en-US" sz="10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D2799472-7A1E-5A34-4743-388E4D58A8C5}"/>
              </a:ext>
            </a:extLst>
          </p:cNvPr>
          <p:cNvSpPr/>
          <p:nvPr/>
        </p:nvSpPr>
        <p:spPr>
          <a:xfrm>
            <a:off x="5740400" y="2235200"/>
            <a:ext cx="330200" cy="330200"/>
          </a:xfrm>
          <a:prstGeom prst="ellipse">
            <a:avLst/>
          </a:prstGeom>
          <a:solidFill>
            <a:srgbClr val="2E6F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3C1356-87DA-7301-D1B1-0383BB38437E}"/>
              </a:ext>
            </a:extLst>
          </p:cNvPr>
          <p:cNvSpPr txBox="1"/>
          <p:nvPr/>
        </p:nvSpPr>
        <p:spPr>
          <a:xfrm>
            <a:off x="5740400" y="2324100"/>
            <a:ext cx="330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Pretendard"/>
              </a:rPr>
              <a:t>4</a:t>
            </a:r>
            <a:endParaRPr lang="ko-KR" altLang="en-US" sz="95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321AA0-1B1B-F479-BF9E-3835B1C5246E}"/>
              </a:ext>
            </a:extLst>
          </p:cNvPr>
          <p:cNvSpPr txBox="1"/>
          <p:nvPr/>
        </p:nvSpPr>
        <p:spPr>
          <a:xfrm>
            <a:off x="5575300" y="3479800"/>
            <a:ext cx="1346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350" b="1">
                <a:solidFill>
                  <a:srgbClr val="1B2A4E"/>
                </a:solidFill>
                <a:latin typeface="Pretendard"/>
              </a:rPr>
              <a:t>구현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E800D3-49D6-63BC-F55C-B78AF215685C}"/>
              </a:ext>
            </a:extLst>
          </p:cNvPr>
          <p:cNvSpPr txBox="1"/>
          <p:nvPr/>
        </p:nvSpPr>
        <p:spPr>
          <a:xfrm>
            <a:off x="5575300" y="3810000"/>
            <a:ext cx="1346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 b="1">
                <a:solidFill>
                  <a:srgbClr val="2E6FD4"/>
                </a:solidFill>
                <a:latin typeface="Pretendard"/>
              </a:rPr>
              <a:t>홍윤표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573CA01-F069-3C5F-A79D-660AF6810076}"/>
              </a:ext>
            </a:extLst>
          </p:cNvPr>
          <p:cNvSpPr txBox="1"/>
          <p:nvPr/>
        </p:nvSpPr>
        <p:spPr>
          <a:xfrm>
            <a:off x="5524500" y="4140200"/>
            <a:ext cx="14224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현재 결과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63CA6579-C4DB-668F-F27D-05B212B5B353}"/>
              </a:ext>
            </a:extLst>
          </p:cNvPr>
          <p:cNvSpPr/>
          <p:nvPr/>
        </p:nvSpPr>
        <p:spPr>
          <a:xfrm>
            <a:off x="7391400" y="2387600"/>
            <a:ext cx="889000" cy="889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8" name="그래픽 57">
            <a:extLst>
              <a:ext uri="{FF2B5EF4-FFF2-40B4-BE49-F238E27FC236}">
                <a16:creationId xmlns:a16="http://schemas.microsoft.com/office/drawing/2014/main" id="{F92A1F3F-0E8D-9498-2AD4-FD38EABE930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0" y="2590800"/>
            <a:ext cx="431800" cy="4318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53E1E484-9CC6-F2AD-E882-D630B54EB111}"/>
              </a:ext>
            </a:extLst>
          </p:cNvPr>
          <p:cNvSpPr txBox="1"/>
          <p:nvPr/>
        </p:nvSpPr>
        <p:spPr>
          <a:xfrm>
            <a:off x="7416800" y="2298700"/>
            <a:ext cx="355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Pretendard"/>
              </a:rPr>
              <a:t>5</a:t>
            </a:r>
            <a:endParaRPr lang="ko-KR" altLang="en-US" sz="10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C39DDB89-7682-CD26-C000-B8A0907940BD}"/>
              </a:ext>
            </a:extLst>
          </p:cNvPr>
          <p:cNvSpPr/>
          <p:nvPr/>
        </p:nvSpPr>
        <p:spPr>
          <a:xfrm>
            <a:off x="7327900" y="2235200"/>
            <a:ext cx="330200" cy="330200"/>
          </a:xfrm>
          <a:prstGeom prst="ellipse">
            <a:avLst/>
          </a:prstGeom>
          <a:solidFill>
            <a:srgbClr val="2E6F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C381AC-03A4-3EC7-D0FC-6BB36B4D6E82}"/>
              </a:ext>
            </a:extLst>
          </p:cNvPr>
          <p:cNvSpPr txBox="1"/>
          <p:nvPr/>
        </p:nvSpPr>
        <p:spPr>
          <a:xfrm>
            <a:off x="7327900" y="2324100"/>
            <a:ext cx="330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Pretendard"/>
              </a:rPr>
              <a:t>5</a:t>
            </a:r>
            <a:endParaRPr lang="ko-KR" altLang="en-US" sz="95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A9935C-8ACA-AC59-0C75-9A3473C98551}"/>
              </a:ext>
            </a:extLst>
          </p:cNvPr>
          <p:cNvSpPr txBox="1"/>
          <p:nvPr/>
        </p:nvSpPr>
        <p:spPr>
          <a:xfrm>
            <a:off x="7162800" y="3479800"/>
            <a:ext cx="1346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350" b="1">
                <a:solidFill>
                  <a:srgbClr val="1B2A4E"/>
                </a:solidFill>
                <a:latin typeface="Pretendard"/>
              </a:rPr>
              <a:t>시나리오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984FF3-B851-C6F3-879A-ECAF47ADF91C}"/>
              </a:ext>
            </a:extLst>
          </p:cNvPr>
          <p:cNvSpPr txBox="1"/>
          <p:nvPr/>
        </p:nvSpPr>
        <p:spPr>
          <a:xfrm>
            <a:off x="7162800" y="3810000"/>
            <a:ext cx="1346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 b="1">
                <a:solidFill>
                  <a:srgbClr val="2E6FD4"/>
                </a:solidFill>
                <a:latin typeface="Pretendard"/>
              </a:rPr>
              <a:t>박철민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A28D822-E1F8-3E76-ABF3-90459B01F065}"/>
              </a:ext>
            </a:extLst>
          </p:cNvPr>
          <p:cNvSpPr txBox="1"/>
          <p:nvPr/>
        </p:nvSpPr>
        <p:spPr>
          <a:xfrm>
            <a:off x="7112000" y="4140200"/>
            <a:ext cx="14224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유즈케이스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E532389E-CD83-3CE2-551C-09183C9F0F00}"/>
              </a:ext>
            </a:extLst>
          </p:cNvPr>
          <p:cNvSpPr/>
          <p:nvPr/>
        </p:nvSpPr>
        <p:spPr>
          <a:xfrm>
            <a:off x="8978900" y="2387600"/>
            <a:ext cx="889000" cy="889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57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7" name="그래픽 66">
            <a:extLst>
              <a:ext uri="{FF2B5EF4-FFF2-40B4-BE49-F238E27FC236}">
                <a16:creationId xmlns:a16="http://schemas.microsoft.com/office/drawing/2014/main" id="{CBCC1ADC-CFA1-084C-345E-EFF13787EBD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07500" y="2590800"/>
            <a:ext cx="431800" cy="4318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BD7797FF-91BE-DE03-6C50-25AEDF17421E}"/>
              </a:ext>
            </a:extLst>
          </p:cNvPr>
          <p:cNvSpPr txBox="1"/>
          <p:nvPr/>
        </p:nvSpPr>
        <p:spPr>
          <a:xfrm>
            <a:off x="9004300" y="2298700"/>
            <a:ext cx="355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Pretendard"/>
              </a:rPr>
              <a:t>6</a:t>
            </a:r>
            <a:endParaRPr lang="ko-KR" altLang="en-US" sz="10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46BFF015-4BC7-D2CC-7F19-CD5A045D5442}"/>
              </a:ext>
            </a:extLst>
          </p:cNvPr>
          <p:cNvSpPr/>
          <p:nvPr/>
        </p:nvSpPr>
        <p:spPr>
          <a:xfrm>
            <a:off x="8915400" y="2235200"/>
            <a:ext cx="330200" cy="330200"/>
          </a:xfrm>
          <a:prstGeom prst="ellipse">
            <a:avLst/>
          </a:prstGeom>
          <a:solidFill>
            <a:srgbClr val="157B5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7A6A31B-EFA1-07EB-FF32-A905723CBA33}"/>
              </a:ext>
            </a:extLst>
          </p:cNvPr>
          <p:cNvSpPr txBox="1"/>
          <p:nvPr/>
        </p:nvSpPr>
        <p:spPr>
          <a:xfrm>
            <a:off x="8915400" y="2324100"/>
            <a:ext cx="330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Pretendard"/>
              </a:rPr>
              <a:t>6</a:t>
            </a:r>
            <a:endParaRPr lang="ko-KR" altLang="en-US" sz="95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D0AF3E2-E28E-D35B-11FD-FC78285FC4AD}"/>
              </a:ext>
            </a:extLst>
          </p:cNvPr>
          <p:cNvSpPr txBox="1"/>
          <p:nvPr/>
        </p:nvSpPr>
        <p:spPr>
          <a:xfrm>
            <a:off x="8750300" y="3479800"/>
            <a:ext cx="1346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350" b="1">
                <a:solidFill>
                  <a:srgbClr val="1B2A4E"/>
                </a:solidFill>
                <a:latin typeface="Pretendard"/>
              </a:rPr>
              <a:t>평가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59FBB88-E14A-E269-B3B9-A539ED5BB51B}"/>
              </a:ext>
            </a:extLst>
          </p:cNvPr>
          <p:cNvSpPr txBox="1"/>
          <p:nvPr/>
        </p:nvSpPr>
        <p:spPr>
          <a:xfrm>
            <a:off x="8750300" y="3810000"/>
            <a:ext cx="1346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 b="1">
                <a:solidFill>
                  <a:srgbClr val="157B52"/>
                </a:solidFill>
                <a:latin typeface="Pretendard"/>
              </a:rPr>
              <a:t>현범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7F6A64D-ED53-62CA-EFE8-6BFAF4C2CA70}"/>
              </a:ext>
            </a:extLst>
          </p:cNvPr>
          <p:cNvSpPr txBox="1"/>
          <p:nvPr/>
        </p:nvSpPr>
        <p:spPr>
          <a:xfrm>
            <a:off x="8699500" y="4140200"/>
            <a:ext cx="14224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기술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실효성</a:t>
            </a: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64C7C416-7173-2BE1-17A8-51FEB3DD8085}"/>
              </a:ext>
            </a:extLst>
          </p:cNvPr>
          <p:cNvSpPr/>
          <p:nvPr/>
        </p:nvSpPr>
        <p:spPr>
          <a:xfrm>
            <a:off x="10566400" y="2387600"/>
            <a:ext cx="889000" cy="889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6" name="그래픽 75">
            <a:extLst>
              <a:ext uri="{FF2B5EF4-FFF2-40B4-BE49-F238E27FC236}">
                <a16:creationId xmlns:a16="http://schemas.microsoft.com/office/drawing/2014/main" id="{493FAEB1-3832-DB41-E704-2456160812A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5000" y="2590800"/>
            <a:ext cx="431800" cy="43180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A4E2CF4D-6526-BD24-E273-D693A782D2E2}"/>
              </a:ext>
            </a:extLst>
          </p:cNvPr>
          <p:cNvSpPr txBox="1"/>
          <p:nvPr/>
        </p:nvSpPr>
        <p:spPr>
          <a:xfrm>
            <a:off x="10591800" y="2298700"/>
            <a:ext cx="355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Pretendard"/>
              </a:rPr>
              <a:t>7</a:t>
            </a:r>
            <a:endParaRPr lang="ko-KR" altLang="en-US" sz="10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421BE5F0-2B22-F949-C577-9941468ECDC8}"/>
              </a:ext>
            </a:extLst>
          </p:cNvPr>
          <p:cNvSpPr/>
          <p:nvPr/>
        </p:nvSpPr>
        <p:spPr>
          <a:xfrm>
            <a:off x="10502900" y="2235200"/>
            <a:ext cx="330200" cy="330200"/>
          </a:xfrm>
          <a:prstGeom prst="ellipse">
            <a:avLst/>
          </a:prstGeom>
          <a:solidFill>
            <a:srgbClr val="2E6F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40B0B7-7202-F9EB-97B1-9CFB7261200D}"/>
              </a:ext>
            </a:extLst>
          </p:cNvPr>
          <p:cNvSpPr txBox="1"/>
          <p:nvPr/>
        </p:nvSpPr>
        <p:spPr>
          <a:xfrm>
            <a:off x="10502900" y="2324100"/>
            <a:ext cx="330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FFFFFF"/>
                </a:solidFill>
                <a:latin typeface="Pretendard"/>
              </a:rPr>
              <a:t>7</a:t>
            </a:r>
            <a:endParaRPr lang="ko-KR" altLang="en-US" sz="95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2CC6703-76DD-E676-428C-8314218AEDE1}"/>
              </a:ext>
            </a:extLst>
          </p:cNvPr>
          <p:cNvSpPr txBox="1"/>
          <p:nvPr/>
        </p:nvSpPr>
        <p:spPr>
          <a:xfrm>
            <a:off x="10337800" y="3479800"/>
            <a:ext cx="1346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350" b="1">
                <a:solidFill>
                  <a:srgbClr val="1B2A4E"/>
                </a:solidFill>
                <a:latin typeface="Pretendard"/>
              </a:rPr>
              <a:t>목표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A2F878C-413F-9EB6-7190-E272C3A1DBBA}"/>
              </a:ext>
            </a:extLst>
          </p:cNvPr>
          <p:cNvSpPr txBox="1"/>
          <p:nvPr/>
        </p:nvSpPr>
        <p:spPr>
          <a:xfrm>
            <a:off x="10337800" y="3810000"/>
            <a:ext cx="1346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 b="1">
                <a:solidFill>
                  <a:srgbClr val="2E6FD4"/>
                </a:solidFill>
                <a:latin typeface="Pretendard"/>
              </a:rPr>
              <a:t>형욱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85AA4C4-B251-4DFB-E61D-C61C8E5178A3}"/>
              </a:ext>
            </a:extLst>
          </p:cNvPr>
          <p:cNvSpPr txBox="1"/>
          <p:nvPr/>
        </p:nvSpPr>
        <p:spPr>
          <a:xfrm>
            <a:off x="10287000" y="4140200"/>
            <a:ext cx="14224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180">
                <a:solidFill>
                  <a:srgbClr val="202635"/>
                </a:solidFill>
                <a:latin typeface="Pretendard"/>
              </a:rPr>
              <a:t>Standalone</a:t>
            </a:r>
            <a:endParaRPr lang="ko-KR" altLang="en-US" sz="1180">
              <a:solidFill>
                <a:srgbClr val="202635"/>
              </a:solidFill>
              <a:latin typeface="Pretendard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E35BE03B-D025-FA3F-557A-FDAD25B499CA}"/>
              </a:ext>
            </a:extLst>
          </p:cNvPr>
          <p:cNvSpPr/>
          <p:nvPr/>
        </p:nvSpPr>
        <p:spPr>
          <a:xfrm>
            <a:off x="914400" y="5156200"/>
            <a:ext cx="10312400" cy="635000"/>
          </a:xfrm>
          <a:prstGeom prst="roundRect">
            <a:avLst/>
          </a:prstGeom>
          <a:solidFill>
            <a:srgbClr val="E8F6EF"/>
          </a:solidFill>
          <a:ln w="12700">
            <a:solidFill>
              <a:srgbClr val="157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5" name="그래픽 84">
            <a:extLst>
              <a:ext uri="{FF2B5EF4-FFF2-40B4-BE49-F238E27FC236}">
                <a16:creationId xmlns:a16="http://schemas.microsoft.com/office/drawing/2014/main" id="{CBA50ABC-65B4-D02B-2699-44C1FFC2397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3800" y="5295900"/>
            <a:ext cx="317500" cy="317500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6A8DA58C-13C6-F0AB-C8E3-015CEC3F2A9B}"/>
              </a:ext>
            </a:extLst>
          </p:cNvPr>
          <p:cNvSpPr txBox="1"/>
          <p:nvPr/>
        </p:nvSpPr>
        <p:spPr>
          <a:xfrm>
            <a:off x="1651000" y="5283200"/>
            <a:ext cx="1143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350" b="1">
                <a:solidFill>
                  <a:srgbClr val="157B52"/>
                </a:solidFill>
                <a:latin typeface="Pretendard"/>
              </a:rPr>
              <a:t>흐름 원칙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A3C89F9-F25C-D83C-A733-C01E6A31E098}"/>
              </a:ext>
            </a:extLst>
          </p:cNvPr>
          <p:cNvSpPr txBox="1"/>
          <p:nvPr/>
        </p:nvSpPr>
        <p:spPr>
          <a:xfrm>
            <a:off x="2870200" y="5257800"/>
            <a:ext cx="7874000" cy="923330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20">
                <a:solidFill>
                  <a:srgbClr val="202635"/>
                </a:solidFill>
                <a:latin typeface="Pretendard"/>
              </a:rPr>
              <a:t>파트 담당자는 바뀌지 않으며</a:t>
            </a:r>
            <a:r>
              <a:rPr lang="en-US" altLang="ko-KR" sz="1220">
                <a:solidFill>
                  <a:srgbClr val="202635"/>
                </a:solidFill>
                <a:latin typeface="Pretendard"/>
              </a:rPr>
              <a:t>, </a:t>
            </a:r>
            <a:r>
              <a:rPr lang="ko-KR" altLang="en-US" sz="1220">
                <a:solidFill>
                  <a:srgbClr val="202635"/>
                </a:solidFill>
                <a:latin typeface="Pretendard"/>
              </a:rPr>
              <a:t>포맷만 컨텐츠 유형에 맞게 바꿈</a:t>
            </a:r>
            <a:r>
              <a:rPr lang="en-US" altLang="ko-KR" sz="1220">
                <a:solidFill>
                  <a:srgbClr val="202635"/>
                </a:solidFill>
                <a:latin typeface="Pretendard"/>
              </a:rPr>
              <a:t>: </a:t>
            </a:r>
            <a:r>
              <a:rPr lang="ko-KR" altLang="en-US" sz="1220">
                <a:solidFill>
                  <a:srgbClr val="202635"/>
                </a:solidFill>
                <a:latin typeface="Pretendard"/>
              </a:rPr>
              <a:t>장면형 → 개념도 → 데이터 </a:t>
            </a:r>
            <a:r>
              <a:rPr lang="en-US" altLang="ko-KR" sz="1220">
                <a:solidFill>
                  <a:srgbClr val="202635"/>
                </a:solidFill>
                <a:latin typeface="Pretendard"/>
              </a:rPr>
              <a:t>funnel → </a:t>
            </a:r>
            <a:r>
              <a:rPr lang="ko-KR" altLang="en-US" sz="1220">
                <a:solidFill>
                  <a:srgbClr val="202635"/>
                </a:solidFill>
                <a:latin typeface="Pretendard"/>
              </a:rPr>
              <a:t>아키텍처 → </a:t>
            </a:r>
            <a:r>
              <a:rPr lang="en-US" altLang="ko-KR" sz="1220">
                <a:solidFill>
                  <a:srgbClr val="202635"/>
                </a:solidFill>
                <a:latin typeface="Pretendard"/>
              </a:rPr>
              <a:t>Storyboard → Gate Matrix → Roadmap</a:t>
            </a:r>
            <a:endParaRPr lang="ko-KR" altLang="en-US" sz="1220">
              <a:solidFill>
                <a:srgbClr val="202635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69995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7A4DFF7-2421-4F3B-28FB-D6F314774F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3C1EFD7-20EC-803A-926C-E18309889F70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233F"/>
          </a:solidFill>
          <a:ln w="0">
            <a:solidFill>
              <a:srgbClr val="1723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2EB854-2976-8155-4581-978348E6C4B9}"/>
              </a:ext>
            </a:extLst>
          </p:cNvPr>
          <p:cNvSpPr/>
          <p:nvPr/>
        </p:nvSpPr>
        <p:spPr>
          <a:xfrm>
            <a:off x="114300" y="0"/>
            <a:ext cx="50800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65B807-6430-4689-38D7-AECE3A2CD365}"/>
              </a:ext>
            </a:extLst>
          </p:cNvPr>
          <p:cNvSpPr/>
          <p:nvPr/>
        </p:nvSpPr>
        <p:spPr>
          <a:xfrm>
            <a:off x="508000" y="355600"/>
            <a:ext cx="2057400" cy="330200"/>
          </a:xfrm>
          <a:prstGeom prst="rect">
            <a:avLst/>
          </a:prstGeom>
          <a:solidFill>
            <a:srgbClr val="E8F1FF"/>
          </a:solidFill>
          <a:ln w="6350">
            <a:solidFill>
              <a:srgbClr val="E8F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811562-76E4-F7E2-8EBA-6FB0BD3C4C52}"/>
              </a:ext>
            </a:extLst>
          </p:cNvPr>
          <p:cNvSpPr txBox="1"/>
          <p:nvPr/>
        </p:nvSpPr>
        <p:spPr>
          <a:xfrm>
            <a:off x="609600" y="419100"/>
            <a:ext cx="1854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00" b="1">
                <a:solidFill>
                  <a:srgbClr val="2E6FD4"/>
                </a:solidFill>
                <a:latin typeface="Pretendard"/>
              </a:rPr>
              <a:t>인트로</a:t>
            </a:r>
            <a:r>
              <a:rPr lang="en-US" altLang="ko-KR" sz="1200" b="1">
                <a:solidFill>
                  <a:srgbClr val="2E6FD4"/>
                </a:solidFill>
                <a:latin typeface="Pretendard"/>
              </a:rPr>
              <a:t>·</a:t>
            </a:r>
            <a:r>
              <a:rPr lang="ko-KR" altLang="en-US" sz="1200" b="1">
                <a:solidFill>
                  <a:srgbClr val="2E6FD4"/>
                </a:solidFill>
                <a:latin typeface="Pretendard"/>
              </a:rPr>
              <a:t>필요성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C288E-FAD3-1650-B821-453962CDCD9A}"/>
              </a:ext>
            </a:extLst>
          </p:cNvPr>
          <p:cNvSpPr txBox="1"/>
          <p:nvPr/>
        </p:nvSpPr>
        <p:spPr>
          <a:xfrm>
            <a:off x="10693400" y="482600"/>
            <a:ext cx="990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586780"/>
                </a:solidFill>
                <a:latin typeface="Pretendard"/>
              </a:rPr>
              <a:t>Exhibit 03</a:t>
            </a:r>
            <a:endParaRPr lang="ko-KR" altLang="en-US" sz="950" b="1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47930-D2F0-EAF2-9BF0-C274ECA16D60}"/>
              </a:ext>
            </a:extLst>
          </p:cNvPr>
          <p:cNvSpPr txBox="1"/>
          <p:nvPr/>
        </p:nvSpPr>
        <p:spPr>
          <a:xfrm>
            <a:off x="584200" y="9906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통신이 끊기는 순간 클라우드 </a:t>
            </a:r>
            <a:r>
              <a:rPr lang="en-US" altLang="ko-KR" sz="2550" b="1">
                <a:solidFill>
                  <a:srgbClr val="1B2A4E"/>
                </a:solidFill>
                <a:latin typeface="Pretendard"/>
              </a:rPr>
              <a:t>AI</a:t>
            </a:r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보다 먼저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3753A9-6E0D-A3EC-42F9-7BAED9DB2378}"/>
              </a:ext>
            </a:extLst>
          </p:cNvPr>
          <p:cNvSpPr txBox="1"/>
          <p:nvPr/>
        </p:nvSpPr>
        <p:spPr>
          <a:xfrm>
            <a:off x="584200" y="13843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말동무</a:t>
            </a:r>
            <a:r>
              <a:rPr lang="en-US" altLang="ko-KR" sz="255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라이프로그</a:t>
            </a:r>
            <a:r>
              <a:rPr lang="en-US" altLang="ko-KR" sz="255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프라이버시 문제가 드러남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26C7676-3CBD-4D74-EB7B-7C5E7FF3A4FD}"/>
              </a:ext>
            </a:extLst>
          </p:cNvPr>
          <p:cNvCxnSpPr/>
          <p:nvPr/>
        </p:nvCxnSpPr>
        <p:spPr>
          <a:xfrm>
            <a:off x="508000" y="1778000"/>
            <a:ext cx="11176000" cy="0"/>
          </a:xfrm>
          <a:prstGeom prst="line">
            <a:avLst/>
          </a:prstGeom>
          <a:ln w="38100">
            <a:solidFill>
              <a:srgbClr val="1B2A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DFE4C4F-BAF8-2074-4864-EF1E3C3A4841}"/>
              </a:ext>
            </a:extLst>
          </p:cNvPr>
          <p:cNvSpPr/>
          <p:nvPr/>
        </p:nvSpPr>
        <p:spPr>
          <a:xfrm>
            <a:off x="508000" y="6197600"/>
            <a:ext cx="11176000" cy="368300"/>
          </a:xfrm>
          <a:prstGeom prst="rect">
            <a:avLst/>
          </a:prstGeom>
          <a:solidFill>
            <a:srgbClr val="EEF4FC"/>
          </a:solidFill>
          <a:ln w="9525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E71172B-B690-B53C-C85B-1B7E9B0E6FE2}"/>
              </a:ext>
            </a:extLst>
          </p:cNvPr>
          <p:cNvSpPr/>
          <p:nvPr/>
        </p:nvSpPr>
        <p:spPr>
          <a:xfrm>
            <a:off x="508000" y="6197600"/>
            <a:ext cx="76200" cy="3683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25EEAB-DF6C-2F7C-2A14-B62D95748314}"/>
              </a:ext>
            </a:extLst>
          </p:cNvPr>
          <p:cNvSpPr txBox="1"/>
          <p:nvPr/>
        </p:nvSpPr>
        <p:spPr>
          <a:xfrm>
            <a:off x="736600" y="6311900"/>
            <a:ext cx="889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 b="1">
                <a:solidFill>
                  <a:srgbClr val="2E6FD4"/>
                </a:solidFill>
                <a:latin typeface="Pretendard"/>
              </a:rPr>
              <a:t>Takeaway</a:t>
            </a:r>
            <a:endParaRPr lang="ko-KR" altLang="en-US" sz="900" b="1">
              <a:solidFill>
                <a:srgbClr val="2E6FD4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ADFE6E-68AD-02DA-1340-004B7C0E8C11}"/>
              </a:ext>
            </a:extLst>
          </p:cNvPr>
          <p:cNvSpPr txBox="1"/>
          <p:nvPr/>
        </p:nvSpPr>
        <p:spPr>
          <a:xfrm>
            <a:off x="1727200" y="6273800"/>
            <a:ext cx="9144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필요성 파트는 문제를 설명하기보다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, 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통신 불가 장면에서 왜 로컬 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AI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가 필요한지 보여줌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693F30-9BEB-3D39-CD0D-6E8AAB16C088}"/>
              </a:ext>
            </a:extLst>
          </p:cNvPr>
          <p:cNvSpPr txBox="1"/>
          <p:nvPr/>
        </p:nvSpPr>
        <p:spPr>
          <a:xfrm>
            <a:off x="508000" y="6680200"/>
            <a:ext cx="5207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>
                <a:solidFill>
                  <a:srgbClr val="586780"/>
                </a:solidFill>
                <a:latin typeface="Pretendard"/>
              </a:rPr>
              <a:t>6/11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발표 샘플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|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시니어 온디바이스 헬스케어 지식증류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LLM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065679-47AC-68C1-7361-7EEEE7068041}"/>
              </a:ext>
            </a:extLst>
          </p:cNvPr>
          <p:cNvSpPr txBox="1"/>
          <p:nvPr/>
        </p:nvSpPr>
        <p:spPr>
          <a:xfrm>
            <a:off x="6350000" y="6680200"/>
            <a:ext cx="4572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Source: WHO; CDC Health Literacy; W3C WAI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4C16B7-1E4B-369C-CAD0-22F008D36B5C}"/>
              </a:ext>
            </a:extLst>
          </p:cNvPr>
          <p:cNvSpPr txBox="1"/>
          <p:nvPr/>
        </p:nvSpPr>
        <p:spPr>
          <a:xfrm>
            <a:off x="11379200" y="6680200"/>
            <a:ext cx="355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3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ADF16351-3EA7-18CD-BBAD-34F5A2CE44F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260600"/>
            <a:ext cx="5613400" cy="2667000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AA9C940-DAD4-ACFD-7635-6B6941B44376}"/>
              </a:ext>
            </a:extLst>
          </p:cNvPr>
          <p:cNvSpPr/>
          <p:nvPr/>
        </p:nvSpPr>
        <p:spPr>
          <a:xfrm>
            <a:off x="7086600" y="2336800"/>
            <a:ext cx="3810000" cy="939800"/>
          </a:xfrm>
          <a:prstGeom prst="roundRect">
            <a:avLst/>
          </a:prstGeom>
          <a:solidFill>
            <a:srgbClr val="FCEDEC"/>
          </a:solidFill>
          <a:ln w="12700">
            <a:solidFill>
              <a:srgbClr val="C5D3E8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DE428F-8B75-1E59-3868-6821BEF9D9A8}"/>
              </a:ext>
            </a:extLst>
          </p:cNvPr>
          <p:cNvSpPr/>
          <p:nvPr/>
        </p:nvSpPr>
        <p:spPr>
          <a:xfrm>
            <a:off x="7086600" y="2336800"/>
            <a:ext cx="63500" cy="939800"/>
          </a:xfrm>
          <a:prstGeom prst="rect">
            <a:avLst/>
          </a:prstGeom>
          <a:solidFill>
            <a:srgbClr val="C0392B"/>
          </a:solidFill>
          <a:ln w="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래픽 22">
            <a:extLst>
              <a:ext uri="{FF2B5EF4-FFF2-40B4-BE49-F238E27FC236}">
                <a16:creationId xmlns:a16="http://schemas.microsoft.com/office/drawing/2014/main" id="{D7422A1B-C7D7-6A5D-05B4-CD2EEAB4F64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7100" y="2565400"/>
            <a:ext cx="355600" cy="3556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5FE0697-4F82-06C9-8D08-26EFA976184F}"/>
              </a:ext>
            </a:extLst>
          </p:cNvPr>
          <p:cNvSpPr txBox="1"/>
          <p:nvPr/>
        </p:nvSpPr>
        <p:spPr>
          <a:xfrm>
            <a:off x="7772400" y="2501900"/>
            <a:ext cx="2971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450" b="1">
                <a:solidFill>
                  <a:srgbClr val="1B2A4E"/>
                </a:solidFill>
                <a:latin typeface="Pretendard"/>
              </a:rPr>
              <a:t>통신 불가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159E2A-CD8C-90FB-DB75-48054051B764}"/>
              </a:ext>
            </a:extLst>
          </p:cNvPr>
          <p:cNvSpPr txBox="1"/>
          <p:nvPr/>
        </p:nvSpPr>
        <p:spPr>
          <a:xfrm>
            <a:off x="7772400" y="2819400"/>
            <a:ext cx="2971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클라우드 자원 접근 불가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5498BE4-B3CF-B59D-83FE-063C9D6EC083}"/>
              </a:ext>
            </a:extLst>
          </p:cNvPr>
          <p:cNvSpPr/>
          <p:nvPr/>
        </p:nvSpPr>
        <p:spPr>
          <a:xfrm>
            <a:off x="7086600" y="3403600"/>
            <a:ext cx="3810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3E8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B651DBE-5E76-17BD-31E0-4CEEE13E2693}"/>
              </a:ext>
            </a:extLst>
          </p:cNvPr>
          <p:cNvSpPr/>
          <p:nvPr/>
        </p:nvSpPr>
        <p:spPr>
          <a:xfrm>
            <a:off x="7086600" y="3403600"/>
            <a:ext cx="63500" cy="9398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래픽 28">
            <a:extLst>
              <a:ext uri="{FF2B5EF4-FFF2-40B4-BE49-F238E27FC236}">
                <a16:creationId xmlns:a16="http://schemas.microsoft.com/office/drawing/2014/main" id="{A19C488F-7E1A-8DAF-962C-1556318B6A0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7100" y="3632200"/>
            <a:ext cx="355600" cy="3556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30C4749-1EC6-4F94-6C33-9260B1582DA7}"/>
              </a:ext>
            </a:extLst>
          </p:cNvPr>
          <p:cNvSpPr txBox="1"/>
          <p:nvPr/>
        </p:nvSpPr>
        <p:spPr>
          <a:xfrm>
            <a:off x="7772400" y="3568700"/>
            <a:ext cx="2971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450" b="1">
                <a:solidFill>
                  <a:srgbClr val="1B2A4E"/>
                </a:solidFill>
                <a:latin typeface="Pretendard"/>
              </a:rPr>
              <a:t>독거노인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C46611-6B9A-7A51-3BFE-2BE712C93E27}"/>
              </a:ext>
            </a:extLst>
          </p:cNvPr>
          <p:cNvSpPr txBox="1"/>
          <p:nvPr/>
        </p:nvSpPr>
        <p:spPr>
          <a:xfrm>
            <a:off x="7772400" y="3886200"/>
            <a:ext cx="2971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말동무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생활 확인 공백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967E77C-BF6F-0B62-88E1-B18691623421}"/>
              </a:ext>
            </a:extLst>
          </p:cNvPr>
          <p:cNvSpPr/>
          <p:nvPr/>
        </p:nvSpPr>
        <p:spPr>
          <a:xfrm>
            <a:off x="7086600" y="4470400"/>
            <a:ext cx="3810000" cy="939800"/>
          </a:xfrm>
          <a:prstGeom prst="roundRect">
            <a:avLst/>
          </a:prstGeom>
          <a:solidFill>
            <a:srgbClr val="E8F6EF"/>
          </a:solidFill>
          <a:ln w="12700">
            <a:solidFill>
              <a:srgbClr val="C5D3E8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0B95D1A-2239-0652-CB9A-4C709516AFF9}"/>
              </a:ext>
            </a:extLst>
          </p:cNvPr>
          <p:cNvSpPr/>
          <p:nvPr/>
        </p:nvSpPr>
        <p:spPr>
          <a:xfrm>
            <a:off x="7086600" y="4470400"/>
            <a:ext cx="63500" cy="939800"/>
          </a:xfrm>
          <a:prstGeom prst="rect">
            <a:avLst/>
          </a:prstGeom>
          <a:solidFill>
            <a:srgbClr val="157B52"/>
          </a:solidFill>
          <a:ln w="0">
            <a:solidFill>
              <a:srgbClr val="157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래픽 34">
            <a:extLst>
              <a:ext uri="{FF2B5EF4-FFF2-40B4-BE49-F238E27FC236}">
                <a16:creationId xmlns:a16="http://schemas.microsoft.com/office/drawing/2014/main" id="{7DC9C9A8-1C5C-5451-A482-1721D17CC9F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7100" y="4699000"/>
            <a:ext cx="355600" cy="3556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D9D6D79-9BDA-ECBB-3EEB-01DBD3B67288}"/>
              </a:ext>
            </a:extLst>
          </p:cNvPr>
          <p:cNvSpPr txBox="1"/>
          <p:nvPr/>
        </p:nvSpPr>
        <p:spPr>
          <a:xfrm>
            <a:off x="7772400" y="4635500"/>
            <a:ext cx="2971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450" b="1">
                <a:solidFill>
                  <a:srgbClr val="1B2A4E"/>
                </a:solidFill>
                <a:latin typeface="Pretendard"/>
              </a:rPr>
              <a:t>프라이버시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E72BE9-5969-3B6E-12CA-B39CC95E7D24}"/>
              </a:ext>
            </a:extLst>
          </p:cNvPr>
          <p:cNvSpPr txBox="1"/>
          <p:nvPr/>
        </p:nvSpPr>
        <p:spPr>
          <a:xfrm>
            <a:off x="7772400" y="4953000"/>
            <a:ext cx="29718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민감 건강정보 외부 전송 부담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2DE4CF-584C-8016-C796-0DC1BF536D82}"/>
              </a:ext>
            </a:extLst>
          </p:cNvPr>
          <p:cNvSpPr txBox="1"/>
          <p:nvPr/>
        </p:nvSpPr>
        <p:spPr>
          <a:xfrm>
            <a:off x="939800" y="5486400"/>
            <a:ext cx="9906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300" b="1">
                <a:solidFill>
                  <a:srgbClr val="1B2A4E"/>
                </a:solidFill>
                <a:latin typeface="Pretendard"/>
              </a:rPr>
              <a:t>필요성 논리</a:t>
            </a:r>
            <a:r>
              <a:rPr lang="en-US" altLang="ko-KR" sz="1300" b="1">
                <a:solidFill>
                  <a:srgbClr val="1B2A4E"/>
                </a:solidFill>
                <a:latin typeface="Pretendard"/>
              </a:rPr>
              <a:t>: </a:t>
            </a:r>
            <a:r>
              <a:rPr lang="ko-KR" altLang="en-US" sz="1300" b="1">
                <a:solidFill>
                  <a:srgbClr val="1B2A4E"/>
                </a:solidFill>
                <a:latin typeface="Pretendard"/>
              </a:rPr>
              <a:t>실버케어 수요 증가 → 통신</a:t>
            </a:r>
            <a:r>
              <a:rPr lang="en-US" altLang="ko-KR" sz="130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1300" b="1">
                <a:solidFill>
                  <a:srgbClr val="1B2A4E"/>
                </a:solidFill>
                <a:latin typeface="Pretendard"/>
              </a:rPr>
              <a:t>클라우드 의존 한계 → 민감 건강정보 프라이버시 → 온디바이스 보조 필요</a:t>
            </a:r>
          </a:p>
        </p:txBody>
      </p:sp>
    </p:spTree>
    <p:extLst>
      <p:ext uri="{BB962C8B-B14F-4D97-AF65-F5344CB8AC3E}">
        <p14:creationId xmlns:p14="http://schemas.microsoft.com/office/powerpoint/2010/main" val="3206979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1893E8B-0513-FC6A-AF89-8C2315D1A9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B27364-DD2B-A5AA-9EC7-1BAC45B52DAC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233F"/>
          </a:solidFill>
          <a:ln w="0">
            <a:solidFill>
              <a:srgbClr val="1723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EFBBD5-33AC-5EEA-EF3A-B0B8D448DA4B}"/>
              </a:ext>
            </a:extLst>
          </p:cNvPr>
          <p:cNvSpPr/>
          <p:nvPr/>
        </p:nvSpPr>
        <p:spPr>
          <a:xfrm>
            <a:off x="114300" y="0"/>
            <a:ext cx="50800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F5318D-BE24-339D-88BB-39F5128480DF}"/>
              </a:ext>
            </a:extLst>
          </p:cNvPr>
          <p:cNvSpPr/>
          <p:nvPr/>
        </p:nvSpPr>
        <p:spPr>
          <a:xfrm>
            <a:off x="508000" y="355600"/>
            <a:ext cx="2057400" cy="330200"/>
          </a:xfrm>
          <a:prstGeom prst="rect">
            <a:avLst/>
          </a:prstGeom>
          <a:solidFill>
            <a:srgbClr val="E8F1FF"/>
          </a:solidFill>
          <a:ln w="6350">
            <a:solidFill>
              <a:srgbClr val="E8F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C8BDCE-D686-D441-C5A2-7F90DC2F6A7E}"/>
              </a:ext>
            </a:extLst>
          </p:cNvPr>
          <p:cNvSpPr txBox="1"/>
          <p:nvPr/>
        </p:nvSpPr>
        <p:spPr>
          <a:xfrm>
            <a:off x="609600" y="419100"/>
            <a:ext cx="18542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00" b="1">
                <a:solidFill>
                  <a:srgbClr val="2E6FD4"/>
                </a:solidFill>
                <a:latin typeface="Pretendard"/>
              </a:rPr>
              <a:t>이론적 백그라운드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484694-07F8-57BE-422E-4399F46EAFB2}"/>
              </a:ext>
            </a:extLst>
          </p:cNvPr>
          <p:cNvSpPr txBox="1"/>
          <p:nvPr/>
        </p:nvSpPr>
        <p:spPr>
          <a:xfrm>
            <a:off x="10693400" y="482600"/>
            <a:ext cx="990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586780"/>
                </a:solidFill>
                <a:latin typeface="Pretendard"/>
              </a:rPr>
              <a:t>Exhibit 04</a:t>
            </a:r>
            <a:endParaRPr lang="ko-KR" altLang="en-US" sz="950" b="1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344ABB-2963-ED70-ABE5-2653767CF164}"/>
              </a:ext>
            </a:extLst>
          </p:cNvPr>
          <p:cNvSpPr txBox="1"/>
          <p:nvPr/>
        </p:nvSpPr>
        <p:spPr>
          <a:xfrm>
            <a:off x="584200" y="9906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지식증류는 큰 모델의 지식을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921401-8ABF-2F84-E723-AE82305FBC88}"/>
              </a:ext>
            </a:extLst>
          </p:cNvPr>
          <p:cNvSpPr txBox="1"/>
          <p:nvPr/>
        </p:nvSpPr>
        <p:spPr>
          <a:xfrm>
            <a:off x="584200" y="13843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작고 실행 가능한 학생 모델로 압축하는 방법임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85F77C3-15EA-4E54-BC6F-D697B112D6C2}"/>
              </a:ext>
            </a:extLst>
          </p:cNvPr>
          <p:cNvCxnSpPr/>
          <p:nvPr/>
        </p:nvCxnSpPr>
        <p:spPr>
          <a:xfrm>
            <a:off x="508000" y="1778000"/>
            <a:ext cx="11176000" cy="0"/>
          </a:xfrm>
          <a:prstGeom prst="line">
            <a:avLst/>
          </a:prstGeom>
          <a:ln w="38100">
            <a:solidFill>
              <a:srgbClr val="1B2A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ECC0E4F-379B-D51A-3DD0-D8AB022B1D6F}"/>
              </a:ext>
            </a:extLst>
          </p:cNvPr>
          <p:cNvSpPr/>
          <p:nvPr/>
        </p:nvSpPr>
        <p:spPr>
          <a:xfrm>
            <a:off x="508000" y="6197600"/>
            <a:ext cx="11176000" cy="368300"/>
          </a:xfrm>
          <a:prstGeom prst="rect">
            <a:avLst/>
          </a:prstGeom>
          <a:solidFill>
            <a:srgbClr val="EEF4FC"/>
          </a:solidFill>
          <a:ln w="9525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279E20-1739-927A-4FB3-C49ABF2557CA}"/>
              </a:ext>
            </a:extLst>
          </p:cNvPr>
          <p:cNvSpPr/>
          <p:nvPr/>
        </p:nvSpPr>
        <p:spPr>
          <a:xfrm>
            <a:off x="508000" y="6197600"/>
            <a:ext cx="76200" cy="3683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3FCED8-8892-C625-274D-CBDE43209390}"/>
              </a:ext>
            </a:extLst>
          </p:cNvPr>
          <p:cNvSpPr txBox="1"/>
          <p:nvPr/>
        </p:nvSpPr>
        <p:spPr>
          <a:xfrm>
            <a:off x="736600" y="6311900"/>
            <a:ext cx="889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 b="1">
                <a:solidFill>
                  <a:srgbClr val="2E6FD4"/>
                </a:solidFill>
                <a:latin typeface="Pretendard"/>
              </a:rPr>
              <a:t>Takeaway</a:t>
            </a:r>
            <a:endParaRPr lang="ko-KR" altLang="en-US" sz="900" b="1">
              <a:solidFill>
                <a:srgbClr val="2E6FD4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367605-2F1A-3FD6-B5FC-42341C4E68C0}"/>
              </a:ext>
            </a:extLst>
          </p:cNvPr>
          <p:cNvSpPr txBox="1"/>
          <p:nvPr/>
        </p:nvSpPr>
        <p:spPr>
          <a:xfrm>
            <a:off x="1727200" y="6273800"/>
            <a:ext cx="9144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이론 파트는 수식보다 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teacher-student 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구조와 온디바이스 제약을 한 그림으로 설명함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06B2D5-7C6E-5B8C-57F6-D0F1FB770B97}"/>
              </a:ext>
            </a:extLst>
          </p:cNvPr>
          <p:cNvSpPr txBox="1"/>
          <p:nvPr/>
        </p:nvSpPr>
        <p:spPr>
          <a:xfrm>
            <a:off x="508000" y="6680200"/>
            <a:ext cx="5207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>
                <a:solidFill>
                  <a:srgbClr val="586780"/>
                </a:solidFill>
                <a:latin typeface="Pretendard"/>
              </a:rPr>
              <a:t>6/11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발표 샘플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|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시니어 온디바이스 헬스케어 지식증류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LLM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1512CE-EB36-5605-8526-7DC7999A865E}"/>
              </a:ext>
            </a:extLst>
          </p:cNvPr>
          <p:cNvSpPr txBox="1"/>
          <p:nvPr/>
        </p:nvSpPr>
        <p:spPr>
          <a:xfrm>
            <a:off x="6350000" y="6680200"/>
            <a:ext cx="4572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fr-FR" altLang="ko-KR" sz="900">
                <a:solidFill>
                  <a:srgbClr val="586780"/>
                </a:solidFill>
                <a:latin typeface="Pretendard"/>
              </a:rPr>
              <a:t>Source: Hinton et al. 2015; Mobile Edge Intelligence survey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B94DCE-7EAA-D984-B26C-668A061CEBC9}"/>
              </a:ext>
            </a:extLst>
          </p:cNvPr>
          <p:cNvSpPr txBox="1"/>
          <p:nvPr/>
        </p:nvSpPr>
        <p:spPr>
          <a:xfrm>
            <a:off x="11379200" y="6680200"/>
            <a:ext cx="355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4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C5984F0-C4F7-255E-271D-056705C3D9F8}"/>
              </a:ext>
            </a:extLst>
          </p:cNvPr>
          <p:cNvSpPr/>
          <p:nvPr/>
        </p:nvSpPr>
        <p:spPr>
          <a:xfrm>
            <a:off x="914400" y="2616200"/>
            <a:ext cx="2413000" cy="167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5D3E8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래픽 19">
            <a:extLst>
              <a:ext uri="{FF2B5EF4-FFF2-40B4-BE49-F238E27FC236}">
                <a16:creationId xmlns:a16="http://schemas.microsoft.com/office/drawing/2014/main" id="{129A27DA-7278-7D8B-4759-36BADE6FD9A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2971800"/>
            <a:ext cx="558800" cy="5588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72A5D8E-A215-6457-469E-5275A1E9A4BC}"/>
              </a:ext>
            </a:extLst>
          </p:cNvPr>
          <p:cNvSpPr txBox="1"/>
          <p:nvPr/>
        </p:nvSpPr>
        <p:spPr>
          <a:xfrm>
            <a:off x="1955800" y="2870200"/>
            <a:ext cx="11684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1500" b="1">
                <a:solidFill>
                  <a:srgbClr val="2E6FD4"/>
                </a:solidFill>
                <a:latin typeface="Pretendard"/>
              </a:rPr>
              <a:t>Teacher LLM</a:t>
            </a:r>
            <a:endParaRPr lang="ko-KR" altLang="en-US" sz="1500" b="1">
              <a:solidFill>
                <a:srgbClr val="2E6FD4"/>
              </a:solidFill>
              <a:latin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5FAE44-9241-2565-1510-B5581F4D7409}"/>
              </a:ext>
            </a:extLst>
          </p:cNvPr>
          <p:cNvSpPr txBox="1"/>
          <p:nvPr/>
        </p:nvSpPr>
        <p:spPr>
          <a:xfrm>
            <a:off x="1955800" y="3276600"/>
            <a:ext cx="1168400" cy="147732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00" dirty="0">
                <a:solidFill>
                  <a:srgbClr val="202635"/>
                </a:solidFill>
                <a:latin typeface="Pretendard"/>
              </a:rPr>
              <a:t>풍부한 지식</a:t>
            </a:r>
          </a:p>
          <a:p>
            <a:r>
              <a:rPr lang="ko-KR" altLang="en-US" sz="1200" dirty="0">
                <a:solidFill>
                  <a:srgbClr val="202635"/>
                </a:solidFill>
                <a:latin typeface="Pretendard"/>
              </a:rPr>
              <a:t>긴 답변</a:t>
            </a:r>
          </a:p>
          <a:p>
            <a:r>
              <a:rPr lang="ko-KR" altLang="en-US" sz="1200" dirty="0">
                <a:solidFill>
                  <a:srgbClr val="202635"/>
                </a:solidFill>
                <a:latin typeface="Pretendard"/>
              </a:rPr>
              <a:t>클라우드 가능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7B4CED8-E413-0D3F-D39B-6773B408558E}"/>
              </a:ext>
            </a:extLst>
          </p:cNvPr>
          <p:cNvSpPr/>
          <p:nvPr/>
        </p:nvSpPr>
        <p:spPr>
          <a:xfrm>
            <a:off x="4470400" y="2413000"/>
            <a:ext cx="2997200" cy="2082800"/>
          </a:xfrm>
          <a:prstGeom prst="roundRect">
            <a:avLst/>
          </a:prstGeom>
          <a:solidFill>
            <a:srgbClr val="EEF4FC"/>
          </a:solidFill>
          <a:ln w="16510">
            <a:solidFill>
              <a:srgbClr val="AFC0DA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FFC896-1F53-3E17-57E3-055776270643}"/>
              </a:ext>
            </a:extLst>
          </p:cNvPr>
          <p:cNvSpPr txBox="1"/>
          <p:nvPr/>
        </p:nvSpPr>
        <p:spPr>
          <a:xfrm>
            <a:off x="4978400" y="2667000"/>
            <a:ext cx="2032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550" b="1">
                <a:solidFill>
                  <a:srgbClr val="1B2A4E"/>
                </a:solidFill>
                <a:latin typeface="Pretendard"/>
              </a:rPr>
              <a:t>Distillation Bridge</a:t>
            </a:r>
            <a:endParaRPr lang="ko-KR" altLang="en-US" sz="1550" b="1">
              <a:solidFill>
                <a:srgbClr val="1B2A4E"/>
              </a:solidFill>
              <a:latin typeface="Pretendard"/>
            </a:endParaRPr>
          </a:p>
        </p:txBody>
      </p:sp>
      <p:pic>
        <p:nvPicPr>
          <p:cNvPr id="26" name="그래픽 25">
            <a:extLst>
              <a:ext uri="{FF2B5EF4-FFF2-40B4-BE49-F238E27FC236}">
                <a16:creationId xmlns:a16="http://schemas.microsoft.com/office/drawing/2014/main" id="{0BAEB6E8-C60E-1FA7-629C-2EEED6B69AB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3000" y="3124200"/>
            <a:ext cx="254000" cy="2540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FB9DDEA-23F6-060E-939F-98B48FD80BBB}"/>
              </a:ext>
            </a:extLst>
          </p:cNvPr>
          <p:cNvSpPr txBox="1"/>
          <p:nvPr/>
        </p:nvSpPr>
        <p:spPr>
          <a:xfrm>
            <a:off x="5334000" y="3149600"/>
            <a:ext cx="1524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의료 핵심 정보</a:t>
            </a:r>
          </a:p>
        </p:txBody>
      </p:sp>
      <p:pic>
        <p:nvPicPr>
          <p:cNvPr id="29" name="그래픽 28">
            <a:extLst>
              <a:ext uri="{FF2B5EF4-FFF2-40B4-BE49-F238E27FC236}">
                <a16:creationId xmlns:a16="http://schemas.microsoft.com/office/drawing/2014/main" id="{362C7282-C7DA-029A-A951-BB4E2459F92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3000" y="3530600"/>
            <a:ext cx="254000" cy="254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30A7437-71F2-C32D-4FBC-321EB3D0A7DA}"/>
              </a:ext>
            </a:extLst>
          </p:cNvPr>
          <p:cNvSpPr txBox="1"/>
          <p:nvPr/>
        </p:nvSpPr>
        <p:spPr>
          <a:xfrm>
            <a:off x="5334000" y="3556000"/>
            <a:ext cx="1524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위험 판단 규칙</a:t>
            </a:r>
          </a:p>
        </p:txBody>
      </p:sp>
      <p:pic>
        <p:nvPicPr>
          <p:cNvPr id="32" name="그래픽 31">
            <a:extLst>
              <a:ext uri="{FF2B5EF4-FFF2-40B4-BE49-F238E27FC236}">
                <a16:creationId xmlns:a16="http://schemas.microsoft.com/office/drawing/2014/main" id="{57E01FB6-BDAE-4ACA-5EE9-A6B3145951B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3937000"/>
            <a:ext cx="254000" cy="254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FC512A5-450A-C435-198E-5C669615EF8D}"/>
              </a:ext>
            </a:extLst>
          </p:cNvPr>
          <p:cNvSpPr txBox="1"/>
          <p:nvPr/>
        </p:nvSpPr>
        <p:spPr>
          <a:xfrm>
            <a:off x="5334000" y="3962400"/>
            <a:ext cx="1524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시니어 답변 형식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D086903-4CB1-E090-D6C7-F853D3F61155}"/>
              </a:ext>
            </a:extLst>
          </p:cNvPr>
          <p:cNvSpPr/>
          <p:nvPr/>
        </p:nvSpPr>
        <p:spPr>
          <a:xfrm>
            <a:off x="8610600" y="2616200"/>
            <a:ext cx="2413000" cy="167640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157B52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래픽 35">
            <a:extLst>
              <a:ext uri="{FF2B5EF4-FFF2-40B4-BE49-F238E27FC236}">
                <a16:creationId xmlns:a16="http://schemas.microsoft.com/office/drawing/2014/main" id="{20352BFB-0CD0-D67B-204E-BDABCC5C3F5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66200" y="2971800"/>
            <a:ext cx="558800" cy="5588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E27CEEF-BA76-333C-23F7-E8AAD0A3C252}"/>
              </a:ext>
            </a:extLst>
          </p:cNvPr>
          <p:cNvSpPr txBox="1"/>
          <p:nvPr/>
        </p:nvSpPr>
        <p:spPr>
          <a:xfrm>
            <a:off x="9652000" y="2870200"/>
            <a:ext cx="11684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1500" b="1">
                <a:solidFill>
                  <a:srgbClr val="157B52"/>
                </a:solidFill>
                <a:latin typeface="Pretendard"/>
              </a:rPr>
              <a:t>Student LLM</a:t>
            </a:r>
            <a:endParaRPr lang="ko-KR" altLang="en-US" sz="1500" b="1">
              <a:solidFill>
                <a:srgbClr val="157B52"/>
              </a:solidFill>
              <a:latin typeface="Pretendard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C354C7-83CB-BCCF-81D7-763DBA76A84E}"/>
              </a:ext>
            </a:extLst>
          </p:cNvPr>
          <p:cNvSpPr txBox="1"/>
          <p:nvPr/>
        </p:nvSpPr>
        <p:spPr>
          <a:xfrm>
            <a:off x="9652000" y="3276600"/>
            <a:ext cx="1168400" cy="1754326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00" dirty="0">
                <a:solidFill>
                  <a:srgbClr val="202635"/>
                </a:solidFill>
                <a:latin typeface="Pretendard"/>
              </a:rPr>
              <a:t>작은 모델</a:t>
            </a:r>
          </a:p>
          <a:p>
            <a:r>
              <a:rPr lang="ko-KR" altLang="en-US" sz="1200" dirty="0">
                <a:solidFill>
                  <a:srgbClr val="202635"/>
                </a:solidFill>
                <a:latin typeface="Pretendard"/>
              </a:rPr>
              <a:t>오프라인 실행</a:t>
            </a:r>
          </a:p>
          <a:p>
            <a:r>
              <a:rPr lang="ko-KR" altLang="en-US" sz="1200" dirty="0">
                <a:solidFill>
                  <a:srgbClr val="202635"/>
                </a:solidFill>
                <a:latin typeface="Pretendard"/>
              </a:rPr>
              <a:t>폰 탑재 후보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58BCBC4-3198-47E3-36A1-DEC88BD067FB}"/>
              </a:ext>
            </a:extLst>
          </p:cNvPr>
          <p:cNvCxnSpPr/>
          <p:nvPr/>
        </p:nvCxnSpPr>
        <p:spPr>
          <a:xfrm>
            <a:off x="3429000" y="3429000"/>
            <a:ext cx="914400" cy="0"/>
          </a:xfrm>
          <a:prstGeom prst="line">
            <a:avLst/>
          </a:prstGeom>
          <a:ln w="25400">
            <a:solidFill>
              <a:srgbClr val="AFC0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424F2012-BD9D-ABB2-DDEC-812748AB42E0}"/>
              </a:ext>
            </a:extLst>
          </p:cNvPr>
          <p:cNvCxnSpPr/>
          <p:nvPr/>
        </p:nvCxnSpPr>
        <p:spPr>
          <a:xfrm>
            <a:off x="7594600" y="3429000"/>
            <a:ext cx="914400" cy="0"/>
          </a:xfrm>
          <a:prstGeom prst="line">
            <a:avLst/>
          </a:prstGeom>
          <a:ln w="25400">
            <a:solidFill>
              <a:srgbClr val="AFC0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75BC322-5B8F-6474-9BB3-892772C2F5E2}"/>
              </a:ext>
            </a:extLst>
          </p:cNvPr>
          <p:cNvSpPr/>
          <p:nvPr/>
        </p:nvSpPr>
        <p:spPr>
          <a:xfrm>
            <a:off x="1193800" y="5054600"/>
            <a:ext cx="9804400" cy="584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" name="그래픽 42">
            <a:extLst>
              <a:ext uri="{FF2B5EF4-FFF2-40B4-BE49-F238E27FC236}">
                <a16:creationId xmlns:a16="http://schemas.microsoft.com/office/drawing/2014/main" id="{E9C4B75C-86C8-C010-369E-14A8C4F23E0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73200" y="5181600"/>
            <a:ext cx="279400" cy="2794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5C99E8B-ADBF-3272-E973-B70E943FACDC}"/>
              </a:ext>
            </a:extLst>
          </p:cNvPr>
          <p:cNvSpPr txBox="1"/>
          <p:nvPr/>
        </p:nvSpPr>
        <p:spPr>
          <a:xfrm>
            <a:off x="1930400" y="5219700"/>
            <a:ext cx="8382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80" b="1">
                <a:solidFill>
                  <a:srgbClr val="1B2A4E"/>
                </a:solidFill>
                <a:latin typeface="Pretendard"/>
              </a:rPr>
              <a:t>작은 모델은 모든 지식을 담을 수 없으므로</a:t>
            </a:r>
            <a:r>
              <a:rPr lang="en-US" altLang="ko-KR" sz="1280" b="1">
                <a:solidFill>
                  <a:srgbClr val="1B2A4E"/>
                </a:solidFill>
                <a:latin typeface="Pretendard"/>
              </a:rPr>
              <a:t>, </a:t>
            </a:r>
            <a:r>
              <a:rPr lang="ko-KR" altLang="en-US" sz="1280" b="1">
                <a:solidFill>
                  <a:srgbClr val="1B2A4E"/>
                </a:solidFill>
                <a:latin typeface="Pretendard"/>
              </a:rPr>
              <a:t>우리 시나리오에 필요한 지식과 안전 규칙을 골라 옮겨야 함</a:t>
            </a:r>
          </a:p>
        </p:txBody>
      </p:sp>
    </p:spTree>
    <p:extLst>
      <p:ext uri="{BB962C8B-B14F-4D97-AF65-F5344CB8AC3E}">
        <p14:creationId xmlns:p14="http://schemas.microsoft.com/office/powerpoint/2010/main" val="3955143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DAAF747-B60F-4C35-8F03-827B08984C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411205-92A3-4BC9-DA97-BCB8796A1862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233F"/>
          </a:solidFill>
          <a:ln w="0">
            <a:solidFill>
              <a:srgbClr val="1723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B05043-A0A0-AABA-A176-7484D47DE6FF}"/>
              </a:ext>
            </a:extLst>
          </p:cNvPr>
          <p:cNvSpPr/>
          <p:nvPr/>
        </p:nvSpPr>
        <p:spPr>
          <a:xfrm>
            <a:off x="114300" y="0"/>
            <a:ext cx="50800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5D0A6B-7B11-F88E-A37D-ACFA6EC32B58}"/>
              </a:ext>
            </a:extLst>
          </p:cNvPr>
          <p:cNvSpPr/>
          <p:nvPr/>
        </p:nvSpPr>
        <p:spPr>
          <a:xfrm>
            <a:off x="508000" y="355600"/>
            <a:ext cx="2057400" cy="330200"/>
          </a:xfrm>
          <a:prstGeom prst="rect">
            <a:avLst/>
          </a:prstGeom>
          <a:solidFill>
            <a:srgbClr val="E8F1FF"/>
          </a:solidFill>
          <a:ln w="6350">
            <a:solidFill>
              <a:srgbClr val="E8F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189E6-66C5-E5B8-88EE-F467DA655E9C}"/>
              </a:ext>
            </a:extLst>
          </p:cNvPr>
          <p:cNvSpPr txBox="1"/>
          <p:nvPr/>
        </p:nvSpPr>
        <p:spPr>
          <a:xfrm>
            <a:off x="609600" y="419100"/>
            <a:ext cx="1854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00" b="1">
                <a:solidFill>
                  <a:srgbClr val="2E6FD4"/>
                </a:solidFill>
                <a:latin typeface="Pretendard"/>
              </a:rPr>
              <a:t>데이터 종류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EF6718-839E-18B0-2A36-743D02C134DE}"/>
              </a:ext>
            </a:extLst>
          </p:cNvPr>
          <p:cNvSpPr txBox="1"/>
          <p:nvPr/>
        </p:nvSpPr>
        <p:spPr>
          <a:xfrm>
            <a:off x="10693400" y="482600"/>
            <a:ext cx="990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586780"/>
                </a:solidFill>
                <a:latin typeface="Pretendard"/>
              </a:rPr>
              <a:t>Exhibit 05</a:t>
            </a:r>
            <a:endParaRPr lang="ko-KR" altLang="en-US" sz="950" b="1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5E5271-84F5-B0C3-4EDB-E227C3E015F1}"/>
              </a:ext>
            </a:extLst>
          </p:cNvPr>
          <p:cNvSpPr txBox="1"/>
          <p:nvPr/>
        </p:nvSpPr>
        <p:spPr>
          <a:xfrm>
            <a:off x="584200" y="9906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데이터 파트는 출처 나열이 아니라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EA8FC4-510F-AF77-BCFE-74CD85A07101}"/>
              </a:ext>
            </a:extLst>
          </p:cNvPr>
          <p:cNvSpPr txBox="1"/>
          <p:nvPr/>
        </p:nvSpPr>
        <p:spPr>
          <a:xfrm>
            <a:off x="584200" y="13843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선정 사유와 평가 연결성을 함께 보여줘야 함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9BD1FBF-3075-6F8B-0422-6A5E3F1BCA4B}"/>
              </a:ext>
            </a:extLst>
          </p:cNvPr>
          <p:cNvCxnSpPr/>
          <p:nvPr/>
        </p:nvCxnSpPr>
        <p:spPr>
          <a:xfrm>
            <a:off x="508000" y="1778000"/>
            <a:ext cx="11176000" cy="0"/>
          </a:xfrm>
          <a:prstGeom prst="line">
            <a:avLst/>
          </a:prstGeom>
          <a:ln w="38100">
            <a:solidFill>
              <a:srgbClr val="1B2A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12E447-0BF3-E0FE-0C20-EB33FBC5E107}"/>
              </a:ext>
            </a:extLst>
          </p:cNvPr>
          <p:cNvSpPr/>
          <p:nvPr/>
        </p:nvSpPr>
        <p:spPr>
          <a:xfrm>
            <a:off x="508000" y="6197600"/>
            <a:ext cx="11176000" cy="368300"/>
          </a:xfrm>
          <a:prstGeom prst="rect">
            <a:avLst/>
          </a:prstGeom>
          <a:solidFill>
            <a:srgbClr val="EEF4FC"/>
          </a:solidFill>
          <a:ln w="9525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685B3F2-63E7-AE70-08B9-1DC4DB4285A9}"/>
              </a:ext>
            </a:extLst>
          </p:cNvPr>
          <p:cNvSpPr/>
          <p:nvPr/>
        </p:nvSpPr>
        <p:spPr>
          <a:xfrm>
            <a:off x="508000" y="6197600"/>
            <a:ext cx="76200" cy="3683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80799F-A735-43DD-E235-F24D51E20C10}"/>
              </a:ext>
            </a:extLst>
          </p:cNvPr>
          <p:cNvSpPr txBox="1"/>
          <p:nvPr/>
        </p:nvSpPr>
        <p:spPr>
          <a:xfrm>
            <a:off x="736600" y="6311900"/>
            <a:ext cx="889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 b="1">
                <a:solidFill>
                  <a:srgbClr val="2E6FD4"/>
                </a:solidFill>
                <a:latin typeface="Pretendard"/>
              </a:rPr>
              <a:t>Takeaway</a:t>
            </a:r>
            <a:endParaRPr lang="ko-KR" altLang="en-US" sz="900" b="1">
              <a:solidFill>
                <a:srgbClr val="2E6FD4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FAC5E7-F25C-03D0-A2C9-0BE50D1DC003}"/>
              </a:ext>
            </a:extLst>
          </p:cNvPr>
          <p:cNvSpPr txBox="1"/>
          <p:nvPr/>
        </p:nvSpPr>
        <p:spPr>
          <a:xfrm>
            <a:off x="1727200" y="6273800"/>
            <a:ext cx="9144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데이터 종류 장표는 출처 맵과 선정 사유를 함께 보여줘야 다음 구현 파트로 자연스럽게 이어짐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C05872-84AD-AAA8-4BFF-EA3C72DB1766}"/>
              </a:ext>
            </a:extLst>
          </p:cNvPr>
          <p:cNvSpPr txBox="1"/>
          <p:nvPr/>
        </p:nvSpPr>
        <p:spPr>
          <a:xfrm>
            <a:off x="508000" y="6680200"/>
            <a:ext cx="5207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>
                <a:solidFill>
                  <a:srgbClr val="586780"/>
                </a:solidFill>
                <a:latin typeface="Pretendard"/>
              </a:rPr>
              <a:t>6/11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발표 샘플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|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시니어 온디바이스 헬스케어 지식증류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LLM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808F7A-7531-4963-2F27-65E0E144E120}"/>
              </a:ext>
            </a:extLst>
          </p:cNvPr>
          <p:cNvSpPr txBox="1"/>
          <p:nvPr/>
        </p:nvSpPr>
        <p:spPr>
          <a:xfrm>
            <a:off x="6350000" y="6680200"/>
            <a:ext cx="4572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Source: AI Hub; public medical QA; team scenario set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50E390-9C39-F62E-EBDF-9876B06525F7}"/>
              </a:ext>
            </a:extLst>
          </p:cNvPr>
          <p:cNvSpPr txBox="1"/>
          <p:nvPr/>
        </p:nvSpPr>
        <p:spPr>
          <a:xfrm>
            <a:off x="11379200" y="6680200"/>
            <a:ext cx="355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5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68275E-4993-186D-1A39-57996CF130EC}"/>
              </a:ext>
            </a:extLst>
          </p:cNvPr>
          <p:cNvSpPr txBox="1"/>
          <p:nvPr/>
        </p:nvSpPr>
        <p:spPr>
          <a:xfrm>
            <a:off x="1041400" y="2286000"/>
            <a:ext cx="2032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1300" b="1">
                <a:solidFill>
                  <a:srgbClr val="2E6FD4"/>
                </a:solidFill>
                <a:latin typeface="Pretendard"/>
              </a:rPr>
              <a:t>Source Cluster</a:t>
            </a:r>
            <a:endParaRPr lang="ko-KR" altLang="en-US" sz="1300" b="1">
              <a:solidFill>
                <a:srgbClr val="2E6FD4"/>
              </a:solidFill>
              <a:latin typeface="Pretendard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E550068-722A-45B0-F8EB-D622E3432C67}"/>
              </a:ext>
            </a:extLst>
          </p:cNvPr>
          <p:cNvSpPr/>
          <p:nvPr/>
        </p:nvSpPr>
        <p:spPr>
          <a:xfrm>
            <a:off x="914400" y="2667000"/>
            <a:ext cx="2514600" cy="508000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C5D3E8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래픽 20">
            <a:extLst>
              <a:ext uri="{FF2B5EF4-FFF2-40B4-BE49-F238E27FC236}">
                <a16:creationId xmlns:a16="http://schemas.microsoft.com/office/drawing/2014/main" id="{288C24CE-B435-3C77-DB9A-EB19A7B6CF5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7600" y="2781300"/>
            <a:ext cx="279400" cy="279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F82886F-9415-0F60-B247-863B7491C4FD}"/>
              </a:ext>
            </a:extLst>
          </p:cNvPr>
          <p:cNvSpPr txBox="1"/>
          <p:nvPr/>
        </p:nvSpPr>
        <p:spPr>
          <a:xfrm>
            <a:off x="1549400" y="2743200"/>
            <a:ext cx="11684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1250" b="1">
                <a:solidFill>
                  <a:srgbClr val="1B2A4E"/>
                </a:solidFill>
                <a:latin typeface="Pretendard"/>
              </a:rPr>
              <a:t>AI Hub</a:t>
            </a:r>
            <a:endParaRPr lang="ko-KR" altLang="en-US" sz="1250" b="1">
              <a:solidFill>
                <a:srgbClr val="1B2A4E"/>
              </a:solidFill>
              <a:latin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CCCE24-B5C1-A369-F0FC-E563C1095592}"/>
              </a:ext>
            </a:extLst>
          </p:cNvPr>
          <p:cNvSpPr txBox="1"/>
          <p:nvPr/>
        </p:nvSpPr>
        <p:spPr>
          <a:xfrm>
            <a:off x="1549400" y="2946400"/>
            <a:ext cx="14224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의료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상담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658DB2C-335D-7980-C4AB-1B24847D78D7}"/>
              </a:ext>
            </a:extLst>
          </p:cNvPr>
          <p:cNvSpPr/>
          <p:nvPr/>
        </p:nvSpPr>
        <p:spPr>
          <a:xfrm>
            <a:off x="914400" y="3327400"/>
            <a:ext cx="2514600" cy="508000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C5D3E8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래픽 25">
            <a:extLst>
              <a:ext uri="{FF2B5EF4-FFF2-40B4-BE49-F238E27FC236}">
                <a16:creationId xmlns:a16="http://schemas.microsoft.com/office/drawing/2014/main" id="{9776C059-9F81-A2E4-1A8D-64E04252E54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600" y="3441700"/>
            <a:ext cx="279400" cy="279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8FE78E0-2AD2-3F95-ED89-134EA777473C}"/>
              </a:ext>
            </a:extLst>
          </p:cNvPr>
          <p:cNvSpPr txBox="1"/>
          <p:nvPr/>
        </p:nvSpPr>
        <p:spPr>
          <a:xfrm>
            <a:off x="1549400" y="3403600"/>
            <a:ext cx="11684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50" b="1">
                <a:solidFill>
                  <a:srgbClr val="1B2A4E"/>
                </a:solidFill>
                <a:latin typeface="Pretendard"/>
              </a:rPr>
              <a:t>공개 </a:t>
            </a:r>
            <a:r>
              <a:rPr lang="en-US" altLang="ko-KR" sz="1250" b="1">
                <a:solidFill>
                  <a:srgbClr val="1B2A4E"/>
                </a:solidFill>
                <a:latin typeface="Pretendard"/>
              </a:rPr>
              <a:t>QA</a:t>
            </a:r>
            <a:endParaRPr lang="ko-KR" altLang="en-US" sz="1250" b="1">
              <a:solidFill>
                <a:srgbClr val="1B2A4E"/>
              </a:solidFill>
              <a:latin typeface="Pretendar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358F11-C978-FCB4-8C07-2365D48EEA7C}"/>
              </a:ext>
            </a:extLst>
          </p:cNvPr>
          <p:cNvSpPr txBox="1"/>
          <p:nvPr/>
        </p:nvSpPr>
        <p:spPr>
          <a:xfrm>
            <a:off x="1549400" y="3606800"/>
            <a:ext cx="14224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정답 근거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CD6AD21-2AAC-095A-82D2-488DE1D5CA94}"/>
              </a:ext>
            </a:extLst>
          </p:cNvPr>
          <p:cNvSpPr/>
          <p:nvPr/>
        </p:nvSpPr>
        <p:spPr>
          <a:xfrm>
            <a:off x="914400" y="3987800"/>
            <a:ext cx="2514600" cy="508000"/>
          </a:xfrm>
          <a:prstGeom prst="roundRect">
            <a:avLst/>
          </a:prstGeom>
          <a:solidFill>
            <a:srgbClr val="E8F6EF"/>
          </a:solidFill>
          <a:ln w="10160">
            <a:solidFill>
              <a:srgbClr val="C5D3E8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래픽 30">
            <a:extLst>
              <a:ext uri="{FF2B5EF4-FFF2-40B4-BE49-F238E27FC236}">
                <a16:creationId xmlns:a16="http://schemas.microsoft.com/office/drawing/2014/main" id="{DE83804B-5F0F-B8A9-336C-9EB5136BEE0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600" y="4102100"/>
            <a:ext cx="279400" cy="279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BA597F7-A048-EE05-A5A0-56949DED2EAA}"/>
              </a:ext>
            </a:extLst>
          </p:cNvPr>
          <p:cNvSpPr txBox="1"/>
          <p:nvPr/>
        </p:nvSpPr>
        <p:spPr>
          <a:xfrm>
            <a:off x="1549400" y="4064000"/>
            <a:ext cx="11684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50" b="1">
                <a:solidFill>
                  <a:srgbClr val="1B2A4E"/>
                </a:solidFill>
                <a:latin typeface="Pretendard"/>
              </a:rPr>
              <a:t>자체 질문셋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5CF550-D6C9-984B-4522-FBF52533C247}"/>
              </a:ext>
            </a:extLst>
          </p:cNvPr>
          <p:cNvSpPr txBox="1"/>
          <p:nvPr/>
        </p:nvSpPr>
        <p:spPr>
          <a:xfrm>
            <a:off x="1549400" y="4267200"/>
            <a:ext cx="14224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독거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복약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응급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831FF5D-8F42-3F5D-E988-24A62FFFE839}"/>
              </a:ext>
            </a:extLst>
          </p:cNvPr>
          <p:cNvSpPr/>
          <p:nvPr/>
        </p:nvSpPr>
        <p:spPr>
          <a:xfrm>
            <a:off x="914400" y="4648200"/>
            <a:ext cx="2514600" cy="508000"/>
          </a:xfrm>
          <a:prstGeom prst="roundRect">
            <a:avLst/>
          </a:prstGeom>
          <a:solidFill>
            <a:srgbClr val="E8F6EF"/>
          </a:solidFill>
          <a:ln w="10160">
            <a:solidFill>
              <a:srgbClr val="C5D3E8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래픽 35">
            <a:extLst>
              <a:ext uri="{FF2B5EF4-FFF2-40B4-BE49-F238E27FC236}">
                <a16:creationId xmlns:a16="http://schemas.microsoft.com/office/drawing/2014/main" id="{9E147960-FF28-4105-D43D-72A3B0E6302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7600" y="4762500"/>
            <a:ext cx="279400" cy="279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75129B5-6FBD-F57E-2276-28AC90489A22}"/>
              </a:ext>
            </a:extLst>
          </p:cNvPr>
          <p:cNvSpPr txBox="1"/>
          <p:nvPr/>
        </p:nvSpPr>
        <p:spPr>
          <a:xfrm>
            <a:off x="1549400" y="4724400"/>
            <a:ext cx="11684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50" b="1">
                <a:solidFill>
                  <a:srgbClr val="1B2A4E"/>
                </a:solidFill>
                <a:latin typeface="Pretendard"/>
              </a:rPr>
              <a:t>라이프로그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DE4581-BB09-062E-3E96-3AE087B7DBDC}"/>
              </a:ext>
            </a:extLst>
          </p:cNvPr>
          <p:cNvSpPr txBox="1"/>
          <p:nvPr/>
        </p:nvSpPr>
        <p:spPr>
          <a:xfrm>
            <a:off x="1549400" y="4927600"/>
            <a:ext cx="14224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일상 기록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4155D458-9F12-D382-0A58-EEC9047F0EC8}"/>
              </a:ext>
            </a:extLst>
          </p:cNvPr>
          <p:cNvCxnSpPr/>
          <p:nvPr/>
        </p:nvCxnSpPr>
        <p:spPr>
          <a:xfrm>
            <a:off x="3708400" y="3962400"/>
            <a:ext cx="863600" cy="0"/>
          </a:xfrm>
          <a:prstGeom prst="line">
            <a:avLst/>
          </a:prstGeom>
          <a:ln w="25400">
            <a:solidFill>
              <a:srgbClr val="AFC0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8F6647A-C0F0-1027-F489-B9B4AB42C706}"/>
              </a:ext>
            </a:extLst>
          </p:cNvPr>
          <p:cNvSpPr/>
          <p:nvPr/>
        </p:nvSpPr>
        <p:spPr>
          <a:xfrm>
            <a:off x="4699000" y="2616200"/>
            <a:ext cx="2413000" cy="238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FC0DA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AC008C-CC11-6069-983E-CCEFEF2AB541}"/>
              </a:ext>
            </a:extLst>
          </p:cNvPr>
          <p:cNvSpPr txBox="1"/>
          <p:nvPr/>
        </p:nvSpPr>
        <p:spPr>
          <a:xfrm>
            <a:off x="4978400" y="2844800"/>
            <a:ext cx="18542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350" b="1">
                <a:solidFill>
                  <a:srgbClr val="1B2A4E"/>
                </a:solidFill>
                <a:latin typeface="Pretendard"/>
              </a:rPr>
              <a:t>Processing Funnel</a:t>
            </a:r>
            <a:endParaRPr lang="ko-KR" altLang="en-US" sz="1350" b="1">
              <a:solidFill>
                <a:srgbClr val="1B2A4E"/>
              </a:solidFill>
              <a:latin typeface="Pretendard"/>
            </a:endParaRPr>
          </a:p>
        </p:txBody>
      </p:sp>
      <p:pic>
        <p:nvPicPr>
          <p:cNvPr id="43" name="그래픽 42">
            <a:extLst>
              <a:ext uri="{FF2B5EF4-FFF2-40B4-BE49-F238E27FC236}">
                <a16:creationId xmlns:a16="http://schemas.microsoft.com/office/drawing/2014/main" id="{64D2891A-48D3-BC25-FE04-A2CA598932D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0000" y="3276600"/>
            <a:ext cx="254000" cy="2540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1514030-B595-0091-DCB3-E2F1818CCC1C}"/>
              </a:ext>
            </a:extLst>
          </p:cNvPr>
          <p:cNvSpPr txBox="1"/>
          <p:nvPr/>
        </p:nvSpPr>
        <p:spPr>
          <a:xfrm>
            <a:off x="5461000" y="3302000"/>
            <a:ext cx="1270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형식 통일</a:t>
            </a:r>
          </a:p>
        </p:txBody>
      </p:sp>
      <p:pic>
        <p:nvPicPr>
          <p:cNvPr id="46" name="그래픽 45">
            <a:extLst>
              <a:ext uri="{FF2B5EF4-FFF2-40B4-BE49-F238E27FC236}">
                <a16:creationId xmlns:a16="http://schemas.microsoft.com/office/drawing/2014/main" id="{7D18B650-56D7-0020-62A0-A5702973AA9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0000" y="3733800"/>
            <a:ext cx="254000" cy="2540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C7F8B15-FAA2-C12A-03D5-726ABA3C4372}"/>
              </a:ext>
            </a:extLst>
          </p:cNvPr>
          <p:cNvSpPr txBox="1"/>
          <p:nvPr/>
        </p:nvSpPr>
        <p:spPr>
          <a:xfrm>
            <a:off x="5461000" y="3759200"/>
            <a:ext cx="1270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개인정보 제거</a:t>
            </a:r>
          </a:p>
        </p:txBody>
      </p:sp>
      <p:pic>
        <p:nvPicPr>
          <p:cNvPr id="49" name="그래픽 48">
            <a:extLst>
              <a:ext uri="{FF2B5EF4-FFF2-40B4-BE49-F238E27FC236}">
                <a16:creationId xmlns:a16="http://schemas.microsoft.com/office/drawing/2014/main" id="{93A0A26C-6AEA-7C8F-C0AE-96F40C93C1D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80000" y="4191000"/>
            <a:ext cx="254000" cy="2540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FD09708-ABAD-3545-BDF5-B4BB3A9AE335}"/>
              </a:ext>
            </a:extLst>
          </p:cNvPr>
          <p:cNvSpPr txBox="1"/>
          <p:nvPr/>
        </p:nvSpPr>
        <p:spPr>
          <a:xfrm>
            <a:off x="5461000" y="4216400"/>
            <a:ext cx="1270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평가 라벨화</a:t>
            </a: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57AA28A-69BA-81C2-6FDD-A347F5605DC1}"/>
              </a:ext>
            </a:extLst>
          </p:cNvPr>
          <p:cNvCxnSpPr/>
          <p:nvPr/>
        </p:nvCxnSpPr>
        <p:spPr>
          <a:xfrm>
            <a:off x="7239000" y="3962400"/>
            <a:ext cx="863600" cy="0"/>
          </a:xfrm>
          <a:prstGeom prst="line">
            <a:avLst/>
          </a:prstGeom>
          <a:ln w="25400">
            <a:solidFill>
              <a:srgbClr val="AFC0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5A80252-1FB7-D373-519C-686F8AB7313C}"/>
              </a:ext>
            </a:extLst>
          </p:cNvPr>
          <p:cNvSpPr/>
          <p:nvPr/>
        </p:nvSpPr>
        <p:spPr>
          <a:xfrm>
            <a:off x="8255000" y="2768600"/>
            <a:ext cx="2794000" cy="1930400"/>
          </a:xfrm>
          <a:prstGeom prst="roundRect">
            <a:avLst/>
          </a:prstGeom>
          <a:solidFill>
            <a:srgbClr val="E8F6EF"/>
          </a:solidFill>
          <a:ln w="19050">
            <a:solidFill>
              <a:srgbClr val="157B52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래픽 53">
            <a:extLst>
              <a:ext uri="{FF2B5EF4-FFF2-40B4-BE49-F238E27FC236}">
                <a16:creationId xmlns:a16="http://schemas.microsoft.com/office/drawing/2014/main" id="{0D951531-3DEC-3B9B-41E5-319798CC3AB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59800" y="3149600"/>
            <a:ext cx="508000" cy="508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F20DB2C7-50FC-2D7B-8E38-E4D6E4B3B5CE}"/>
              </a:ext>
            </a:extLst>
          </p:cNvPr>
          <p:cNvSpPr txBox="1"/>
          <p:nvPr/>
        </p:nvSpPr>
        <p:spPr>
          <a:xfrm>
            <a:off x="9194800" y="3124200"/>
            <a:ext cx="1498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450" b="1">
                <a:solidFill>
                  <a:srgbClr val="157B52"/>
                </a:solidFill>
                <a:latin typeface="Pretendard"/>
              </a:rPr>
              <a:t>학습</a:t>
            </a:r>
            <a:r>
              <a:rPr lang="en-US" altLang="ko-KR" sz="1450" b="1">
                <a:solidFill>
                  <a:srgbClr val="157B52"/>
                </a:solidFill>
                <a:latin typeface="Pretendard"/>
              </a:rPr>
              <a:t>·</a:t>
            </a:r>
            <a:r>
              <a:rPr lang="ko-KR" altLang="en-US" sz="1450" b="1">
                <a:solidFill>
                  <a:srgbClr val="157B52"/>
                </a:solidFill>
                <a:latin typeface="Pretendard"/>
              </a:rPr>
              <a:t>평가 데이터 풀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7C1020-7014-2161-FF60-4C024E2FD91B}"/>
              </a:ext>
            </a:extLst>
          </p:cNvPr>
          <p:cNvSpPr txBox="1"/>
          <p:nvPr/>
        </p:nvSpPr>
        <p:spPr>
          <a:xfrm>
            <a:off x="9194800" y="3556000"/>
            <a:ext cx="1549400" cy="1754326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50">
                <a:solidFill>
                  <a:srgbClr val="202635"/>
                </a:solidFill>
                <a:latin typeface="Pretendard"/>
              </a:rPr>
              <a:t>구현 입력 포맷과</a:t>
            </a:r>
          </a:p>
          <a:p>
            <a:r>
              <a:rPr lang="ko-KR" altLang="en-US" sz="1250">
                <a:solidFill>
                  <a:srgbClr val="202635"/>
                </a:solidFill>
                <a:latin typeface="Pretendard"/>
              </a:rPr>
              <a:t>평가 기준 라벨을</a:t>
            </a:r>
          </a:p>
          <a:p>
            <a:r>
              <a:rPr lang="ko-KR" altLang="en-US" sz="1250">
                <a:solidFill>
                  <a:srgbClr val="202635"/>
                </a:solidFill>
                <a:latin typeface="Pretendard"/>
              </a:rPr>
              <a:t>같은 구조로 맞춤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27C31D-07EB-1868-E4F1-7E7A4A07769E}"/>
              </a:ext>
            </a:extLst>
          </p:cNvPr>
          <p:cNvSpPr txBox="1"/>
          <p:nvPr/>
        </p:nvSpPr>
        <p:spPr>
          <a:xfrm>
            <a:off x="939800" y="5486400"/>
            <a:ext cx="10160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300">
                <a:solidFill>
                  <a:srgbClr val="202635"/>
                </a:solidFill>
                <a:latin typeface="Pretendard"/>
              </a:rPr>
              <a:t>영민님 파트에서는 윤표님 구현 파트와 맞물리도록</a:t>
            </a:r>
            <a:r>
              <a:rPr lang="en-US" altLang="ko-KR" sz="1300">
                <a:solidFill>
                  <a:srgbClr val="202635"/>
                </a:solidFill>
                <a:latin typeface="Pretendard"/>
              </a:rPr>
              <a:t>, </a:t>
            </a:r>
            <a:r>
              <a:rPr lang="ko-KR" altLang="en-US" sz="1300">
                <a:solidFill>
                  <a:srgbClr val="202635"/>
                </a:solidFill>
                <a:latin typeface="Pretendard"/>
              </a:rPr>
              <a:t>데이터 형식</a:t>
            </a:r>
            <a:r>
              <a:rPr lang="en-US" altLang="ko-KR" sz="130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300">
                <a:solidFill>
                  <a:srgbClr val="202635"/>
                </a:solidFill>
                <a:latin typeface="Pretendard"/>
              </a:rPr>
              <a:t>전처리 가능성</a:t>
            </a:r>
            <a:r>
              <a:rPr lang="en-US" altLang="ko-KR" sz="130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300">
                <a:solidFill>
                  <a:srgbClr val="202635"/>
                </a:solidFill>
                <a:latin typeface="Pretendard"/>
              </a:rPr>
              <a:t>평가 라벨 여부를 함께 제시</a:t>
            </a:r>
          </a:p>
        </p:txBody>
      </p:sp>
    </p:spTree>
    <p:extLst>
      <p:ext uri="{BB962C8B-B14F-4D97-AF65-F5344CB8AC3E}">
        <p14:creationId xmlns:p14="http://schemas.microsoft.com/office/powerpoint/2010/main" val="919577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185DC1F-E0CD-C4EA-223C-7142089BC5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8C6652-71FD-C441-F8C4-35B16AD4C85B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233F"/>
          </a:solidFill>
          <a:ln w="0">
            <a:solidFill>
              <a:srgbClr val="1723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7F5BF45-5D43-2B1C-2D4D-80C804038026}"/>
              </a:ext>
            </a:extLst>
          </p:cNvPr>
          <p:cNvSpPr/>
          <p:nvPr/>
        </p:nvSpPr>
        <p:spPr>
          <a:xfrm>
            <a:off x="114300" y="0"/>
            <a:ext cx="50800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B7EC1A-7A0A-1A05-9749-96402A524016}"/>
              </a:ext>
            </a:extLst>
          </p:cNvPr>
          <p:cNvSpPr/>
          <p:nvPr/>
        </p:nvSpPr>
        <p:spPr>
          <a:xfrm>
            <a:off x="508000" y="355600"/>
            <a:ext cx="2057400" cy="330200"/>
          </a:xfrm>
          <a:prstGeom prst="rect">
            <a:avLst/>
          </a:prstGeom>
          <a:solidFill>
            <a:srgbClr val="E8F1FF"/>
          </a:solidFill>
          <a:ln w="6350">
            <a:solidFill>
              <a:srgbClr val="E8F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1B1FF6-812A-E01B-BC6F-AEFF65D361D1}"/>
              </a:ext>
            </a:extLst>
          </p:cNvPr>
          <p:cNvSpPr txBox="1"/>
          <p:nvPr/>
        </p:nvSpPr>
        <p:spPr>
          <a:xfrm>
            <a:off x="609600" y="419100"/>
            <a:ext cx="1854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00" b="1">
                <a:solidFill>
                  <a:srgbClr val="2E6FD4"/>
                </a:solidFill>
                <a:latin typeface="Pretendard"/>
              </a:rPr>
              <a:t>데이터 선정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3F7CD4-C52F-13F0-AED4-43B9BF03378F}"/>
              </a:ext>
            </a:extLst>
          </p:cNvPr>
          <p:cNvSpPr txBox="1"/>
          <p:nvPr/>
        </p:nvSpPr>
        <p:spPr>
          <a:xfrm>
            <a:off x="10693400" y="482600"/>
            <a:ext cx="990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586780"/>
                </a:solidFill>
                <a:latin typeface="Pretendard"/>
              </a:rPr>
              <a:t>Exhibit 06</a:t>
            </a:r>
            <a:endParaRPr lang="ko-KR" altLang="en-US" sz="950" b="1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469FBA-9D47-1F87-CEB0-CDB6EF853598}"/>
              </a:ext>
            </a:extLst>
          </p:cNvPr>
          <p:cNvSpPr txBox="1"/>
          <p:nvPr/>
        </p:nvSpPr>
        <p:spPr>
          <a:xfrm>
            <a:off x="584200" y="9906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데이터 선정 사유는 도메인 적합성</a:t>
            </a:r>
            <a:r>
              <a:rPr lang="en-US" altLang="ko-KR" sz="255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라벨 품질</a:t>
            </a:r>
            <a:r>
              <a:rPr lang="en-US" altLang="ko-KR" sz="2550" b="1">
                <a:solidFill>
                  <a:srgbClr val="1B2A4E"/>
                </a:solidFill>
                <a:latin typeface="Pretendard"/>
              </a:rPr>
              <a:t>·</a:t>
            </a:r>
            <a:endParaRPr lang="ko-KR" altLang="en-US" sz="2550" b="1">
              <a:solidFill>
                <a:srgbClr val="1B2A4E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56271E-37B3-A949-0387-B768829C99B9}"/>
              </a:ext>
            </a:extLst>
          </p:cNvPr>
          <p:cNvSpPr txBox="1"/>
          <p:nvPr/>
        </p:nvSpPr>
        <p:spPr>
          <a:xfrm>
            <a:off x="584200" y="13843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온디바이스 전처리 가능성으로 판정함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291BC6B-12DD-2899-C1BC-4C80F34EAD11}"/>
              </a:ext>
            </a:extLst>
          </p:cNvPr>
          <p:cNvCxnSpPr/>
          <p:nvPr/>
        </p:nvCxnSpPr>
        <p:spPr>
          <a:xfrm>
            <a:off x="508000" y="1778000"/>
            <a:ext cx="11176000" cy="0"/>
          </a:xfrm>
          <a:prstGeom prst="line">
            <a:avLst/>
          </a:prstGeom>
          <a:ln w="38100">
            <a:solidFill>
              <a:srgbClr val="1B2A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5368AB-8DC3-E99A-A7DB-9BC107DBE53C}"/>
              </a:ext>
            </a:extLst>
          </p:cNvPr>
          <p:cNvSpPr/>
          <p:nvPr/>
        </p:nvSpPr>
        <p:spPr>
          <a:xfrm>
            <a:off x="508000" y="6197600"/>
            <a:ext cx="11176000" cy="368300"/>
          </a:xfrm>
          <a:prstGeom prst="rect">
            <a:avLst/>
          </a:prstGeom>
          <a:solidFill>
            <a:srgbClr val="EEF4FC"/>
          </a:solidFill>
          <a:ln w="9525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7F27ED-388E-765B-0276-DB4C6E7815FB}"/>
              </a:ext>
            </a:extLst>
          </p:cNvPr>
          <p:cNvSpPr/>
          <p:nvPr/>
        </p:nvSpPr>
        <p:spPr>
          <a:xfrm>
            <a:off x="508000" y="6197600"/>
            <a:ext cx="76200" cy="3683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8BB6DA-5C91-D64F-517A-146AE7C22397}"/>
              </a:ext>
            </a:extLst>
          </p:cNvPr>
          <p:cNvSpPr txBox="1"/>
          <p:nvPr/>
        </p:nvSpPr>
        <p:spPr>
          <a:xfrm>
            <a:off x="736600" y="6311900"/>
            <a:ext cx="889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 b="1">
                <a:solidFill>
                  <a:srgbClr val="2E6FD4"/>
                </a:solidFill>
                <a:latin typeface="Pretendard"/>
              </a:rPr>
              <a:t>Takeaway</a:t>
            </a:r>
            <a:endParaRPr lang="ko-KR" altLang="en-US" sz="900" b="1">
              <a:solidFill>
                <a:srgbClr val="2E6FD4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157F61-C8A8-4B5C-9DDF-1A918FAC2F34}"/>
              </a:ext>
            </a:extLst>
          </p:cNvPr>
          <p:cNvSpPr txBox="1"/>
          <p:nvPr/>
        </p:nvSpPr>
        <p:spPr>
          <a:xfrm>
            <a:off x="1727200" y="6273800"/>
            <a:ext cx="9144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선정 기준 장표는 데이터 이름보다 왜 쓰는지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, 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못 쓰면 무엇으로 보완할지 보여주는 표가 적합함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180F21-35BC-2C31-A9B7-1EDE7B60A5E0}"/>
              </a:ext>
            </a:extLst>
          </p:cNvPr>
          <p:cNvSpPr txBox="1"/>
          <p:nvPr/>
        </p:nvSpPr>
        <p:spPr>
          <a:xfrm>
            <a:off x="508000" y="6680200"/>
            <a:ext cx="5207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>
                <a:solidFill>
                  <a:srgbClr val="586780"/>
                </a:solidFill>
                <a:latin typeface="Pretendard"/>
              </a:rPr>
              <a:t>6/11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발표 샘플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|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시니어 온디바이스 헬스케어 지식증류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LLM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89C19A-6114-8A50-ABDA-D36099160BD0}"/>
              </a:ext>
            </a:extLst>
          </p:cNvPr>
          <p:cNvSpPr txBox="1"/>
          <p:nvPr/>
        </p:nvSpPr>
        <p:spPr>
          <a:xfrm>
            <a:off x="6350000" y="6680200"/>
            <a:ext cx="4572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it-IT" altLang="ko-KR" sz="900">
                <a:solidFill>
                  <a:srgbClr val="586780"/>
                </a:solidFill>
                <a:latin typeface="Pretendard"/>
              </a:rPr>
              <a:t>Source: AI Hub; team data criteria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528D76-6545-83C6-BD82-7CE78D668392}"/>
              </a:ext>
            </a:extLst>
          </p:cNvPr>
          <p:cNvSpPr txBox="1"/>
          <p:nvPr/>
        </p:nvSpPr>
        <p:spPr>
          <a:xfrm>
            <a:off x="11379200" y="6680200"/>
            <a:ext cx="355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6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6ABCE0-21A9-2DE5-D22F-D4CF84422380}"/>
              </a:ext>
            </a:extLst>
          </p:cNvPr>
          <p:cNvSpPr/>
          <p:nvPr/>
        </p:nvSpPr>
        <p:spPr>
          <a:xfrm>
            <a:off x="736600" y="2336800"/>
            <a:ext cx="2413000" cy="355600"/>
          </a:xfrm>
          <a:prstGeom prst="rect">
            <a:avLst/>
          </a:prstGeom>
          <a:solidFill>
            <a:srgbClr val="1B2A4E"/>
          </a:solidFill>
          <a:ln w="0">
            <a:solidFill>
              <a:srgbClr val="1B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8B28D0-19B3-E534-45FE-E6AD176DD3D0}"/>
              </a:ext>
            </a:extLst>
          </p:cNvPr>
          <p:cNvSpPr txBox="1"/>
          <p:nvPr/>
        </p:nvSpPr>
        <p:spPr>
          <a:xfrm>
            <a:off x="812800" y="2425700"/>
            <a:ext cx="2260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Pretendard"/>
              </a:rPr>
              <a:t>데이터 후보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2FD40F0-3F4F-D18F-E3FF-61BAA7AB2A31}"/>
              </a:ext>
            </a:extLst>
          </p:cNvPr>
          <p:cNvSpPr/>
          <p:nvPr/>
        </p:nvSpPr>
        <p:spPr>
          <a:xfrm>
            <a:off x="3327400" y="2336800"/>
            <a:ext cx="2667000" cy="355600"/>
          </a:xfrm>
          <a:prstGeom prst="rect">
            <a:avLst/>
          </a:prstGeom>
          <a:solidFill>
            <a:srgbClr val="1B2A4E"/>
          </a:solidFill>
          <a:ln w="0">
            <a:solidFill>
              <a:srgbClr val="1B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942C15-63ED-764F-96F7-198A5BCEDA30}"/>
              </a:ext>
            </a:extLst>
          </p:cNvPr>
          <p:cNvSpPr txBox="1"/>
          <p:nvPr/>
        </p:nvSpPr>
        <p:spPr>
          <a:xfrm>
            <a:off x="3403600" y="2425700"/>
            <a:ext cx="2514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Pretendard"/>
              </a:rPr>
              <a:t>쓰는 이유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D5D569F-F942-E634-8FF5-68FCDB877343}"/>
              </a:ext>
            </a:extLst>
          </p:cNvPr>
          <p:cNvSpPr/>
          <p:nvPr/>
        </p:nvSpPr>
        <p:spPr>
          <a:xfrm>
            <a:off x="6172200" y="2336800"/>
            <a:ext cx="2260600" cy="355600"/>
          </a:xfrm>
          <a:prstGeom prst="rect">
            <a:avLst/>
          </a:prstGeom>
          <a:solidFill>
            <a:srgbClr val="1B2A4E"/>
          </a:solidFill>
          <a:ln w="0">
            <a:solidFill>
              <a:srgbClr val="1B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2FFE79-A447-9478-041F-D6800DC2E29B}"/>
              </a:ext>
            </a:extLst>
          </p:cNvPr>
          <p:cNvSpPr txBox="1"/>
          <p:nvPr/>
        </p:nvSpPr>
        <p:spPr>
          <a:xfrm>
            <a:off x="6248400" y="2425700"/>
            <a:ext cx="2108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Pretendard"/>
              </a:rPr>
              <a:t>주의점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F6D9D6A-E3ED-5C46-9DBC-DA334B6184C9}"/>
              </a:ext>
            </a:extLst>
          </p:cNvPr>
          <p:cNvSpPr/>
          <p:nvPr/>
        </p:nvSpPr>
        <p:spPr>
          <a:xfrm>
            <a:off x="8610600" y="2336800"/>
            <a:ext cx="2717800" cy="355600"/>
          </a:xfrm>
          <a:prstGeom prst="rect">
            <a:avLst/>
          </a:prstGeom>
          <a:solidFill>
            <a:srgbClr val="1B2A4E"/>
          </a:solidFill>
          <a:ln w="0">
            <a:solidFill>
              <a:srgbClr val="1B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59BE5F-81D3-5181-6AC6-81A0B8A8A17E}"/>
              </a:ext>
            </a:extLst>
          </p:cNvPr>
          <p:cNvSpPr txBox="1"/>
          <p:nvPr/>
        </p:nvSpPr>
        <p:spPr>
          <a:xfrm>
            <a:off x="8686800" y="2425700"/>
            <a:ext cx="25654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Pretendard"/>
              </a:rPr>
              <a:t>보완책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5E49ED5-2B0C-2920-4BDD-CB3AF0A24ED3}"/>
              </a:ext>
            </a:extLst>
          </p:cNvPr>
          <p:cNvSpPr/>
          <p:nvPr/>
        </p:nvSpPr>
        <p:spPr>
          <a:xfrm>
            <a:off x="736600" y="2819400"/>
            <a:ext cx="2413000" cy="55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703F79-5D38-2F3A-E8A6-894AE621A25D}"/>
              </a:ext>
            </a:extLst>
          </p:cNvPr>
          <p:cNvSpPr txBox="1"/>
          <p:nvPr/>
        </p:nvSpPr>
        <p:spPr>
          <a:xfrm>
            <a:off x="825500" y="2908300"/>
            <a:ext cx="2235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1180" b="1">
                <a:solidFill>
                  <a:srgbClr val="202635"/>
                </a:solidFill>
                <a:latin typeface="Pretendard"/>
              </a:rPr>
              <a:t>AI Hub </a:t>
            </a:r>
            <a:r>
              <a:rPr lang="ko-KR" altLang="en-US" sz="1180" b="1">
                <a:solidFill>
                  <a:srgbClr val="202635"/>
                </a:solidFill>
                <a:latin typeface="Pretendard"/>
              </a:rPr>
              <a:t>의료</a:t>
            </a:r>
            <a:r>
              <a:rPr lang="en-US" altLang="ko-KR" sz="1180" b="1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 b="1">
                <a:solidFill>
                  <a:srgbClr val="202635"/>
                </a:solidFill>
                <a:latin typeface="Pretendard"/>
              </a:rPr>
              <a:t>상담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79704E0-BDB5-ECCC-4009-FDD260EE5D2F}"/>
              </a:ext>
            </a:extLst>
          </p:cNvPr>
          <p:cNvSpPr/>
          <p:nvPr/>
        </p:nvSpPr>
        <p:spPr>
          <a:xfrm>
            <a:off x="3327400" y="2819400"/>
            <a:ext cx="2667000" cy="55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3EE8DD-947D-4018-51F0-48CE97A90114}"/>
              </a:ext>
            </a:extLst>
          </p:cNvPr>
          <p:cNvSpPr txBox="1"/>
          <p:nvPr/>
        </p:nvSpPr>
        <p:spPr>
          <a:xfrm>
            <a:off x="3416300" y="2908300"/>
            <a:ext cx="24892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한국어 표현과 의료 문맥 확보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858097B-EF57-4907-3A21-A31C7A10AAA2}"/>
              </a:ext>
            </a:extLst>
          </p:cNvPr>
          <p:cNvSpPr/>
          <p:nvPr/>
        </p:nvSpPr>
        <p:spPr>
          <a:xfrm>
            <a:off x="6172200" y="2819400"/>
            <a:ext cx="2260600" cy="55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6D511F-9B0B-8421-7099-EA60CB50EF06}"/>
              </a:ext>
            </a:extLst>
          </p:cNvPr>
          <p:cNvSpPr txBox="1"/>
          <p:nvPr/>
        </p:nvSpPr>
        <p:spPr>
          <a:xfrm>
            <a:off x="6261100" y="2908300"/>
            <a:ext cx="20828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접근 권한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정제 필요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7F6B31B-548B-EBF1-7999-D9EF3E04C507}"/>
              </a:ext>
            </a:extLst>
          </p:cNvPr>
          <p:cNvSpPr/>
          <p:nvPr/>
        </p:nvSpPr>
        <p:spPr>
          <a:xfrm>
            <a:off x="8610600" y="2819400"/>
            <a:ext cx="2717800" cy="55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EE9A4B-4C02-007E-B435-09DDAE894D64}"/>
              </a:ext>
            </a:extLst>
          </p:cNvPr>
          <p:cNvSpPr txBox="1"/>
          <p:nvPr/>
        </p:nvSpPr>
        <p:spPr>
          <a:xfrm>
            <a:off x="8699500" y="2908300"/>
            <a:ext cx="2540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구현 포맷에 맞춰 전처리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BB96DCD-8732-FA68-B78D-2E60FF03CCAE}"/>
              </a:ext>
            </a:extLst>
          </p:cNvPr>
          <p:cNvSpPr/>
          <p:nvPr/>
        </p:nvSpPr>
        <p:spPr>
          <a:xfrm>
            <a:off x="736600" y="3467100"/>
            <a:ext cx="2413000" cy="558800"/>
          </a:xfrm>
          <a:prstGeom prst="rect">
            <a:avLst/>
          </a:prstGeom>
          <a:solidFill>
            <a:srgbClr val="EEF4FC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13402F-6232-970E-CD94-E2A76B265FCB}"/>
              </a:ext>
            </a:extLst>
          </p:cNvPr>
          <p:cNvSpPr txBox="1"/>
          <p:nvPr/>
        </p:nvSpPr>
        <p:spPr>
          <a:xfrm>
            <a:off x="825500" y="3556000"/>
            <a:ext cx="2235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 b="1">
                <a:solidFill>
                  <a:srgbClr val="202635"/>
                </a:solidFill>
                <a:latin typeface="Pretendard"/>
              </a:rPr>
              <a:t>공개 의료 </a:t>
            </a:r>
            <a:r>
              <a:rPr lang="en-US" altLang="ko-KR" sz="1180" b="1">
                <a:solidFill>
                  <a:srgbClr val="202635"/>
                </a:solidFill>
                <a:latin typeface="Pretendard"/>
              </a:rPr>
              <a:t>QA</a:t>
            </a:r>
            <a:endParaRPr lang="ko-KR" altLang="en-US" sz="1180" b="1">
              <a:solidFill>
                <a:srgbClr val="202635"/>
              </a:solidFill>
              <a:latin typeface="Pretendard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AC5A37A-CDAC-2F7D-2037-8FC8D7B677A5}"/>
              </a:ext>
            </a:extLst>
          </p:cNvPr>
          <p:cNvSpPr/>
          <p:nvPr/>
        </p:nvSpPr>
        <p:spPr>
          <a:xfrm>
            <a:off x="3327400" y="3467100"/>
            <a:ext cx="2667000" cy="558800"/>
          </a:xfrm>
          <a:prstGeom prst="rect">
            <a:avLst/>
          </a:prstGeom>
          <a:solidFill>
            <a:srgbClr val="EEF4FC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9878BE-BCE3-4F22-3B31-FC1E2EAFCBF0}"/>
              </a:ext>
            </a:extLst>
          </p:cNvPr>
          <p:cNvSpPr txBox="1"/>
          <p:nvPr/>
        </p:nvSpPr>
        <p:spPr>
          <a:xfrm>
            <a:off x="3416300" y="3556000"/>
            <a:ext cx="24892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정답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근거가 있어 평가 기준화 쉬움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84D02E5-993D-E78B-5C13-7F98A511F92B}"/>
              </a:ext>
            </a:extLst>
          </p:cNvPr>
          <p:cNvSpPr/>
          <p:nvPr/>
        </p:nvSpPr>
        <p:spPr>
          <a:xfrm>
            <a:off x="6172200" y="3467100"/>
            <a:ext cx="2260600" cy="558800"/>
          </a:xfrm>
          <a:prstGeom prst="rect">
            <a:avLst/>
          </a:prstGeom>
          <a:solidFill>
            <a:srgbClr val="EEF4FC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FEDEA6-38C8-64D8-C048-41BAF6BCF69C}"/>
              </a:ext>
            </a:extLst>
          </p:cNvPr>
          <p:cNvSpPr txBox="1"/>
          <p:nvPr/>
        </p:nvSpPr>
        <p:spPr>
          <a:xfrm>
            <a:off x="6261100" y="3556000"/>
            <a:ext cx="20828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한국어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시니어 표현 부족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81D60DF-F29C-D676-6B61-9D64A4DCB1BC}"/>
              </a:ext>
            </a:extLst>
          </p:cNvPr>
          <p:cNvSpPr/>
          <p:nvPr/>
        </p:nvSpPr>
        <p:spPr>
          <a:xfrm>
            <a:off x="8610600" y="3467100"/>
            <a:ext cx="2717800" cy="558800"/>
          </a:xfrm>
          <a:prstGeom prst="rect">
            <a:avLst/>
          </a:prstGeom>
          <a:solidFill>
            <a:srgbClr val="EEF4FC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F7F2C2-3108-46FC-9C38-8908A49C86E0}"/>
              </a:ext>
            </a:extLst>
          </p:cNvPr>
          <p:cNvSpPr txBox="1"/>
          <p:nvPr/>
        </p:nvSpPr>
        <p:spPr>
          <a:xfrm>
            <a:off x="8699500" y="3556000"/>
            <a:ext cx="2540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번역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시니어 말투 변환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1D56C10-0CB8-8F7A-ED2B-8E136EB572F4}"/>
              </a:ext>
            </a:extLst>
          </p:cNvPr>
          <p:cNvSpPr/>
          <p:nvPr/>
        </p:nvSpPr>
        <p:spPr>
          <a:xfrm>
            <a:off x="736600" y="4114800"/>
            <a:ext cx="2413000" cy="55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1F34EF-FB56-246F-D809-12181BE48F87}"/>
              </a:ext>
            </a:extLst>
          </p:cNvPr>
          <p:cNvSpPr txBox="1"/>
          <p:nvPr/>
        </p:nvSpPr>
        <p:spPr>
          <a:xfrm>
            <a:off x="825500" y="4203700"/>
            <a:ext cx="2235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 b="1">
                <a:solidFill>
                  <a:srgbClr val="202635"/>
                </a:solidFill>
                <a:latin typeface="Pretendard"/>
              </a:rPr>
              <a:t>팀 자체 질문셋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E0612F9-4BED-AB41-17C6-E19D5420FA12}"/>
              </a:ext>
            </a:extLst>
          </p:cNvPr>
          <p:cNvSpPr/>
          <p:nvPr/>
        </p:nvSpPr>
        <p:spPr>
          <a:xfrm>
            <a:off x="3327400" y="4114800"/>
            <a:ext cx="2667000" cy="55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5BFCF8-F41C-E106-C532-A26D523D8EBF}"/>
              </a:ext>
            </a:extLst>
          </p:cNvPr>
          <p:cNvSpPr txBox="1"/>
          <p:nvPr/>
        </p:nvSpPr>
        <p:spPr>
          <a:xfrm>
            <a:off x="3416300" y="4203700"/>
            <a:ext cx="24892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독거노인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복약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응급 상황 반영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4B20B87-84F7-E5EE-B111-77DA6E245884}"/>
              </a:ext>
            </a:extLst>
          </p:cNvPr>
          <p:cNvSpPr/>
          <p:nvPr/>
        </p:nvSpPr>
        <p:spPr>
          <a:xfrm>
            <a:off x="6172200" y="4114800"/>
            <a:ext cx="2260600" cy="55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EAA23F-D201-07C8-FF55-E81AD2820856}"/>
              </a:ext>
            </a:extLst>
          </p:cNvPr>
          <p:cNvSpPr txBox="1"/>
          <p:nvPr/>
        </p:nvSpPr>
        <p:spPr>
          <a:xfrm>
            <a:off x="6261100" y="4203700"/>
            <a:ext cx="2082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표본 수가 작음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FEC3DFF-B667-6715-1B1D-749EE9CCAD27}"/>
              </a:ext>
            </a:extLst>
          </p:cNvPr>
          <p:cNvSpPr/>
          <p:nvPr/>
        </p:nvSpPr>
        <p:spPr>
          <a:xfrm>
            <a:off x="8610600" y="4114800"/>
            <a:ext cx="2717800" cy="55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422858-EEC9-E4E9-61BF-9B8D7F508043}"/>
              </a:ext>
            </a:extLst>
          </p:cNvPr>
          <p:cNvSpPr txBox="1"/>
          <p:nvPr/>
        </p:nvSpPr>
        <p:spPr>
          <a:xfrm>
            <a:off x="8699500" y="4203700"/>
            <a:ext cx="2540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전문가 자문으로 금지답 정의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A6425C7-35A9-D97E-67A5-029DCC5C37A8}"/>
              </a:ext>
            </a:extLst>
          </p:cNvPr>
          <p:cNvSpPr/>
          <p:nvPr/>
        </p:nvSpPr>
        <p:spPr>
          <a:xfrm>
            <a:off x="736600" y="4762500"/>
            <a:ext cx="2413000" cy="558800"/>
          </a:xfrm>
          <a:prstGeom prst="rect">
            <a:avLst/>
          </a:prstGeom>
          <a:solidFill>
            <a:srgbClr val="EEF4FC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EA47E34-6C42-81B1-AD8F-8D66D41AF92F}"/>
              </a:ext>
            </a:extLst>
          </p:cNvPr>
          <p:cNvSpPr txBox="1"/>
          <p:nvPr/>
        </p:nvSpPr>
        <p:spPr>
          <a:xfrm>
            <a:off x="825500" y="4851400"/>
            <a:ext cx="2235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 b="1">
                <a:solidFill>
                  <a:srgbClr val="202635"/>
                </a:solidFill>
                <a:latin typeface="Pretendard"/>
              </a:rPr>
              <a:t>라이프로그 예시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74A089D-9424-C90A-BD91-6CDAC1816412}"/>
              </a:ext>
            </a:extLst>
          </p:cNvPr>
          <p:cNvSpPr/>
          <p:nvPr/>
        </p:nvSpPr>
        <p:spPr>
          <a:xfrm>
            <a:off x="3327400" y="4762500"/>
            <a:ext cx="2667000" cy="558800"/>
          </a:xfrm>
          <a:prstGeom prst="rect">
            <a:avLst/>
          </a:prstGeom>
          <a:solidFill>
            <a:srgbClr val="EEF4FC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ACB433-B090-0903-70F3-508A4EF14421}"/>
              </a:ext>
            </a:extLst>
          </p:cNvPr>
          <p:cNvSpPr txBox="1"/>
          <p:nvPr/>
        </p:nvSpPr>
        <p:spPr>
          <a:xfrm>
            <a:off x="3416300" y="4851400"/>
            <a:ext cx="24892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말동무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생활 기록 시나리오 연결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D23CED4-ECAB-4077-9A8C-8D897DF844A1}"/>
              </a:ext>
            </a:extLst>
          </p:cNvPr>
          <p:cNvSpPr/>
          <p:nvPr/>
        </p:nvSpPr>
        <p:spPr>
          <a:xfrm>
            <a:off x="6172200" y="4762500"/>
            <a:ext cx="2260600" cy="558800"/>
          </a:xfrm>
          <a:prstGeom prst="rect">
            <a:avLst/>
          </a:prstGeom>
          <a:solidFill>
            <a:srgbClr val="EEF4FC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20D5E5-417D-FF35-B078-758598A7EA40}"/>
              </a:ext>
            </a:extLst>
          </p:cNvPr>
          <p:cNvSpPr txBox="1"/>
          <p:nvPr/>
        </p:nvSpPr>
        <p:spPr>
          <a:xfrm>
            <a:off x="6261100" y="4851400"/>
            <a:ext cx="2082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민감정보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가상성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57D7B4B-A6AD-9A03-AFA2-1C40C5CEEDDB}"/>
              </a:ext>
            </a:extLst>
          </p:cNvPr>
          <p:cNvSpPr/>
          <p:nvPr/>
        </p:nvSpPr>
        <p:spPr>
          <a:xfrm>
            <a:off x="8610600" y="4762500"/>
            <a:ext cx="2717800" cy="558800"/>
          </a:xfrm>
          <a:prstGeom prst="rect">
            <a:avLst/>
          </a:prstGeom>
          <a:solidFill>
            <a:srgbClr val="EEF4FC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4D04D8-1D5E-FE01-0CFB-B39FD8FCADB9}"/>
              </a:ext>
            </a:extLst>
          </p:cNvPr>
          <p:cNvSpPr txBox="1"/>
          <p:nvPr/>
        </p:nvSpPr>
        <p:spPr>
          <a:xfrm>
            <a:off x="8699500" y="4851400"/>
            <a:ext cx="2540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>
                <a:solidFill>
                  <a:srgbClr val="202635"/>
                </a:solidFill>
                <a:latin typeface="Pretendard"/>
              </a:rPr>
              <a:t>합성 예시와 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privacy rule 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명시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DC2EDC42-F777-B5B5-F022-FCD849C311F9}"/>
              </a:ext>
            </a:extLst>
          </p:cNvPr>
          <p:cNvSpPr/>
          <p:nvPr/>
        </p:nvSpPr>
        <p:spPr>
          <a:xfrm>
            <a:off x="939800" y="5537200"/>
            <a:ext cx="10033000" cy="304800"/>
          </a:xfrm>
          <a:prstGeom prst="roundRect">
            <a:avLst/>
          </a:prstGeom>
          <a:solidFill>
            <a:srgbClr val="E8F1FF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0" name="그래픽 59">
            <a:extLst>
              <a:ext uri="{FF2B5EF4-FFF2-40B4-BE49-F238E27FC236}">
                <a16:creationId xmlns:a16="http://schemas.microsoft.com/office/drawing/2014/main" id="{93CE9F18-9D09-5078-AC4A-39FF29097F6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5588000"/>
            <a:ext cx="203200" cy="20320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3560D8D2-693C-7A5A-0E2A-8DA04154EA6F}"/>
              </a:ext>
            </a:extLst>
          </p:cNvPr>
          <p:cNvSpPr txBox="1"/>
          <p:nvPr/>
        </p:nvSpPr>
        <p:spPr>
          <a:xfrm>
            <a:off x="1473200" y="5613400"/>
            <a:ext cx="8763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80" b="1">
                <a:solidFill>
                  <a:srgbClr val="1B2A4E"/>
                </a:solidFill>
                <a:latin typeface="Pretendard"/>
              </a:rPr>
              <a:t>데이터 파트의 끝 문장</a:t>
            </a:r>
            <a:r>
              <a:rPr lang="en-US" altLang="ko-KR" sz="1180" b="1">
                <a:solidFill>
                  <a:srgbClr val="1B2A4E"/>
                </a:solidFill>
                <a:latin typeface="Pretendard"/>
              </a:rPr>
              <a:t>: </a:t>
            </a:r>
            <a:r>
              <a:rPr lang="ko-KR" altLang="en-US" sz="1180" b="1">
                <a:solidFill>
                  <a:srgbClr val="1B2A4E"/>
                </a:solidFill>
                <a:latin typeface="Pretendard"/>
              </a:rPr>
              <a:t>선정 데이터가 구현 입력 포맷과 평가 라벨 기준으로 바로 이어짐</a:t>
            </a:r>
          </a:p>
        </p:txBody>
      </p:sp>
    </p:spTree>
    <p:extLst>
      <p:ext uri="{BB962C8B-B14F-4D97-AF65-F5344CB8AC3E}">
        <p14:creationId xmlns:p14="http://schemas.microsoft.com/office/powerpoint/2010/main" val="3950929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9A545CE-CD2D-F5C2-CC65-1AF9CB9C84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7C6ECC-1195-0DF0-94C1-E72CDA1D68DA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233F"/>
          </a:solidFill>
          <a:ln w="0">
            <a:solidFill>
              <a:srgbClr val="1723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5C41E9-F609-0448-0A17-58EE21860069}"/>
              </a:ext>
            </a:extLst>
          </p:cNvPr>
          <p:cNvSpPr/>
          <p:nvPr/>
        </p:nvSpPr>
        <p:spPr>
          <a:xfrm>
            <a:off x="114300" y="0"/>
            <a:ext cx="50800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5E5F5E-83CD-1A1E-1A19-9C573F9A92E0}"/>
              </a:ext>
            </a:extLst>
          </p:cNvPr>
          <p:cNvSpPr/>
          <p:nvPr/>
        </p:nvSpPr>
        <p:spPr>
          <a:xfrm>
            <a:off x="508000" y="355600"/>
            <a:ext cx="2057400" cy="330200"/>
          </a:xfrm>
          <a:prstGeom prst="rect">
            <a:avLst/>
          </a:prstGeom>
          <a:solidFill>
            <a:srgbClr val="E8F1FF"/>
          </a:solidFill>
          <a:ln w="6350">
            <a:solidFill>
              <a:srgbClr val="E8F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BAC7E4-22C6-83C2-1649-FA830B1D025E}"/>
              </a:ext>
            </a:extLst>
          </p:cNvPr>
          <p:cNvSpPr txBox="1"/>
          <p:nvPr/>
        </p:nvSpPr>
        <p:spPr>
          <a:xfrm>
            <a:off x="609600" y="419100"/>
            <a:ext cx="1854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00" b="1">
                <a:solidFill>
                  <a:srgbClr val="2E6FD4"/>
                </a:solidFill>
                <a:latin typeface="Pretendard"/>
              </a:rPr>
              <a:t>구현현황</a:t>
            </a:r>
            <a:r>
              <a:rPr lang="en-US" altLang="ko-KR" sz="1200" b="1">
                <a:solidFill>
                  <a:srgbClr val="2E6FD4"/>
                </a:solidFill>
                <a:latin typeface="Pretendard"/>
              </a:rPr>
              <a:t>·</a:t>
            </a:r>
            <a:r>
              <a:rPr lang="ko-KR" altLang="en-US" sz="1200" b="1">
                <a:solidFill>
                  <a:srgbClr val="2E6FD4"/>
                </a:solidFill>
                <a:latin typeface="Pretendard"/>
              </a:rPr>
              <a:t>결과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D1B996-501D-A01C-B975-E10FBB64A09C}"/>
              </a:ext>
            </a:extLst>
          </p:cNvPr>
          <p:cNvSpPr txBox="1"/>
          <p:nvPr/>
        </p:nvSpPr>
        <p:spPr>
          <a:xfrm>
            <a:off x="10693400" y="482600"/>
            <a:ext cx="990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586780"/>
                </a:solidFill>
                <a:latin typeface="Pretendard"/>
              </a:rPr>
              <a:t>Exhibit 07</a:t>
            </a:r>
            <a:endParaRPr lang="ko-KR" altLang="en-US" sz="950" b="1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8518E-85B0-A639-085E-C313661A5C12}"/>
              </a:ext>
            </a:extLst>
          </p:cNvPr>
          <p:cNvSpPr txBox="1"/>
          <p:nvPr/>
        </p:nvSpPr>
        <p:spPr>
          <a:xfrm>
            <a:off x="584200" y="9906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데이터 투입 전 구현현황은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C191E2-526E-E970-EA1D-91A4FB3545DA}"/>
              </a:ext>
            </a:extLst>
          </p:cNvPr>
          <p:cNvSpPr txBox="1"/>
          <p:nvPr/>
        </p:nvSpPr>
        <p:spPr>
          <a:xfrm>
            <a:off x="584200" y="13843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현재 되는 것과 아직 비어 있는 것을 분리해 보여줌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4EE0292-A0DE-8663-7474-014C88F04E6B}"/>
              </a:ext>
            </a:extLst>
          </p:cNvPr>
          <p:cNvCxnSpPr/>
          <p:nvPr/>
        </p:nvCxnSpPr>
        <p:spPr>
          <a:xfrm>
            <a:off x="508000" y="1778000"/>
            <a:ext cx="11176000" cy="0"/>
          </a:xfrm>
          <a:prstGeom prst="line">
            <a:avLst/>
          </a:prstGeom>
          <a:ln w="38100">
            <a:solidFill>
              <a:srgbClr val="1B2A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D5DA3-71E4-BA26-23F4-B4553848323A}"/>
              </a:ext>
            </a:extLst>
          </p:cNvPr>
          <p:cNvSpPr/>
          <p:nvPr/>
        </p:nvSpPr>
        <p:spPr>
          <a:xfrm>
            <a:off x="508000" y="6197600"/>
            <a:ext cx="11176000" cy="368300"/>
          </a:xfrm>
          <a:prstGeom prst="rect">
            <a:avLst/>
          </a:prstGeom>
          <a:solidFill>
            <a:srgbClr val="EEF4FC"/>
          </a:solidFill>
          <a:ln w="9525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AAB46D3-CB98-1932-6AC6-42747B07ED66}"/>
              </a:ext>
            </a:extLst>
          </p:cNvPr>
          <p:cNvSpPr/>
          <p:nvPr/>
        </p:nvSpPr>
        <p:spPr>
          <a:xfrm>
            <a:off x="508000" y="6197600"/>
            <a:ext cx="76200" cy="3683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2C2D8-03B9-CFF4-93D8-73E9F2C070AA}"/>
              </a:ext>
            </a:extLst>
          </p:cNvPr>
          <p:cNvSpPr txBox="1"/>
          <p:nvPr/>
        </p:nvSpPr>
        <p:spPr>
          <a:xfrm>
            <a:off x="736600" y="6311900"/>
            <a:ext cx="889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 b="1">
                <a:solidFill>
                  <a:srgbClr val="2E6FD4"/>
                </a:solidFill>
                <a:latin typeface="Pretendard"/>
              </a:rPr>
              <a:t>Takeaway</a:t>
            </a:r>
            <a:endParaRPr lang="ko-KR" altLang="en-US" sz="900" b="1">
              <a:solidFill>
                <a:srgbClr val="2E6FD4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CCC1A6-EA1E-21A7-B206-6642A21EEAE3}"/>
              </a:ext>
            </a:extLst>
          </p:cNvPr>
          <p:cNvSpPr txBox="1"/>
          <p:nvPr/>
        </p:nvSpPr>
        <p:spPr>
          <a:xfrm>
            <a:off x="1727200" y="6273800"/>
            <a:ext cx="9144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구현 파트는 결과를 과장하지 말고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, 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현재 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Skeleton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이 어디까지 돌아가는지 로그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구조로 보여줌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77B194-314E-467B-29C7-889477DD87DB}"/>
              </a:ext>
            </a:extLst>
          </p:cNvPr>
          <p:cNvSpPr txBox="1"/>
          <p:nvPr/>
        </p:nvSpPr>
        <p:spPr>
          <a:xfrm>
            <a:off x="508000" y="6680200"/>
            <a:ext cx="5207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>
                <a:solidFill>
                  <a:srgbClr val="586780"/>
                </a:solidFill>
                <a:latin typeface="Pretendard"/>
              </a:rPr>
              <a:t>6/11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발표 샘플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|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시니어 온디바이스 헬스케어 지식증류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LLM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653A05-0BBF-DCF1-1D0C-BAD17FDCD597}"/>
              </a:ext>
            </a:extLst>
          </p:cNvPr>
          <p:cNvSpPr txBox="1"/>
          <p:nvPr/>
        </p:nvSpPr>
        <p:spPr>
          <a:xfrm>
            <a:off x="6350000" y="6680200"/>
            <a:ext cx="4572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Source: team implementation log placeholder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EFABC9-A3E0-DE60-13B8-7F6EE0EC77D2}"/>
              </a:ext>
            </a:extLst>
          </p:cNvPr>
          <p:cNvSpPr txBox="1"/>
          <p:nvPr/>
        </p:nvSpPr>
        <p:spPr>
          <a:xfrm>
            <a:off x="11379200" y="6680200"/>
            <a:ext cx="355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7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BF96270-D712-1931-B85B-760258271DC4}"/>
              </a:ext>
            </a:extLst>
          </p:cNvPr>
          <p:cNvSpPr/>
          <p:nvPr/>
        </p:nvSpPr>
        <p:spPr>
          <a:xfrm>
            <a:off x="889000" y="2667000"/>
            <a:ext cx="1905000" cy="1422400"/>
          </a:xfrm>
          <a:prstGeom prst="roundRect">
            <a:avLst/>
          </a:prstGeom>
          <a:solidFill>
            <a:srgbClr val="E8F1FF"/>
          </a:solidFill>
          <a:ln w="15240">
            <a:solidFill>
              <a:srgbClr val="AFC0DA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래픽 19">
            <a:extLst>
              <a:ext uri="{FF2B5EF4-FFF2-40B4-BE49-F238E27FC236}">
                <a16:creationId xmlns:a16="http://schemas.microsoft.com/office/drawing/2014/main" id="{53B7F09C-C1FB-4365-A8CB-D5E9179FA0D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74800" y="2829560"/>
            <a:ext cx="533400" cy="533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E3523E2-82D3-965E-CB61-8A6EBCD5E9D9}"/>
              </a:ext>
            </a:extLst>
          </p:cNvPr>
          <p:cNvSpPr txBox="1"/>
          <p:nvPr/>
        </p:nvSpPr>
        <p:spPr>
          <a:xfrm>
            <a:off x="1092200" y="3489960"/>
            <a:ext cx="1498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450" b="1">
                <a:solidFill>
                  <a:srgbClr val="1B2A4E"/>
                </a:solidFill>
                <a:latin typeface="Pretendard"/>
              </a:rPr>
              <a:t>질문 입력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E8898F-E658-FFC2-D477-D896B4E34773}"/>
              </a:ext>
            </a:extLst>
          </p:cNvPr>
          <p:cNvSpPr txBox="1"/>
          <p:nvPr/>
        </p:nvSpPr>
        <p:spPr>
          <a:xfrm>
            <a:off x="1092200" y="3794760"/>
            <a:ext cx="1498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샘플 질문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4E2B999-8965-8681-D095-C39F49676DDE}"/>
              </a:ext>
            </a:extLst>
          </p:cNvPr>
          <p:cNvCxnSpPr/>
          <p:nvPr/>
        </p:nvCxnSpPr>
        <p:spPr>
          <a:xfrm>
            <a:off x="2844800" y="3378200"/>
            <a:ext cx="609600" cy="0"/>
          </a:xfrm>
          <a:prstGeom prst="line">
            <a:avLst/>
          </a:prstGeom>
          <a:ln w="22860">
            <a:solidFill>
              <a:srgbClr val="AFC0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9A9A277-3198-FA5E-0FDF-BE29287133AE}"/>
              </a:ext>
            </a:extLst>
          </p:cNvPr>
          <p:cNvSpPr/>
          <p:nvPr/>
        </p:nvSpPr>
        <p:spPr>
          <a:xfrm>
            <a:off x="3556000" y="2667000"/>
            <a:ext cx="1905000" cy="1422400"/>
          </a:xfrm>
          <a:prstGeom prst="roundRect">
            <a:avLst/>
          </a:prstGeom>
          <a:solidFill>
            <a:srgbClr val="FCEDEC"/>
          </a:solidFill>
          <a:ln w="15240">
            <a:solidFill>
              <a:srgbClr val="AFC0DA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래픽 25">
            <a:extLst>
              <a:ext uri="{FF2B5EF4-FFF2-40B4-BE49-F238E27FC236}">
                <a16:creationId xmlns:a16="http://schemas.microsoft.com/office/drawing/2014/main" id="{560810C8-9033-EDD7-5A0A-2F168F2FBF8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1800" y="2829560"/>
            <a:ext cx="533400" cy="533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BD334FA-E77E-6380-602A-6FADDFF926B0}"/>
              </a:ext>
            </a:extLst>
          </p:cNvPr>
          <p:cNvSpPr txBox="1"/>
          <p:nvPr/>
        </p:nvSpPr>
        <p:spPr>
          <a:xfrm>
            <a:off x="3759200" y="3489960"/>
            <a:ext cx="1498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450" b="1">
                <a:solidFill>
                  <a:srgbClr val="1B2A4E"/>
                </a:solidFill>
                <a:latin typeface="Pretendard"/>
              </a:rPr>
              <a:t>안전 규칙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0CC367-5B84-428E-2195-673A2F000785}"/>
              </a:ext>
            </a:extLst>
          </p:cNvPr>
          <p:cNvSpPr txBox="1"/>
          <p:nvPr/>
        </p:nvSpPr>
        <p:spPr>
          <a:xfrm>
            <a:off x="3759200" y="3794760"/>
            <a:ext cx="1498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진단 단정 차단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BE1AD6B-9C8F-D411-25FE-182EB63820C6}"/>
              </a:ext>
            </a:extLst>
          </p:cNvPr>
          <p:cNvCxnSpPr/>
          <p:nvPr/>
        </p:nvCxnSpPr>
        <p:spPr>
          <a:xfrm>
            <a:off x="5511800" y="3378200"/>
            <a:ext cx="609600" cy="0"/>
          </a:xfrm>
          <a:prstGeom prst="line">
            <a:avLst/>
          </a:prstGeom>
          <a:ln w="22860">
            <a:solidFill>
              <a:srgbClr val="AFC0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D043357-D40B-161C-B63E-DDBDC67B0731}"/>
              </a:ext>
            </a:extLst>
          </p:cNvPr>
          <p:cNvSpPr/>
          <p:nvPr/>
        </p:nvSpPr>
        <p:spPr>
          <a:xfrm>
            <a:off x="6223000" y="2667000"/>
            <a:ext cx="1905000" cy="1422400"/>
          </a:xfrm>
          <a:prstGeom prst="roundRect">
            <a:avLst/>
          </a:prstGeom>
          <a:solidFill>
            <a:srgbClr val="E8F1FF"/>
          </a:solidFill>
          <a:ln w="15240">
            <a:solidFill>
              <a:srgbClr val="AFC0DA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래픽 31">
            <a:extLst>
              <a:ext uri="{FF2B5EF4-FFF2-40B4-BE49-F238E27FC236}">
                <a16:creationId xmlns:a16="http://schemas.microsoft.com/office/drawing/2014/main" id="{8BACC4C4-6951-7DDF-4CBB-4D51C419EC7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08800" y="2829560"/>
            <a:ext cx="533400" cy="533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428857A-1BE1-8E25-AA96-A4225A1C18CE}"/>
              </a:ext>
            </a:extLst>
          </p:cNvPr>
          <p:cNvSpPr txBox="1"/>
          <p:nvPr/>
        </p:nvSpPr>
        <p:spPr>
          <a:xfrm>
            <a:off x="6426200" y="3489960"/>
            <a:ext cx="1498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450" b="1">
                <a:solidFill>
                  <a:srgbClr val="1B2A4E"/>
                </a:solidFill>
                <a:latin typeface="Pretendard"/>
              </a:rPr>
              <a:t>베이스 모델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B94AB0-1A06-E602-7302-862C42E0CC16}"/>
              </a:ext>
            </a:extLst>
          </p:cNvPr>
          <p:cNvSpPr txBox="1"/>
          <p:nvPr/>
        </p:nvSpPr>
        <p:spPr>
          <a:xfrm>
            <a:off x="6426200" y="3794760"/>
            <a:ext cx="1498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기본 응답 확인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07DE9B6E-21CC-37D7-161C-E05E4706B826}"/>
              </a:ext>
            </a:extLst>
          </p:cNvPr>
          <p:cNvCxnSpPr/>
          <p:nvPr/>
        </p:nvCxnSpPr>
        <p:spPr>
          <a:xfrm>
            <a:off x="8178800" y="3378200"/>
            <a:ext cx="609600" cy="0"/>
          </a:xfrm>
          <a:prstGeom prst="line">
            <a:avLst/>
          </a:prstGeom>
          <a:ln w="22860">
            <a:solidFill>
              <a:srgbClr val="AFC0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0C3CBAC-E97C-512A-4B1D-4C57D62BAD62}"/>
              </a:ext>
            </a:extLst>
          </p:cNvPr>
          <p:cNvSpPr/>
          <p:nvPr/>
        </p:nvSpPr>
        <p:spPr>
          <a:xfrm>
            <a:off x="8890000" y="2667000"/>
            <a:ext cx="1905000" cy="1422400"/>
          </a:xfrm>
          <a:prstGeom prst="roundRect">
            <a:avLst/>
          </a:prstGeom>
          <a:solidFill>
            <a:srgbClr val="E8F6EF"/>
          </a:solidFill>
          <a:ln w="15240">
            <a:solidFill>
              <a:srgbClr val="AFC0DA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A24F3CE6-8993-D3BA-88E2-CDCF2A688F7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75800" y="2829560"/>
            <a:ext cx="533400" cy="533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83853AC-DCE9-B652-D0A1-BFC58F6AD792}"/>
              </a:ext>
            </a:extLst>
          </p:cNvPr>
          <p:cNvSpPr txBox="1"/>
          <p:nvPr/>
        </p:nvSpPr>
        <p:spPr>
          <a:xfrm>
            <a:off x="9093200" y="3489960"/>
            <a:ext cx="1498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450" b="1">
                <a:solidFill>
                  <a:srgbClr val="1B2A4E"/>
                </a:solidFill>
                <a:latin typeface="Pretendard"/>
              </a:rPr>
              <a:t>실행 로그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051E67-F222-08D7-3FF9-83084DF19DF6}"/>
              </a:ext>
            </a:extLst>
          </p:cNvPr>
          <p:cNvSpPr txBox="1"/>
          <p:nvPr/>
        </p:nvSpPr>
        <p:spPr>
          <a:xfrm>
            <a:off x="9093200" y="3794760"/>
            <a:ext cx="1498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속도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메모리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오류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A99102A-7CC7-B8B5-562E-86990E0AC387}"/>
              </a:ext>
            </a:extLst>
          </p:cNvPr>
          <p:cNvSpPr/>
          <p:nvPr/>
        </p:nvSpPr>
        <p:spPr>
          <a:xfrm>
            <a:off x="1168400" y="4749800"/>
            <a:ext cx="9855200" cy="736600"/>
          </a:xfrm>
          <a:prstGeom prst="roundRect">
            <a:avLst/>
          </a:prstGeom>
          <a:solidFill>
            <a:srgbClr val="EEF4FC"/>
          </a:solidFill>
          <a:ln w="1143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2BEA44-1F3B-9E72-318D-AACEFFDB0F53}"/>
              </a:ext>
            </a:extLst>
          </p:cNvPr>
          <p:cNvSpPr txBox="1"/>
          <p:nvPr/>
        </p:nvSpPr>
        <p:spPr>
          <a:xfrm>
            <a:off x="1473200" y="4978400"/>
            <a:ext cx="1905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300" b="1">
                <a:solidFill>
                  <a:srgbClr val="2E6FD4"/>
                </a:solidFill>
                <a:latin typeface="Pretendard"/>
              </a:rPr>
              <a:t>홍윤표님 교체 포인트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66A17F-84E8-D7F1-497C-53B2ECF0E8CF}"/>
              </a:ext>
            </a:extLst>
          </p:cNvPr>
          <p:cNvSpPr txBox="1"/>
          <p:nvPr/>
        </p:nvSpPr>
        <p:spPr>
          <a:xfrm>
            <a:off x="3632200" y="4978400"/>
            <a:ext cx="6858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50">
                <a:solidFill>
                  <a:srgbClr val="202635"/>
                </a:solidFill>
                <a:latin typeface="Pretendard"/>
              </a:rPr>
              <a:t>실제 모델명</a:t>
            </a:r>
            <a:r>
              <a:rPr lang="en-US" altLang="ko-KR" sz="12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250">
                <a:solidFill>
                  <a:srgbClr val="202635"/>
                </a:solidFill>
                <a:latin typeface="Pretendard"/>
              </a:rPr>
              <a:t>실행 환경</a:t>
            </a:r>
            <a:r>
              <a:rPr lang="en-US" altLang="ko-KR" sz="12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250">
                <a:solidFill>
                  <a:srgbClr val="202635"/>
                </a:solidFill>
                <a:latin typeface="Pretendard"/>
              </a:rPr>
              <a:t>샘플 질문</a:t>
            </a:r>
            <a:r>
              <a:rPr lang="en-US" altLang="ko-KR" sz="12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250">
                <a:solidFill>
                  <a:srgbClr val="202635"/>
                </a:solidFill>
                <a:latin typeface="Pretendard"/>
              </a:rPr>
              <a:t>응답 시간</a:t>
            </a:r>
            <a:r>
              <a:rPr lang="en-US" altLang="ko-KR" sz="12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250">
                <a:solidFill>
                  <a:srgbClr val="202635"/>
                </a:solidFill>
                <a:latin typeface="Pretendard"/>
              </a:rPr>
              <a:t>오류 로그를 넣으면 구현현황 장표가 바로 완성됨</a:t>
            </a:r>
          </a:p>
        </p:txBody>
      </p:sp>
    </p:spTree>
    <p:extLst>
      <p:ext uri="{BB962C8B-B14F-4D97-AF65-F5344CB8AC3E}">
        <p14:creationId xmlns:p14="http://schemas.microsoft.com/office/powerpoint/2010/main" val="313391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E678806-D956-AD81-A8E5-268461A21E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35208F-2D54-FB47-60BB-887310936254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233F"/>
          </a:solidFill>
          <a:ln w="0">
            <a:solidFill>
              <a:srgbClr val="1723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790BCA-CF14-5F41-32B4-8C0A28AD65EF}"/>
              </a:ext>
            </a:extLst>
          </p:cNvPr>
          <p:cNvSpPr/>
          <p:nvPr/>
        </p:nvSpPr>
        <p:spPr>
          <a:xfrm>
            <a:off x="114300" y="0"/>
            <a:ext cx="50800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1E7CCE-777E-6126-60C8-AA00AA30AA91}"/>
              </a:ext>
            </a:extLst>
          </p:cNvPr>
          <p:cNvSpPr/>
          <p:nvPr/>
        </p:nvSpPr>
        <p:spPr>
          <a:xfrm>
            <a:off x="508000" y="355600"/>
            <a:ext cx="2057400" cy="330200"/>
          </a:xfrm>
          <a:prstGeom prst="rect">
            <a:avLst/>
          </a:prstGeom>
          <a:solidFill>
            <a:srgbClr val="E8F1FF"/>
          </a:solidFill>
          <a:ln w="6350">
            <a:solidFill>
              <a:srgbClr val="E8F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4B68AE-BDFC-3E5F-779E-8F62A5FEE49A}"/>
              </a:ext>
            </a:extLst>
          </p:cNvPr>
          <p:cNvSpPr txBox="1"/>
          <p:nvPr/>
        </p:nvSpPr>
        <p:spPr>
          <a:xfrm>
            <a:off x="609600" y="419100"/>
            <a:ext cx="1854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00" b="1">
                <a:solidFill>
                  <a:srgbClr val="2E6FD4"/>
                </a:solidFill>
                <a:latin typeface="Pretendard"/>
              </a:rPr>
              <a:t>예시 시나리오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32755-2AE8-05BC-CBD3-13BF42F3D55C}"/>
              </a:ext>
            </a:extLst>
          </p:cNvPr>
          <p:cNvSpPr txBox="1"/>
          <p:nvPr/>
        </p:nvSpPr>
        <p:spPr>
          <a:xfrm>
            <a:off x="10693400" y="482600"/>
            <a:ext cx="990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586780"/>
                </a:solidFill>
                <a:latin typeface="Pretendard"/>
              </a:rPr>
              <a:t>Exhibit 08</a:t>
            </a:r>
            <a:endParaRPr lang="ko-KR" altLang="en-US" sz="950" b="1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17BB8F-C8A0-FBF8-F5C8-88A7F17BEB8F}"/>
              </a:ext>
            </a:extLst>
          </p:cNvPr>
          <p:cNvSpPr txBox="1"/>
          <p:nvPr/>
        </p:nvSpPr>
        <p:spPr>
          <a:xfrm>
            <a:off x="584200" y="9906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유즈케이스는 기능 설명보다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ACB605-A25F-81E6-73A0-B6886C8C142A}"/>
              </a:ext>
            </a:extLst>
          </p:cNvPr>
          <p:cNvSpPr txBox="1"/>
          <p:nvPr/>
        </p:nvSpPr>
        <p:spPr>
          <a:xfrm>
            <a:off x="584200" y="13843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독거노인이 실제로 묻는 한 장면으로 보여줌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F65BB01-586C-5888-9A1F-B3597D87330C}"/>
              </a:ext>
            </a:extLst>
          </p:cNvPr>
          <p:cNvCxnSpPr/>
          <p:nvPr/>
        </p:nvCxnSpPr>
        <p:spPr>
          <a:xfrm>
            <a:off x="508000" y="1778000"/>
            <a:ext cx="11176000" cy="0"/>
          </a:xfrm>
          <a:prstGeom prst="line">
            <a:avLst/>
          </a:prstGeom>
          <a:ln w="38100">
            <a:solidFill>
              <a:srgbClr val="1B2A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5FC25C-64A4-4C53-3723-CB85B90111AD}"/>
              </a:ext>
            </a:extLst>
          </p:cNvPr>
          <p:cNvSpPr/>
          <p:nvPr/>
        </p:nvSpPr>
        <p:spPr>
          <a:xfrm>
            <a:off x="508000" y="6197600"/>
            <a:ext cx="11176000" cy="368300"/>
          </a:xfrm>
          <a:prstGeom prst="rect">
            <a:avLst/>
          </a:prstGeom>
          <a:solidFill>
            <a:srgbClr val="EEF4FC"/>
          </a:solidFill>
          <a:ln w="9525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DDF9CC-F1CA-3900-64E3-A334BC689843}"/>
              </a:ext>
            </a:extLst>
          </p:cNvPr>
          <p:cNvSpPr/>
          <p:nvPr/>
        </p:nvSpPr>
        <p:spPr>
          <a:xfrm>
            <a:off x="508000" y="6197600"/>
            <a:ext cx="76200" cy="3683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14A1A9-FBFE-2E57-9C59-8B7A217E4CDF}"/>
              </a:ext>
            </a:extLst>
          </p:cNvPr>
          <p:cNvSpPr txBox="1"/>
          <p:nvPr/>
        </p:nvSpPr>
        <p:spPr>
          <a:xfrm>
            <a:off x="736600" y="6311900"/>
            <a:ext cx="889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 b="1">
                <a:solidFill>
                  <a:srgbClr val="2E6FD4"/>
                </a:solidFill>
                <a:latin typeface="Pretendard"/>
              </a:rPr>
              <a:t>Takeaway</a:t>
            </a:r>
            <a:endParaRPr lang="ko-KR" altLang="en-US" sz="900" b="1">
              <a:solidFill>
                <a:srgbClr val="2E6FD4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73B2FA-CEAD-F393-89A7-85F81C45CA97}"/>
              </a:ext>
            </a:extLst>
          </p:cNvPr>
          <p:cNvSpPr txBox="1"/>
          <p:nvPr/>
        </p:nvSpPr>
        <p:spPr>
          <a:xfrm>
            <a:off x="1727200" y="6273800"/>
            <a:ext cx="9144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시나리오 파트는 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Storyboard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가 적합하며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, 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질문→위험 분류→답변→기록 흐름을 보여줌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02EDEB-3989-BFA1-BEBD-0866278E4080}"/>
              </a:ext>
            </a:extLst>
          </p:cNvPr>
          <p:cNvSpPr txBox="1"/>
          <p:nvPr/>
        </p:nvSpPr>
        <p:spPr>
          <a:xfrm>
            <a:off x="508000" y="6680200"/>
            <a:ext cx="5207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>
                <a:solidFill>
                  <a:srgbClr val="586780"/>
                </a:solidFill>
                <a:latin typeface="Pretendard"/>
              </a:rPr>
              <a:t>6/11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발표 샘플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|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시니어 온디바이스 헬스케어 지식증류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LLM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5FD360-74E9-91E3-E327-D05AAAAB61BD}"/>
              </a:ext>
            </a:extLst>
          </p:cNvPr>
          <p:cNvSpPr txBox="1"/>
          <p:nvPr/>
        </p:nvSpPr>
        <p:spPr>
          <a:xfrm>
            <a:off x="6350000" y="6680200"/>
            <a:ext cx="4572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Source: team use case; concept illustration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F31088-18BB-49F7-6C55-906CB832C834}"/>
              </a:ext>
            </a:extLst>
          </p:cNvPr>
          <p:cNvSpPr txBox="1"/>
          <p:nvPr/>
        </p:nvSpPr>
        <p:spPr>
          <a:xfrm>
            <a:off x="11379200" y="6680200"/>
            <a:ext cx="355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8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6E12AB8-EBF6-3B64-452C-2EDB030D3979}"/>
              </a:ext>
            </a:extLst>
          </p:cNvPr>
          <p:cNvSpPr/>
          <p:nvPr/>
        </p:nvSpPr>
        <p:spPr>
          <a:xfrm>
            <a:off x="711200" y="2514600"/>
            <a:ext cx="22352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3E8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C85BAB4-08BF-77F4-361B-3EEBD821AA82}"/>
              </a:ext>
            </a:extLst>
          </p:cNvPr>
          <p:cNvSpPr/>
          <p:nvPr/>
        </p:nvSpPr>
        <p:spPr>
          <a:xfrm>
            <a:off x="990600" y="2860040"/>
            <a:ext cx="889000" cy="1498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E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8617F89-B980-C121-3FEB-6935E2B809E2}"/>
              </a:ext>
            </a:extLst>
          </p:cNvPr>
          <p:cNvSpPr/>
          <p:nvPr/>
        </p:nvSpPr>
        <p:spPr>
          <a:xfrm>
            <a:off x="1106170" y="3039872"/>
            <a:ext cx="657860" cy="974090"/>
          </a:xfrm>
          <a:prstGeom prst="rect">
            <a:avLst/>
          </a:prstGeom>
          <a:solidFill>
            <a:srgbClr val="E8F1FF"/>
          </a:solidFill>
          <a:ln w="762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F345AFED-E319-6518-1FA0-5585D6CEF6CE}"/>
              </a:ext>
            </a:extLst>
          </p:cNvPr>
          <p:cNvSpPr/>
          <p:nvPr/>
        </p:nvSpPr>
        <p:spPr>
          <a:xfrm>
            <a:off x="1390650" y="4118864"/>
            <a:ext cx="88900" cy="88900"/>
          </a:xfrm>
          <a:prstGeom prst="ellipse">
            <a:avLst/>
          </a:prstGeom>
          <a:solidFill>
            <a:srgbClr val="1B2A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래픽 22">
            <a:extLst>
              <a:ext uri="{FF2B5EF4-FFF2-40B4-BE49-F238E27FC236}">
                <a16:creationId xmlns:a16="http://schemas.microsoft.com/office/drawing/2014/main" id="{D81741F0-103A-C3DC-95B8-97548878F81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3600" y="3012440"/>
            <a:ext cx="431800" cy="4318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14EC6D7-4376-FC4D-FB8F-277595D98A52}"/>
              </a:ext>
            </a:extLst>
          </p:cNvPr>
          <p:cNvSpPr txBox="1"/>
          <p:nvPr/>
        </p:nvSpPr>
        <p:spPr>
          <a:xfrm>
            <a:off x="1981200" y="3545840"/>
            <a:ext cx="736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1. 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질문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DEC999-74FF-F743-BB31-38EE260C16FD}"/>
              </a:ext>
            </a:extLst>
          </p:cNvPr>
          <p:cNvSpPr txBox="1"/>
          <p:nvPr/>
        </p:nvSpPr>
        <p:spPr>
          <a:xfrm>
            <a:off x="1930400" y="3901440"/>
            <a:ext cx="939800" cy="923330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어지럼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복약</a:t>
            </a:r>
          </a:p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누락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51B1492-A009-B408-85BE-F4A54CF09181}"/>
              </a:ext>
            </a:extLst>
          </p:cNvPr>
          <p:cNvCxnSpPr/>
          <p:nvPr/>
        </p:nvCxnSpPr>
        <p:spPr>
          <a:xfrm>
            <a:off x="2997200" y="3657600"/>
            <a:ext cx="406400" cy="0"/>
          </a:xfrm>
          <a:prstGeom prst="line">
            <a:avLst/>
          </a:prstGeom>
          <a:ln w="19050">
            <a:solidFill>
              <a:srgbClr val="AFC0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81C4592-B238-6EB8-C909-2A6BA223B332}"/>
              </a:ext>
            </a:extLst>
          </p:cNvPr>
          <p:cNvSpPr/>
          <p:nvPr/>
        </p:nvSpPr>
        <p:spPr>
          <a:xfrm>
            <a:off x="3505200" y="2514600"/>
            <a:ext cx="22352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3E8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9D796DF-4278-CBBB-91D6-AD687EB57F25}"/>
              </a:ext>
            </a:extLst>
          </p:cNvPr>
          <p:cNvSpPr/>
          <p:nvPr/>
        </p:nvSpPr>
        <p:spPr>
          <a:xfrm>
            <a:off x="3784600" y="2860040"/>
            <a:ext cx="889000" cy="1498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E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12C7A9F-84AE-7C4D-E164-1438700772AE}"/>
              </a:ext>
            </a:extLst>
          </p:cNvPr>
          <p:cNvSpPr/>
          <p:nvPr/>
        </p:nvSpPr>
        <p:spPr>
          <a:xfrm>
            <a:off x="3900170" y="3039872"/>
            <a:ext cx="657860" cy="974090"/>
          </a:xfrm>
          <a:prstGeom prst="rect">
            <a:avLst/>
          </a:prstGeom>
          <a:solidFill>
            <a:srgbClr val="FCEDEC"/>
          </a:solidFill>
          <a:ln w="762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70147D7C-24C3-42BA-1888-310127D20308}"/>
              </a:ext>
            </a:extLst>
          </p:cNvPr>
          <p:cNvSpPr/>
          <p:nvPr/>
        </p:nvSpPr>
        <p:spPr>
          <a:xfrm>
            <a:off x="4184650" y="4118864"/>
            <a:ext cx="88900" cy="88900"/>
          </a:xfrm>
          <a:prstGeom prst="ellipse">
            <a:avLst/>
          </a:prstGeom>
          <a:solidFill>
            <a:srgbClr val="1B2A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래픽 31">
            <a:extLst>
              <a:ext uri="{FF2B5EF4-FFF2-40B4-BE49-F238E27FC236}">
                <a16:creationId xmlns:a16="http://schemas.microsoft.com/office/drawing/2014/main" id="{7CA6162D-3F8B-2876-5AE3-EB79D1D59A2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27600" y="3012440"/>
            <a:ext cx="431800" cy="4318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046701D-E58C-EB44-0962-08749EF0CA4A}"/>
              </a:ext>
            </a:extLst>
          </p:cNvPr>
          <p:cNvSpPr txBox="1"/>
          <p:nvPr/>
        </p:nvSpPr>
        <p:spPr>
          <a:xfrm>
            <a:off x="4775200" y="3545840"/>
            <a:ext cx="736600" cy="923330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2. 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위험 분류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9D7EAF-82C5-F6C2-34EF-93C6B026ABCB}"/>
              </a:ext>
            </a:extLst>
          </p:cNvPr>
          <p:cNvSpPr txBox="1"/>
          <p:nvPr/>
        </p:nvSpPr>
        <p:spPr>
          <a:xfrm>
            <a:off x="4724400" y="3901440"/>
            <a:ext cx="939800" cy="1200329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복약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응급</a:t>
            </a:r>
          </a:p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신호 확인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AA6EEA6-EBD7-37BB-E708-AFC309081F5E}"/>
              </a:ext>
            </a:extLst>
          </p:cNvPr>
          <p:cNvCxnSpPr/>
          <p:nvPr/>
        </p:nvCxnSpPr>
        <p:spPr>
          <a:xfrm>
            <a:off x="5791200" y="3657600"/>
            <a:ext cx="406400" cy="0"/>
          </a:xfrm>
          <a:prstGeom prst="line">
            <a:avLst/>
          </a:prstGeom>
          <a:ln w="19050">
            <a:solidFill>
              <a:srgbClr val="AFC0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AD380B5-6138-A85A-8925-A80BF739F94D}"/>
              </a:ext>
            </a:extLst>
          </p:cNvPr>
          <p:cNvSpPr/>
          <p:nvPr/>
        </p:nvSpPr>
        <p:spPr>
          <a:xfrm>
            <a:off x="6299200" y="2514600"/>
            <a:ext cx="22352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3E8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AF8F63D-3D89-6BA5-3749-A9645BE320A2}"/>
              </a:ext>
            </a:extLst>
          </p:cNvPr>
          <p:cNvSpPr/>
          <p:nvPr/>
        </p:nvSpPr>
        <p:spPr>
          <a:xfrm>
            <a:off x="6578600" y="2860040"/>
            <a:ext cx="889000" cy="1498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E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D48F124-E2D9-C553-3085-1A146B8E74A1}"/>
              </a:ext>
            </a:extLst>
          </p:cNvPr>
          <p:cNvSpPr/>
          <p:nvPr/>
        </p:nvSpPr>
        <p:spPr>
          <a:xfrm>
            <a:off x="6694170" y="3039872"/>
            <a:ext cx="657860" cy="974090"/>
          </a:xfrm>
          <a:prstGeom prst="rect">
            <a:avLst/>
          </a:prstGeom>
          <a:solidFill>
            <a:srgbClr val="E8F6EF"/>
          </a:solidFill>
          <a:ln w="762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9DA07337-31E1-57E4-D770-D2490FFACA25}"/>
              </a:ext>
            </a:extLst>
          </p:cNvPr>
          <p:cNvSpPr/>
          <p:nvPr/>
        </p:nvSpPr>
        <p:spPr>
          <a:xfrm>
            <a:off x="6978650" y="4118864"/>
            <a:ext cx="88900" cy="88900"/>
          </a:xfrm>
          <a:prstGeom prst="ellipse">
            <a:avLst/>
          </a:prstGeom>
          <a:solidFill>
            <a:srgbClr val="1B2A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래픽 40">
            <a:extLst>
              <a:ext uri="{FF2B5EF4-FFF2-40B4-BE49-F238E27FC236}">
                <a16:creationId xmlns:a16="http://schemas.microsoft.com/office/drawing/2014/main" id="{A1D1B512-E4B1-6247-49A5-E45915F799F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1600" y="3012440"/>
            <a:ext cx="431800" cy="4318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E7D23AB-8104-780D-C723-12C5555FEDD3}"/>
              </a:ext>
            </a:extLst>
          </p:cNvPr>
          <p:cNvSpPr txBox="1"/>
          <p:nvPr/>
        </p:nvSpPr>
        <p:spPr>
          <a:xfrm>
            <a:off x="7569200" y="3545840"/>
            <a:ext cx="736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3. 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답변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1A61FA-D6F2-C229-BB06-6758D82E3855}"/>
              </a:ext>
            </a:extLst>
          </p:cNvPr>
          <p:cNvSpPr txBox="1"/>
          <p:nvPr/>
        </p:nvSpPr>
        <p:spPr>
          <a:xfrm>
            <a:off x="7518400" y="3901440"/>
            <a:ext cx="939800" cy="1200329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중복 복용</a:t>
            </a:r>
          </a:p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금지 안내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C5F00DE-92A8-A2BE-A6F2-D011BDF6C213}"/>
              </a:ext>
            </a:extLst>
          </p:cNvPr>
          <p:cNvCxnSpPr/>
          <p:nvPr/>
        </p:nvCxnSpPr>
        <p:spPr>
          <a:xfrm>
            <a:off x="8585200" y="3657600"/>
            <a:ext cx="406400" cy="0"/>
          </a:xfrm>
          <a:prstGeom prst="line">
            <a:avLst/>
          </a:prstGeom>
          <a:ln w="19050">
            <a:solidFill>
              <a:srgbClr val="AFC0D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4B441738-F100-FDA9-CEA3-BEFDFF815968}"/>
              </a:ext>
            </a:extLst>
          </p:cNvPr>
          <p:cNvSpPr/>
          <p:nvPr/>
        </p:nvSpPr>
        <p:spPr>
          <a:xfrm>
            <a:off x="9093200" y="2514600"/>
            <a:ext cx="22352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3E8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9BCC4DD-2CBB-DC62-EAEB-9D58B0842311}"/>
              </a:ext>
            </a:extLst>
          </p:cNvPr>
          <p:cNvSpPr/>
          <p:nvPr/>
        </p:nvSpPr>
        <p:spPr>
          <a:xfrm>
            <a:off x="9372600" y="2860040"/>
            <a:ext cx="889000" cy="1498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E"/>
            </a:solidFill>
          </a:ln>
          <a:effectLst>
            <a:outerShdw blurRad="76200" dist="41348" dir="2849381" rotWithShape="0">
              <a:srgbClr val="485469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243D2CD-D38A-AD08-70FF-32C00531C6B8}"/>
              </a:ext>
            </a:extLst>
          </p:cNvPr>
          <p:cNvSpPr/>
          <p:nvPr/>
        </p:nvSpPr>
        <p:spPr>
          <a:xfrm>
            <a:off x="9488170" y="3039872"/>
            <a:ext cx="657860" cy="974090"/>
          </a:xfrm>
          <a:prstGeom prst="rect">
            <a:avLst/>
          </a:prstGeom>
          <a:solidFill>
            <a:srgbClr val="E8F1FF"/>
          </a:solidFill>
          <a:ln w="762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CF4742E1-591B-2C55-F6A4-781FF9DA6BA5}"/>
              </a:ext>
            </a:extLst>
          </p:cNvPr>
          <p:cNvSpPr/>
          <p:nvPr/>
        </p:nvSpPr>
        <p:spPr>
          <a:xfrm>
            <a:off x="9772650" y="4118864"/>
            <a:ext cx="88900" cy="88900"/>
          </a:xfrm>
          <a:prstGeom prst="ellipse">
            <a:avLst/>
          </a:prstGeom>
          <a:solidFill>
            <a:srgbClr val="1B2A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그래픽 49">
            <a:extLst>
              <a:ext uri="{FF2B5EF4-FFF2-40B4-BE49-F238E27FC236}">
                <a16:creationId xmlns:a16="http://schemas.microsoft.com/office/drawing/2014/main" id="{459D83FD-EE30-2B41-2355-A572C063509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5600" y="3012440"/>
            <a:ext cx="431800" cy="4318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BBB629B-94A5-FB4B-4838-FC59B9579802}"/>
              </a:ext>
            </a:extLst>
          </p:cNvPr>
          <p:cNvSpPr txBox="1"/>
          <p:nvPr/>
        </p:nvSpPr>
        <p:spPr>
          <a:xfrm>
            <a:off x="10363200" y="3545840"/>
            <a:ext cx="736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4. 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기록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58B2D2-CBBF-C4EE-3E39-9FCCF21FF622}"/>
              </a:ext>
            </a:extLst>
          </p:cNvPr>
          <p:cNvSpPr txBox="1"/>
          <p:nvPr/>
        </p:nvSpPr>
        <p:spPr>
          <a:xfrm>
            <a:off x="10312400" y="3901440"/>
            <a:ext cx="939800" cy="1200329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증상</a:t>
            </a:r>
            <a:r>
              <a:rPr lang="en-US" altLang="ko-KR" sz="118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80">
                <a:solidFill>
                  <a:srgbClr val="202635"/>
                </a:solidFill>
                <a:latin typeface="Pretendard"/>
              </a:rPr>
              <a:t>답변</a:t>
            </a:r>
          </a:p>
          <a:p>
            <a:pPr algn="ctr"/>
            <a:r>
              <a:rPr lang="ko-KR" altLang="en-US" sz="1180">
                <a:solidFill>
                  <a:srgbClr val="202635"/>
                </a:solidFill>
                <a:latin typeface="Pretendard"/>
              </a:rPr>
              <a:t>로컬 저장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F2C968-5CAC-714A-6A2C-A29CA1BCD316}"/>
              </a:ext>
            </a:extLst>
          </p:cNvPr>
          <p:cNvSpPr txBox="1"/>
          <p:nvPr/>
        </p:nvSpPr>
        <p:spPr>
          <a:xfrm>
            <a:off x="939800" y="5562600"/>
            <a:ext cx="10033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300" b="1">
                <a:solidFill>
                  <a:srgbClr val="1B2A4E"/>
                </a:solidFill>
                <a:latin typeface="Pretendard"/>
              </a:rPr>
              <a:t>박철민님 파트는 실제 대화 예시 </a:t>
            </a:r>
            <a:r>
              <a:rPr lang="en-US" altLang="ko-KR" sz="1300" b="1">
                <a:solidFill>
                  <a:srgbClr val="1B2A4E"/>
                </a:solidFill>
                <a:latin typeface="Pretendard"/>
              </a:rPr>
              <a:t>1</a:t>
            </a:r>
            <a:r>
              <a:rPr lang="ko-KR" altLang="en-US" sz="1300" b="1">
                <a:solidFill>
                  <a:srgbClr val="1B2A4E"/>
                </a:solidFill>
                <a:latin typeface="Pretendard"/>
              </a:rPr>
              <a:t>개만 제대로 보여줘도</a:t>
            </a:r>
            <a:r>
              <a:rPr lang="en-US" altLang="ko-KR" sz="1300" b="1">
                <a:solidFill>
                  <a:srgbClr val="1B2A4E"/>
                </a:solidFill>
                <a:latin typeface="Pretendard"/>
              </a:rPr>
              <a:t>, </a:t>
            </a:r>
            <a:r>
              <a:rPr lang="ko-KR" altLang="en-US" sz="1300" b="1">
                <a:solidFill>
                  <a:srgbClr val="1B2A4E"/>
                </a:solidFill>
                <a:latin typeface="Pretendard"/>
              </a:rPr>
              <a:t>앞의 필요성과 뒤의 평가 기준을 자연스럽게 연결함</a:t>
            </a:r>
          </a:p>
        </p:txBody>
      </p:sp>
    </p:spTree>
    <p:extLst>
      <p:ext uri="{BB962C8B-B14F-4D97-AF65-F5344CB8AC3E}">
        <p14:creationId xmlns:p14="http://schemas.microsoft.com/office/powerpoint/2010/main" val="393579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1CD8F6C-4094-D839-1CA4-959525E0A5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CFE1B7-1795-5AC1-9D7D-209A1F83BE54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233F"/>
          </a:solidFill>
          <a:ln w="0">
            <a:solidFill>
              <a:srgbClr val="1723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D9C26DF-B34B-7E6F-8B2F-CAEF6C298FF9}"/>
              </a:ext>
            </a:extLst>
          </p:cNvPr>
          <p:cNvSpPr/>
          <p:nvPr/>
        </p:nvSpPr>
        <p:spPr>
          <a:xfrm>
            <a:off x="114300" y="0"/>
            <a:ext cx="50800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335BD3-03A7-1402-2CA4-9EA7AB9611D7}"/>
              </a:ext>
            </a:extLst>
          </p:cNvPr>
          <p:cNvSpPr/>
          <p:nvPr/>
        </p:nvSpPr>
        <p:spPr>
          <a:xfrm>
            <a:off x="508000" y="355600"/>
            <a:ext cx="2057400" cy="330200"/>
          </a:xfrm>
          <a:prstGeom prst="rect">
            <a:avLst/>
          </a:prstGeom>
          <a:solidFill>
            <a:srgbClr val="E8F1FF"/>
          </a:solidFill>
          <a:ln w="6350">
            <a:solidFill>
              <a:srgbClr val="E8F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36D42-D10E-4B90-D001-0EECA741EC22}"/>
              </a:ext>
            </a:extLst>
          </p:cNvPr>
          <p:cNvSpPr txBox="1"/>
          <p:nvPr/>
        </p:nvSpPr>
        <p:spPr>
          <a:xfrm>
            <a:off x="609600" y="419100"/>
            <a:ext cx="1854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00" b="1">
                <a:solidFill>
                  <a:srgbClr val="2E6FD4"/>
                </a:solidFill>
                <a:latin typeface="Pretendard"/>
              </a:rPr>
              <a:t>평가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BB16B-67CD-19B4-34F1-D8D6BA3C1D5E}"/>
              </a:ext>
            </a:extLst>
          </p:cNvPr>
          <p:cNvSpPr txBox="1"/>
          <p:nvPr/>
        </p:nvSpPr>
        <p:spPr>
          <a:xfrm>
            <a:off x="10693400" y="482600"/>
            <a:ext cx="990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586780"/>
                </a:solidFill>
                <a:latin typeface="Pretendard"/>
              </a:rPr>
              <a:t>Exhibit 09</a:t>
            </a:r>
            <a:endParaRPr lang="ko-KR" altLang="en-US" sz="950" b="1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4EA413-2621-CD89-6E95-85E05F073B7E}"/>
              </a:ext>
            </a:extLst>
          </p:cNvPr>
          <p:cNvSpPr txBox="1"/>
          <p:nvPr/>
        </p:nvSpPr>
        <p:spPr>
          <a:xfrm>
            <a:off x="584200" y="9906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평가는 기술 성능과 비즈니스 실효성을 분리하되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AA747D-227F-33C9-73D7-E84D72082F8A}"/>
              </a:ext>
            </a:extLst>
          </p:cNvPr>
          <p:cNvSpPr txBox="1"/>
          <p:nvPr/>
        </p:nvSpPr>
        <p:spPr>
          <a:xfrm>
            <a:off x="584200" y="13843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안전</a:t>
            </a:r>
            <a:r>
              <a:rPr lang="en-US" altLang="ko-KR" sz="255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작동 </a:t>
            </a:r>
            <a:r>
              <a:rPr lang="en-US" altLang="ko-KR" sz="2550" b="1">
                <a:solidFill>
                  <a:srgbClr val="1B2A4E"/>
                </a:solidFill>
                <a:latin typeface="Pretendard"/>
              </a:rPr>
              <a:t>Gate</a:t>
            </a:r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는 반드시 통과 조건으로 둠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A3D493D-E994-9C6E-189F-97979345DC67}"/>
              </a:ext>
            </a:extLst>
          </p:cNvPr>
          <p:cNvCxnSpPr/>
          <p:nvPr/>
        </p:nvCxnSpPr>
        <p:spPr>
          <a:xfrm>
            <a:off x="508000" y="1778000"/>
            <a:ext cx="11176000" cy="0"/>
          </a:xfrm>
          <a:prstGeom prst="line">
            <a:avLst/>
          </a:prstGeom>
          <a:ln w="38100">
            <a:solidFill>
              <a:srgbClr val="1B2A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DFBDFA-E5E7-3E25-ABA9-D25711F75F5C}"/>
              </a:ext>
            </a:extLst>
          </p:cNvPr>
          <p:cNvSpPr/>
          <p:nvPr/>
        </p:nvSpPr>
        <p:spPr>
          <a:xfrm>
            <a:off x="508000" y="6197600"/>
            <a:ext cx="11176000" cy="368300"/>
          </a:xfrm>
          <a:prstGeom prst="rect">
            <a:avLst/>
          </a:prstGeom>
          <a:solidFill>
            <a:srgbClr val="EEF4FC"/>
          </a:solidFill>
          <a:ln w="9525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4FA7F0-E0EC-C6E7-3E91-69EB2501E5C3}"/>
              </a:ext>
            </a:extLst>
          </p:cNvPr>
          <p:cNvSpPr/>
          <p:nvPr/>
        </p:nvSpPr>
        <p:spPr>
          <a:xfrm>
            <a:off x="508000" y="6197600"/>
            <a:ext cx="76200" cy="3683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E6AD91-254F-974D-7031-020DC9A3B2DD}"/>
              </a:ext>
            </a:extLst>
          </p:cNvPr>
          <p:cNvSpPr txBox="1"/>
          <p:nvPr/>
        </p:nvSpPr>
        <p:spPr>
          <a:xfrm>
            <a:off x="736600" y="6311900"/>
            <a:ext cx="889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 b="1">
                <a:solidFill>
                  <a:srgbClr val="2E6FD4"/>
                </a:solidFill>
                <a:latin typeface="Pretendard"/>
              </a:rPr>
              <a:t>Takeaway</a:t>
            </a:r>
            <a:endParaRPr lang="ko-KR" altLang="en-US" sz="900" b="1">
              <a:solidFill>
                <a:srgbClr val="2E6FD4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A91E6A-8963-7FFE-8A1C-F705BF7E8AC9}"/>
              </a:ext>
            </a:extLst>
          </p:cNvPr>
          <p:cNvSpPr txBox="1"/>
          <p:nvPr/>
        </p:nvSpPr>
        <p:spPr>
          <a:xfrm>
            <a:off x="1727200" y="6273800"/>
            <a:ext cx="9144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평가 파트는 지표명보다 측정 대상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방법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판정 기준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실패 조치를 함께 보여줘야 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5C7A5D-6CBD-9F16-67E8-F45EBA73E399}"/>
              </a:ext>
            </a:extLst>
          </p:cNvPr>
          <p:cNvSpPr txBox="1"/>
          <p:nvPr/>
        </p:nvSpPr>
        <p:spPr>
          <a:xfrm>
            <a:off x="508000" y="6680200"/>
            <a:ext cx="5207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>
                <a:solidFill>
                  <a:srgbClr val="586780"/>
                </a:solidFill>
                <a:latin typeface="Pretendard"/>
              </a:rPr>
              <a:t>6/11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발표 샘플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|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시니어 온디바이스 헬스케어 지식증류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LLM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BE6F24-4E93-E13C-0A38-4E14B0750F52}"/>
              </a:ext>
            </a:extLst>
          </p:cNvPr>
          <p:cNvSpPr txBox="1"/>
          <p:nvPr/>
        </p:nvSpPr>
        <p:spPr>
          <a:xfrm>
            <a:off x="6350000" y="6680200"/>
            <a:ext cx="4572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Source: eval_section_sample.md; SUS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C8C5A-148A-D62F-1436-D872AC13E728}"/>
              </a:ext>
            </a:extLst>
          </p:cNvPr>
          <p:cNvSpPr txBox="1"/>
          <p:nvPr/>
        </p:nvSpPr>
        <p:spPr>
          <a:xfrm>
            <a:off x="11379200" y="6680200"/>
            <a:ext cx="355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9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205146-E482-EE29-0304-CB8A6A3A2ED6}"/>
              </a:ext>
            </a:extLst>
          </p:cNvPr>
          <p:cNvSpPr/>
          <p:nvPr/>
        </p:nvSpPr>
        <p:spPr>
          <a:xfrm>
            <a:off x="889000" y="2336800"/>
            <a:ext cx="4953000" cy="558800"/>
          </a:xfrm>
          <a:prstGeom prst="rect">
            <a:avLst/>
          </a:prstGeom>
          <a:solidFill>
            <a:srgbClr val="1B2A4E"/>
          </a:solidFill>
          <a:ln w="0">
            <a:solidFill>
              <a:srgbClr val="1B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4C4A48-F429-A58E-B2B0-C159F2A0142F}"/>
              </a:ext>
            </a:extLst>
          </p:cNvPr>
          <p:cNvSpPr/>
          <p:nvPr/>
        </p:nvSpPr>
        <p:spPr>
          <a:xfrm>
            <a:off x="6350000" y="2336800"/>
            <a:ext cx="4953000" cy="558800"/>
          </a:xfrm>
          <a:prstGeom prst="rect">
            <a:avLst/>
          </a:prstGeom>
          <a:solidFill>
            <a:srgbClr val="1B2A4E"/>
          </a:solidFill>
          <a:ln w="0">
            <a:solidFill>
              <a:srgbClr val="1B2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래픽 20">
            <a:extLst>
              <a:ext uri="{FF2B5EF4-FFF2-40B4-BE49-F238E27FC236}">
                <a16:creationId xmlns:a16="http://schemas.microsoft.com/office/drawing/2014/main" id="{E40FCFC4-9B9A-575F-67AE-540BBA7E0E4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2463800"/>
            <a:ext cx="279400" cy="279400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FDCE5751-4ACB-634C-97BA-17D2EF5DFB8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9400" y="2463800"/>
            <a:ext cx="279400" cy="279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C32EF8F-7F10-9D16-ABB6-121DA718CC12}"/>
              </a:ext>
            </a:extLst>
          </p:cNvPr>
          <p:cNvSpPr txBox="1"/>
          <p:nvPr/>
        </p:nvSpPr>
        <p:spPr>
          <a:xfrm>
            <a:off x="1524000" y="2514600"/>
            <a:ext cx="3810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기술 평가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1A6764-171C-18CB-B6C3-E02E8B2086FF}"/>
              </a:ext>
            </a:extLst>
          </p:cNvPr>
          <p:cNvSpPr txBox="1"/>
          <p:nvPr/>
        </p:nvSpPr>
        <p:spPr>
          <a:xfrm>
            <a:off x="6985000" y="2514600"/>
            <a:ext cx="3810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비즈니스 실효성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CB8BE8F-39A6-F30F-9BC3-7AE5E76CE959}"/>
              </a:ext>
            </a:extLst>
          </p:cNvPr>
          <p:cNvSpPr/>
          <p:nvPr/>
        </p:nvSpPr>
        <p:spPr>
          <a:xfrm>
            <a:off x="889000" y="3124200"/>
            <a:ext cx="4953000" cy="53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래픽 27">
            <a:extLst>
              <a:ext uri="{FF2B5EF4-FFF2-40B4-BE49-F238E27FC236}">
                <a16:creationId xmlns:a16="http://schemas.microsoft.com/office/drawing/2014/main" id="{463D8924-E612-A66C-C4E2-0857C03537E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600" y="3263900"/>
            <a:ext cx="228600" cy="2286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ED51C92-14F6-C07E-59E4-DF2487E70C21}"/>
              </a:ext>
            </a:extLst>
          </p:cNvPr>
          <p:cNvSpPr txBox="1"/>
          <p:nvPr/>
        </p:nvSpPr>
        <p:spPr>
          <a:xfrm>
            <a:off x="1473200" y="3276600"/>
            <a:ext cx="4064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20">
                <a:solidFill>
                  <a:srgbClr val="202635"/>
                </a:solidFill>
                <a:latin typeface="Pretendard"/>
              </a:rPr>
              <a:t>답변 정확도 </a:t>
            </a:r>
            <a:r>
              <a:rPr lang="en-US" altLang="ko-KR" sz="1220">
                <a:solidFill>
                  <a:srgbClr val="202635"/>
                </a:solidFill>
                <a:latin typeface="Pretendard"/>
              </a:rPr>
              <a:t>| </a:t>
            </a:r>
            <a:r>
              <a:rPr lang="ko-KR" altLang="en-US" sz="1220">
                <a:solidFill>
                  <a:srgbClr val="202635"/>
                </a:solidFill>
                <a:latin typeface="Pretendard"/>
              </a:rPr>
              <a:t>원본 모델 답과 대조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2910C28-3630-E33D-60CE-6BF49171CAFC}"/>
              </a:ext>
            </a:extLst>
          </p:cNvPr>
          <p:cNvSpPr/>
          <p:nvPr/>
        </p:nvSpPr>
        <p:spPr>
          <a:xfrm>
            <a:off x="6350000" y="3124200"/>
            <a:ext cx="4953000" cy="53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래픽 31">
            <a:extLst>
              <a:ext uri="{FF2B5EF4-FFF2-40B4-BE49-F238E27FC236}">
                <a16:creationId xmlns:a16="http://schemas.microsoft.com/office/drawing/2014/main" id="{B53795BC-6704-979E-D3AA-90137E3D59E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8600" y="3263900"/>
            <a:ext cx="228600" cy="2286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6005376-6AFD-D093-C97F-9BE375F28466}"/>
              </a:ext>
            </a:extLst>
          </p:cNvPr>
          <p:cNvSpPr txBox="1"/>
          <p:nvPr/>
        </p:nvSpPr>
        <p:spPr>
          <a:xfrm>
            <a:off x="6934200" y="3276600"/>
            <a:ext cx="4064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20">
                <a:solidFill>
                  <a:srgbClr val="202635"/>
                </a:solidFill>
                <a:latin typeface="Pretendard"/>
              </a:rPr>
              <a:t>시니어 이해 </a:t>
            </a:r>
            <a:r>
              <a:rPr lang="en-US" altLang="ko-KR" sz="1220">
                <a:solidFill>
                  <a:srgbClr val="202635"/>
                </a:solidFill>
                <a:latin typeface="Pretendard"/>
              </a:rPr>
              <a:t>| </a:t>
            </a:r>
            <a:r>
              <a:rPr lang="ko-KR" altLang="en-US" sz="1220">
                <a:solidFill>
                  <a:srgbClr val="202635"/>
                </a:solidFill>
                <a:latin typeface="Pretendard"/>
              </a:rPr>
              <a:t>다음 행동을 말할 수 있나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CFEB7EF-E298-55D3-BCAC-CF4C54F8A53E}"/>
              </a:ext>
            </a:extLst>
          </p:cNvPr>
          <p:cNvSpPr/>
          <p:nvPr/>
        </p:nvSpPr>
        <p:spPr>
          <a:xfrm>
            <a:off x="889000" y="3810000"/>
            <a:ext cx="4953000" cy="533400"/>
          </a:xfrm>
          <a:prstGeom prst="roundRect">
            <a:avLst/>
          </a:prstGeom>
          <a:solidFill>
            <a:srgbClr val="FCEDEC"/>
          </a:solidFill>
          <a:ln w="1016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래픽 35">
            <a:extLst>
              <a:ext uri="{FF2B5EF4-FFF2-40B4-BE49-F238E27FC236}">
                <a16:creationId xmlns:a16="http://schemas.microsoft.com/office/drawing/2014/main" id="{8B5DE592-39AB-A4D6-96B6-91AAF927260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7600" y="3949700"/>
            <a:ext cx="228600" cy="2286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CCEB458-0A23-A4A3-650D-0D8FB9D489A1}"/>
              </a:ext>
            </a:extLst>
          </p:cNvPr>
          <p:cNvSpPr txBox="1"/>
          <p:nvPr/>
        </p:nvSpPr>
        <p:spPr>
          <a:xfrm>
            <a:off x="1473200" y="3962400"/>
            <a:ext cx="4064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20">
                <a:solidFill>
                  <a:srgbClr val="202635"/>
                </a:solidFill>
                <a:latin typeface="Pretendard"/>
              </a:rPr>
              <a:t>의료 안전 </a:t>
            </a:r>
            <a:r>
              <a:rPr lang="en-US" altLang="ko-KR" sz="1220">
                <a:solidFill>
                  <a:srgbClr val="202635"/>
                </a:solidFill>
                <a:latin typeface="Pretendard"/>
              </a:rPr>
              <a:t>| </a:t>
            </a:r>
            <a:r>
              <a:rPr lang="ko-KR" altLang="en-US" sz="1220">
                <a:solidFill>
                  <a:srgbClr val="202635"/>
                </a:solidFill>
                <a:latin typeface="Pretendard"/>
              </a:rPr>
              <a:t>위험 답</a:t>
            </a:r>
            <a:r>
              <a:rPr lang="en-US" altLang="ko-KR" sz="122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220">
                <a:solidFill>
                  <a:srgbClr val="202635"/>
                </a:solidFill>
                <a:latin typeface="Pretendard"/>
              </a:rPr>
              <a:t>제외 문구 확인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08FAA34-46BD-7981-45D4-6C9CE17FE385}"/>
              </a:ext>
            </a:extLst>
          </p:cNvPr>
          <p:cNvSpPr/>
          <p:nvPr/>
        </p:nvSpPr>
        <p:spPr>
          <a:xfrm>
            <a:off x="6350000" y="3810000"/>
            <a:ext cx="4953000" cy="53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래픽 39">
            <a:extLst>
              <a:ext uri="{FF2B5EF4-FFF2-40B4-BE49-F238E27FC236}">
                <a16:creationId xmlns:a16="http://schemas.microsoft.com/office/drawing/2014/main" id="{C0403173-491E-04C7-1F80-3A4194F10FE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8600" y="3949700"/>
            <a:ext cx="228600" cy="2286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08C1D4D7-5B17-C5BD-BD29-462CF661C8A3}"/>
              </a:ext>
            </a:extLst>
          </p:cNvPr>
          <p:cNvSpPr txBox="1"/>
          <p:nvPr/>
        </p:nvSpPr>
        <p:spPr>
          <a:xfrm>
            <a:off x="6934200" y="3962400"/>
            <a:ext cx="4064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20">
                <a:solidFill>
                  <a:srgbClr val="202635"/>
                </a:solidFill>
                <a:latin typeface="Pretendard"/>
              </a:rPr>
              <a:t>실생활 도움 </a:t>
            </a:r>
            <a:r>
              <a:rPr lang="en-US" altLang="ko-KR" sz="1220">
                <a:solidFill>
                  <a:srgbClr val="202635"/>
                </a:solidFill>
                <a:latin typeface="Pretendard"/>
              </a:rPr>
              <a:t>| </a:t>
            </a:r>
            <a:r>
              <a:rPr lang="ko-KR" altLang="en-US" sz="1220">
                <a:solidFill>
                  <a:srgbClr val="202635"/>
                </a:solidFill>
                <a:latin typeface="Pretendard"/>
              </a:rPr>
              <a:t>혼자 해결되는 질문인가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995F390-79B2-DEA6-6619-414C88A5356F}"/>
              </a:ext>
            </a:extLst>
          </p:cNvPr>
          <p:cNvSpPr/>
          <p:nvPr/>
        </p:nvSpPr>
        <p:spPr>
          <a:xfrm>
            <a:off x="889000" y="4495800"/>
            <a:ext cx="4953000" cy="53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81E33A42-F13A-0778-29A3-F07A6C76922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600" y="4635500"/>
            <a:ext cx="228600" cy="2286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9A02ADD-C1F3-D501-2478-5A7F86FE005E}"/>
              </a:ext>
            </a:extLst>
          </p:cNvPr>
          <p:cNvSpPr txBox="1"/>
          <p:nvPr/>
        </p:nvSpPr>
        <p:spPr>
          <a:xfrm>
            <a:off x="1473200" y="4648200"/>
            <a:ext cx="4064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20">
                <a:solidFill>
                  <a:srgbClr val="202635"/>
                </a:solidFill>
                <a:latin typeface="Pretendard"/>
              </a:rPr>
              <a:t>온디바이스 </a:t>
            </a:r>
            <a:r>
              <a:rPr lang="en-US" altLang="ko-KR" sz="1220">
                <a:solidFill>
                  <a:srgbClr val="202635"/>
                </a:solidFill>
                <a:latin typeface="Pretendard"/>
              </a:rPr>
              <a:t>| </a:t>
            </a:r>
            <a:r>
              <a:rPr lang="ko-KR" altLang="en-US" sz="1220">
                <a:solidFill>
                  <a:srgbClr val="202635"/>
                </a:solidFill>
                <a:latin typeface="Pretendard"/>
              </a:rPr>
              <a:t>오프라인</a:t>
            </a:r>
            <a:r>
              <a:rPr lang="en-US" altLang="ko-KR" sz="122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220">
                <a:solidFill>
                  <a:srgbClr val="202635"/>
                </a:solidFill>
                <a:latin typeface="Pretendard"/>
              </a:rPr>
              <a:t>속도</a:t>
            </a:r>
            <a:r>
              <a:rPr lang="en-US" altLang="ko-KR" sz="122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220">
                <a:solidFill>
                  <a:srgbClr val="202635"/>
                </a:solidFill>
                <a:latin typeface="Pretendard"/>
              </a:rPr>
              <a:t>메모리 실측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B785774-D034-10AD-C650-442C5881A1A5}"/>
              </a:ext>
            </a:extLst>
          </p:cNvPr>
          <p:cNvSpPr/>
          <p:nvPr/>
        </p:nvSpPr>
        <p:spPr>
          <a:xfrm>
            <a:off x="6350000" y="4495800"/>
            <a:ext cx="4953000" cy="533400"/>
          </a:xfrm>
          <a:prstGeom prst="roundRect">
            <a:avLst/>
          </a:prstGeom>
          <a:solidFill>
            <a:srgbClr val="E8F6EF"/>
          </a:solidFill>
          <a:ln w="1016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" name="그래픽 47">
            <a:extLst>
              <a:ext uri="{FF2B5EF4-FFF2-40B4-BE49-F238E27FC236}">
                <a16:creationId xmlns:a16="http://schemas.microsoft.com/office/drawing/2014/main" id="{8A92BA86-CD42-0CA9-5BEC-D8C1B0ACFE5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8600" y="4635500"/>
            <a:ext cx="228600" cy="2286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6C1EE0B-067D-73E9-DA8E-73C09AB3E781}"/>
              </a:ext>
            </a:extLst>
          </p:cNvPr>
          <p:cNvSpPr txBox="1"/>
          <p:nvPr/>
        </p:nvSpPr>
        <p:spPr>
          <a:xfrm>
            <a:off x="6934200" y="4648200"/>
            <a:ext cx="4064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20">
                <a:solidFill>
                  <a:srgbClr val="202635"/>
                </a:solidFill>
                <a:latin typeface="Pretendard"/>
              </a:rPr>
              <a:t>프라이버시 </a:t>
            </a:r>
            <a:r>
              <a:rPr lang="en-US" altLang="ko-KR" sz="1220">
                <a:solidFill>
                  <a:srgbClr val="202635"/>
                </a:solidFill>
                <a:latin typeface="Pretendard"/>
              </a:rPr>
              <a:t>| </a:t>
            </a:r>
            <a:r>
              <a:rPr lang="ko-KR" altLang="en-US" sz="1220">
                <a:solidFill>
                  <a:srgbClr val="202635"/>
                </a:solidFill>
                <a:latin typeface="Pretendard"/>
              </a:rPr>
              <a:t>건강정보 외부 전송 </a:t>
            </a:r>
            <a:r>
              <a:rPr lang="en-US" altLang="ko-KR" sz="1220">
                <a:solidFill>
                  <a:srgbClr val="202635"/>
                </a:solidFill>
                <a:latin typeface="Pretendard"/>
              </a:rPr>
              <a:t>0</a:t>
            </a:r>
            <a:r>
              <a:rPr lang="ko-KR" altLang="en-US" sz="1220">
                <a:solidFill>
                  <a:srgbClr val="202635"/>
                </a:solidFill>
                <a:latin typeface="Pretendard"/>
              </a:rPr>
              <a:t>건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C3B043A-EB9B-EDD0-C37B-819E01E6CFDB}"/>
              </a:ext>
            </a:extLst>
          </p:cNvPr>
          <p:cNvSpPr/>
          <p:nvPr/>
        </p:nvSpPr>
        <p:spPr>
          <a:xfrm>
            <a:off x="889000" y="5384800"/>
            <a:ext cx="10414000" cy="457200"/>
          </a:xfrm>
          <a:prstGeom prst="roundRect">
            <a:avLst/>
          </a:prstGeom>
          <a:solidFill>
            <a:srgbClr val="E8F6EF"/>
          </a:solidFill>
          <a:ln w="12700">
            <a:solidFill>
              <a:srgbClr val="157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래픽 51">
            <a:extLst>
              <a:ext uri="{FF2B5EF4-FFF2-40B4-BE49-F238E27FC236}">
                <a16:creationId xmlns:a16="http://schemas.microsoft.com/office/drawing/2014/main" id="{299C7942-BC0E-F95A-D838-68923C2145B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8400" y="5473700"/>
            <a:ext cx="241300" cy="2413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AC2A4AB-8B75-04C7-B130-9514DFE9373D}"/>
              </a:ext>
            </a:extLst>
          </p:cNvPr>
          <p:cNvSpPr txBox="1"/>
          <p:nvPr/>
        </p:nvSpPr>
        <p:spPr>
          <a:xfrm>
            <a:off x="1549400" y="5524500"/>
            <a:ext cx="9144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80" b="1">
                <a:solidFill>
                  <a:srgbClr val="1B2A4E"/>
                </a:solidFill>
                <a:latin typeface="Pretendard"/>
              </a:rPr>
              <a:t>판정 원칙</a:t>
            </a:r>
            <a:r>
              <a:rPr lang="en-US" altLang="ko-KR" sz="1280" b="1">
                <a:solidFill>
                  <a:srgbClr val="1B2A4E"/>
                </a:solidFill>
                <a:latin typeface="Pretendard"/>
              </a:rPr>
              <a:t>: </a:t>
            </a:r>
            <a:r>
              <a:rPr lang="ko-KR" altLang="en-US" sz="1280" b="1">
                <a:solidFill>
                  <a:srgbClr val="1B2A4E"/>
                </a:solidFill>
                <a:latin typeface="Pretendard"/>
              </a:rPr>
              <a:t>안전</a:t>
            </a:r>
            <a:r>
              <a:rPr lang="en-US" altLang="ko-KR" sz="128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1280" b="1">
                <a:solidFill>
                  <a:srgbClr val="1B2A4E"/>
                </a:solidFill>
                <a:latin typeface="Pretendard"/>
              </a:rPr>
              <a:t>작동</a:t>
            </a:r>
            <a:r>
              <a:rPr lang="en-US" altLang="ko-KR" sz="128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1280" b="1">
                <a:solidFill>
                  <a:srgbClr val="1B2A4E"/>
                </a:solidFill>
                <a:latin typeface="Pretendard"/>
              </a:rPr>
              <a:t>프라이버시는 필수 통과</a:t>
            </a:r>
            <a:r>
              <a:rPr lang="en-US" altLang="ko-KR" sz="1280" b="1">
                <a:solidFill>
                  <a:srgbClr val="1B2A4E"/>
                </a:solidFill>
                <a:latin typeface="Pretendard"/>
              </a:rPr>
              <a:t>, </a:t>
            </a:r>
            <a:r>
              <a:rPr lang="ko-KR" altLang="en-US" sz="1280" b="1">
                <a:solidFill>
                  <a:srgbClr val="1B2A4E"/>
                </a:solidFill>
                <a:latin typeface="Pretendard"/>
              </a:rPr>
              <a:t>정확</a:t>
            </a:r>
            <a:r>
              <a:rPr lang="en-US" altLang="ko-KR" sz="128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1280" b="1">
                <a:solidFill>
                  <a:srgbClr val="1B2A4E"/>
                </a:solidFill>
                <a:latin typeface="Pretendard"/>
              </a:rPr>
              <a:t>이해</a:t>
            </a:r>
            <a:r>
              <a:rPr lang="en-US" altLang="ko-KR" sz="128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1280" b="1">
                <a:solidFill>
                  <a:srgbClr val="1B2A4E"/>
                </a:solidFill>
                <a:latin typeface="Pretendard"/>
              </a:rPr>
              <a:t>도움은 파일럿 후 목표치를 확정</a:t>
            </a:r>
          </a:p>
        </p:txBody>
      </p:sp>
    </p:spTree>
    <p:extLst>
      <p:ext uri="{BB962C8B-B14F-4D97-AF65-F5344CB8AC3E}">
        <p14:creationId xmlns:p14="http://schemas.microsoft.com/office/powerpoint/2010/main" val="2237080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D742A32-69B3-9A2D-D777-FC35B4B259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68FC2B-56E7-920A-F99A-27C29BA8118B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233F"/>
          </a:solidFill>
          <a:ln w="0">
            <a:solidFill>
              <a:srgbClr val="1723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805E71-8A89-B2AF-DCF9-E55C2A467390}"/>
              </a:ext>
            </a:extLst>
          </p:cNvPr>
          <p:cNvSpPr/>
          <p:nvPr/>
        </p:nvSpPr>
        <p:spPr>
          <a:xfrm>
            <a:off x="114300" y="0"/>
            <a:ext cx="50800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726D1B-9DEC-5E5D-FADF-628689604E0B}"/>
              </a:ext>
            </a:extLst>
          </p:cNvPr>
          <p:cNvSpPr/>
          <p:nvPr/>
        </p:nvSpPr>
        <p:spPr>
          <a:xfrm>
            <a:off x="508000" y="355600"/>
            <a:ext cx="2057400" cy="330200"/>
          </a:xfrm>
          <a:prstGeom prst="rect">
            <a:avLst/>
          </a:prstGeom>
          <a:solidFill>
            <a:srgbClr val="E8F1FF"/>
          </a:solidFill>
          <a:ln w="6350">
            <a:solidFill>
              <a:srgbClr val="E8F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86DE0-0AE0-EAF9-53A4-A94A4E0AE6B4}"/>
              </a:ext>
            </a:extLst>
          </p:cNvPr>
          <p:cNvSpPr txBox="1"/>
          <p:nvPr/>
        </p:nvSpPr>
        <p:spPr>
          <a:xfrm>
            <a:off x="609600" y="419100"/>
            <a:ext cx="18542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00" b="1">
                <a:solidFill>
                  <a:srgbClr val="2E6FD4"/>
                </a:solidFill>
                <a:latin typeface="Pretendard"/>
              </a:rPr>
              <a:t>최종 목표</a:t>
            </a:r>
            <a:r>
              <a:rPr lang="en-US" altLang="ko-KR" sz="1200" b="1">
                <a:solidFill>
                  <a:srgbClr val="2E6FD4"/>
                </a:solidFill>
                <a:latin typeface="Pretendard"/>
              </a:rPr>
              <a:t>·</a:t>
            </a:r>
            <a:r>
              <a:rPr lang="ko-KR" altLang="en-US" sz="1200" b="1">
                <a:solidFill>
                  <a:srgbClr val="2E6FD4"/>
                </a:solidFill>
                <a:latin typeface="Pretendard"/>
              </a:rPr>
              <a:t>향후 계획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3D2CD8-6FC8-39EB-2209-FCC12C96A2CB}"/>
              </a:ext>
            </a:extLst>
          </p:cNvPr>
          <p:cNvSpPr txBox="1"/>
          <p:nvPr/>
        </p:nvSpPr>
        <p:spPr>
          <a:xfrm>
            <a:off x="10693400" y="482600"/>
            <a:ext cx="990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586780"/>
                </a:solidFill>
                <a:latin typeface="Pretendard"/>
              </a:rPr>
              <a:t>Exhibit 10</a:t>
            </a:r>
            <a:endParaRPr lang="ko-KR" altLang="en-US" sz="950" b="1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56241-11AE-7C3F-39E6-10F8EE42DEC1}"/>
              </a:ext>
            </a:extLst>
          </p:cNvPr>
          <p:cNvSpPr txBox="1"/>
          <p:nvPr/>
        </p:nvSpPr>
        <p:spPr>
          <a:xfrm>
            <a:off x="584200" y="9906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최종 목표는 네트워크 없이 동작하는 </a:t>
            </a:r>
            <a:r>
              <a:rPr lang="en-US" altLang="ko-KR" sz="2550" b="1">
                <a:solidFill>
                  <a:srgbClr val="1B2A4E"/>
                </a:solidFill>
                <a:latin typeface="Pretendard"/>
              </a:rPr>
              <a:t>Standalone </a:t>
            </a:r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보조와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4A8310-C57B-044C-36AC-640EB0A8BA45}"/>
              </a:ext>
            </a:extLst>
          </p:cNvPr>
          <p:cNvSpPr txBox="1"/>
          <p:nvPr/>
        </p:nvSpPr>
        <p:spPr>
          <a:xfrm>
            <a:off x="584200" y="13843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학습 후 검증 가능한 질문</a:t>
            </a:r>
            <a:r>
              <a:rPr lang="en-US" altLang="ko-KR" sz="255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데이터 규모를 확보하는 것임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7DBBFE1-4323-4EAA-79FD-B3FA3B8415C1}"/>
              </a:ext>
            </a:extLst>
          </p:cNvPr>
          <p:cNvCxnSpPr/>
          <p:nvPr/>
        </p:nvCxnSpPr>
        <p:spPr>
          <a:xfrm>
            <a:off x="508000" y="1778000"/>
            <a:ext cx="11176000" cy="0"/>
          </a:xfrm>
          <a:prstGeom prst="line">
            <a:avLst/>
          </a:prstGeom>
          <a:ln w="38100">
            <a:solidFill>
              <a:srgbClr val="1B2A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DD9D3B4-304C-4766-A753-4C788B1F7895}"/>
              </a:ext>
            </a:extLst>
          </p:cNvPr>
          <p:cNvSpPr/>
          <p:nvPr/>
        </p:nvSpPr>
        <p:spPr>
          <a:xfrm>
            <a:off x="508000" y="6197600"/>
            <a:ext cx="11176000" cy="368300"/>
          </a:xfrm>
          <a:prstGeom prst="rect">
            <a:avLst/>
          </a:prstGeom>
          <a:solidFill>
            <a:srgbClr val="EEF4FC"/>
          </a:solidFill>
          <a:ln w="9525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4FA3328-947A-03E7-52DD-70EA1531D631}"/>
              </a:ext>
            </a:extLst>
          </p:cNvPr>
          <p:cNvSpPr/>
          <p:nvPr/>
        </p:nvSpPr>
        <p:spPr>
          <a:xfrm>
            <a:off x="508000" y="6197600"/>
            <a:ext cx="76200" cy="3683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0F190-B81E-3570-FB2F-B37A052EF294}"/>
              </a:ext>
            </a:extLst>
          </p:cNvPr>
          <p:cNvSpPr txBox="1"/>
          <p:nvPr/>
        </p:nvSpPr>
        <p:spPr>
          <a:xfrm>
            <a:off x="736600" y="6311900"/>
            <a:ext cx="889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 b="1">
                <a:solidFill>
                  <a:srgbClr val="2E6FD4"/>
                </a:solidFill>
                <a:latin typeface="Pretendard"/>
              </a:rPr>
              <a:t>Takeaway</a:t>
            </a:r>
            <a:endParaRPr lang="ko-KR" altLang="en-US" sz="900" b="1">
              <a:solidFill>
                <a:srgbClr val="2E6FD4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6A7DEE-7847-3653-FA08-89CECFF21861}"/>
              </a:ext>
            </a:extLst>
          </p:cNvPr>
          <p:cNvSpPr txBox="1"/>
          <p:nvPr/>
        </p:nvSpPr>
        <p:spPr>
          <a:xfrm>
            <a:off x="1727200" y="6273800"/>
            <a:ext cx="9144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마지막 파트는 얻고자 하는 것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, 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데이터 투입 후 학습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, Standalone 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목표를 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Roadmap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으로 닫음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7070CF-EE00-FD24-CC9A-313AF9E80810}"/>
              </a:ext>
            </a:extLst>
          </p:cNvPr>
          <p:cNvSpPr txBox="1"/>
          <p:nvPr/>
        </p:nvSpPr>
        <p:spPr>
          <a:xfrm>
            <a:off x="508000" y="6680200"/>
            <a:ext cx="5207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>
                <a:solidFill>
                  <a:srgbClr val="586780"/>
                </a:solidFill>
                <a:latin typeface="Pretendard"/>
              </a:rPr>
              <a:t>6/11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발표 샘플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|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시니어 온디바이스 헬스케어 지식증류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LLM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B85FA-EA33-CF30-E8DC-0C5440476BAE}"/>
              </a:ext>
            </a:extLst>
          </p:cNvPr>
          <p:cNvSpPr txBox="1"/>
          <p:nvPr/>
        </p:nvSpPr>
        <p:spPr>
          <a:xfrm>
            <a:off x="6350000" y="6680200"/>
            <a:ext cx="4572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Source: team roadmap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08F6FE-5704-F3E8-294F-2C667AE057E2}"/>
              </a:ext>
            </a:extLst>
          </p:cNvPr>
          <p:cNvSpPr txBox="1"/>
          <p:nvPr/>
        </p:nvSpPr>
        <p:spPr>
          <a:xfrm>
            <a:off x="11379200" y="6680200"/>
            <a:ext cx="355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10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15B0B94-E8B4-1603-4398-F724FA0F3C60}"/>
              </a:ext>
            </a:extLst>
          </p:cNvPr>
          <p:cNvSpPr/>
          <p:nvPr/>
        </p:nvSpPr>
        <p:spPr>
          <a:xfrm>
            <a:off x="1168400" y="3606800"/>
            <a:ext cx="9855200" cy="228600"/>
          </a:xfrm>
          <a:prstGeom prst="roundRect">
            <a:avLst/>
          </a:prstGeom>
          <a:solidFill>
            <a:srgbClr val="EEF4FC"/>
          </a:solidFill>
          <a:ln w="889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0CA465B-F622-B639-2F4F-3C28B7E95D76}"/>
              </a:ext>
            </a:extLst>
          </p:cNvPr>
          <p:cNvSpPr/>
          <p:nvPr/>
        </p:nvSpPr>
        <p:spPr>
          <a:xfrm>
            <a:off x="1168400" y="3606800"/>
            <a:ext cx="7874000" cy="228600"/>
          </a:xfrm>
          <a:prstGeom prst="roundRect">
            <a:avLst/>
          </a:prstGeom>
          <a:solidFill>
            <a:srgbClr val="E8F1FF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D4F30F0-A42F-B77F-4858-15965E209BE9}"/>
              </a:ext>
            </a:extLst>
          </p:cNvPr>
          <p:cNvSpPr/>
          <p:nvPr/>
        </p:nvSpPr>
        <p:spPr>
          <a:xfrm>
            <a:off x="850900" y="3276600"/>
            <a:ext cx="635000" cy="63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래픽 21">
            <a:extLst>
              <a:ext uri="{FF2B5EF4-FFF2-40B4-BE49-F238E27FC236}">
                <a16:creationId xmlns:a16="http://schemas.microsoft.com/office/drawing/2014/main" id="{EC0B476A-342A-9627-8DF6-5BB01AFFC34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" y="3416300"/>
            <a:ext cx="355600" cy="355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C05A129-975E-AC0E-79B2-385D9C078D26}"/>
              </a:ext>
            </a:extLst>
          </p:cNvPr>
          <p:cNvSpPr txBox="1"/>
          <p:nvPr/>
        </p:nvSpPr>
        <p:spPr>
          <a:xfrm>
            <a:off x="609600" y="2844800"/>
            <a:ext cx="1117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300" b="1">
                <a:solidFill>
                  <a:srgbClr val="2E6FD4"/>
                </a:solidFill>
                <a:latin typeface="Pretendard"/>
              </a:rPr>
              <a:t>현재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71EE37-E882-EEE2-0F23-3DC5D11881BC}"/>
              </a:ext>
            </a:extLst>
          </p:cNvPr>
          <p:cNvSpPr txBox="1"/>
          <p:nvPr/>
        </p:nvSpPr>
        <p:spPr>
          <a:xfrm>
            <a:off x="381000" y="4191000"/>
            <a:ext cx="15748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420" b="1">
                <a:solidFill>
                  <a:srgbClr val="1B2A4E"/>
                </a:solidFill>
                <a:latin typeface="Pretendard"/>
              </a:rPr>
              <a:t>데이터 투입 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D73090-C325-0138-EAA1-4F2A538E88F3}"/>
              </a:ext>
            </a:extLst>
          </p:cNvPr>
          <p:cNvSpPr txBox="1"/>
          <p:nvPr/>
        </p:nvSpPr>
        <p:spPr>
          <a:xfrm>
            <a:off x="279400" y="4521200"/>
            <a:ext cx="1778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200">
                <a:solidFill>
                  <a:srgbClr val="202635"/>
                </a:solidFill>
                <a:latin typeface="Pretendard"/>
              </a:rPr>
              <a:t>기본 </a:t>
            </a:r>
            <a:r>
              <a:rPr lang="en-US" altLang="ko-KR" sz="1200">
                <a:solidFill>
                  <a:srgbClr val="202635"/>
                </a:solidFill>
                <a:latin typeface="Pretendard"/>
              </a:rPr>
              <a:t>Q&amp;A Skeleton</a:t>
            </a:r>
            <a:endParaRPr lang="ko-KR" altLang="en-US" sz="1200">
              <a:solidFill>
                <a:srgbClr val="202635"/>
              </a:solidFill>
              <a:latin typeface="Pretendard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F198F516-C2BF-7300-EAD8-AD810FB1C9EA}"/>
              </a:ext>
            </a:extLst>
          </p:cNvPr>
          <p:cNvSpPr/>
          <p:nvPr/>
        </p:nvSpPr>
        <p:spPr>
          <a:xfrm>
            <a:off x="3314700" y="3276600"/>
            <a:ext cx="635000" cy="63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래픽 27">
            <a:extLst>
              <a:ext uri="{FF2B5EF4-FFF2-40B4-BE49-F238E27FC236}">
                <a16:creationId xmlns:a16="http://schemas.microsoft.com/office/drawing/2014/main" id="{3CB8091F-C936-0335-390F-11BEF94C7AD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4400" y="3416300"/>
            <a:ext cx="355600" cy="3556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847E843-FECF-39BA-FF36-0C4459CC022D}"/>
              </a:ext>
            </a:extLst>
          </p:cNvPr>
          <p:cNvSpPr txBox="1"/>
          <p:nvPr/>
        </p:nvSpPr>
        <p:spPr>
          <a:xfrm>
            <a:off x="3073400" y="2844800"/>
            <a:ext cx="1117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300" b="1">
                <a:solidFill>
                  <a:srgbClr val="2E6FD4"/>
                </a:solidFill>
                <a:latin typeface="Pretendard"/>
              </a:rPr>
              <a:t>1</a:t>
            </a:r>
            <a:r>
              <a:rPr lang="ko-KR" altLang="en-US" sz="1300" b="1">
                <a:solidFill>
                  <a:srgbClr val="2E6FD4"/>
                </a:solidFill>
                <a:latin typeface="Pretendard"/>
              </a:rPr>
              <a:t>차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4E36E7-E63F-6872-DA52-2ACAB85B5816}"/>
              </a:ext>
            </a:extLst>
          </p:cNvPr>
          <p:cNvSpPr txBox="1"/>
          <p:nvPr/>
        </p:nvSpPr>
        <p:spPr>
          <a:xfrm>
            <a:off x="2844800" y="4191000"/>
            <a:ext cx="1574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420" b="1">
                <a:solidFill>
                  <a:srgbClr val="1B2A4E"/>
                </a:solidFill>
                <a:latin typeface="Pretendard"/>
              </a:rPr>
              <a:t>질문셋 구축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87B876-A2A1-EFCC-E14C-3DB49BA654F0}"/>
              </a:ext>
            </a:extLst>
          </p:cNvPr>
          <p:cNvSpPr txBox="1"/>
          <p:nvPr/>
        </p:nvSpPr>
        <p:spPr>
          <a:xfrm>
            <a:off x="2743200" y="4521200"/>
            <a:ext cx="1778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200">
                <a:solidFill>
                  <a:srgbClr val="202635"/>
                </a:solidFill>
                <a:latin typeface="Pretendard"/>
              </a:rPr>
              <a:t>100~150</a:t>
            </a:r>
            <a:r>
              <a:rPr lang="ko-KR" altLang="en-US" sz="1200">
                <a:solidFill>
                  <a:srgbClr val="202635"/>
                </a:solidFill>
                <a:latin typeface="Pretendard"/>
              </a:rPr>
              <a:t>개 골든셋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98F18DA2-B600-A37A-51A0-7896E56DD4B9}"/>
              </a:ext>
            </a:extLst>
          </p:cNvPr>
          <p:cNvSpPr/>
          <p:nvPr/>
        </p:nvSpPr>
        <p:spPr>
          <a:xfrm>
            <a:off x="5778500" y="3276600"/>
            <a:ext cx="635000" cy="63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래픽 33">
            <a:extLst>
              <a:ext uri="{FF2B5EF4-FFF2-40B4-BE49-F238E27FC236}">
                <a16:creationId xmlns:a16="http://schemas.microsoft.com/office/drawing/2014/main" id="{93859DA2-FE53-4642-E754-BFC8B05AC51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8200" y="3416300"/>
            <a:ext cx="355600" cy="3556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4AFF6BB-F2CB-9CF1-D8EB-3600FFDCBBB8}"/>
              </a:ext>
            </a:extLst>
          </p:cNvPr>
          <p:cNvSpPr txBox="1"/>
          <p:nvPr/>
        </p:nvSpPr>
        <p:spPr>
          <a:xfrm>
            <a:off x="5537200" y="2844800"/>
            <a:ext cx="1117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300" b="1">
                <a:solidFill>
                  <a:srgbClr val="2E6FD4"/>
                </a:solidFill>
                <a:latin typeface="Pretendard"/>
              </a:rPr>
              <a:t>2</a:t>
            </a:r>
            <a:r>
              <a:rPr lang="ko-KR" altLang="en-US" sz="1300" b="1">
                <a:solidFill>
                  <a:srgbClr val="2E6FD4"/>
                </a:solidFill>
                <a:latin typeface="Pretendard"/>
              </a:rPr>
              <a:t>차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31BC1E-D8E4-5A46-BF66-D221C3DDE4D4}"/>
              </a:ext>
            </a:extLst>
          </p:cNvPr>
          <p:cNvSpPr txBox="1"/>
          <p:nvPr/>
        </p:nvSpPr>
        <p:spPr>
          <a:xfrm>
            <a:off x="5308600" y="4191000"/>
            <a:ext cx="1574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420" b="1">
                <a:solidFill>
                  <a:srgbClr val="1B2A4E"/>
                </a:solidFill>
                <a:latin typeface="Pretendard"/>
              </a:rPr>
              <a:t>학습</a:t>
            </a:r>
            <a:r>
              <a:rPr lang="en-US" altLang="ko-KR" sz="142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1420" b="1">
                <a:solidFill>
                  <a:srgbClr val="1B2A4E"/>
                </a:solidFill>
                <a:latin typeface="Pretendard"/>
              </a:rPr>
              <a:t>경량화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ABEFF7-57BB-7F4D-710B-F9E10CA1C13B}"/>
              </a:ext>
            </a:extLst>
          </p:cNvPr>
          <p:cNvSpPr txBox="1"/>
          <p:nvPr/>
        </p:nvSpPr>
        <p:spPr>
          <a:xfrm>
            <a:off x="5207000" y="4521200"/>
            <a:ext cx="1778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200">
                <a:solidFill>
                  <a:srgbClr val="202635"/>
                </a:solidFill>
                <a:latin typeface="Pretendard"/>
              </a:rPr>
              <a:t>후보 모델 </a:t>
            </a:r>
            <a:r>
              <a:rPr lang="en-US" altLang="ko-KR" sz="1200">
                <a:solidFill>
                  <a:srgbClr val="202635"/>
                </a:solidFill>
                <a:latin typeface="Pretendard"/>
              </a:rPr>
              <a:t>2~3</a:t>
            </a:r>
            <a:r>
              <a:rPr lang="ko-KR" altLang="en-US" sz="1200">
                <a:solidFill>
                  <a:srgbClr val="202635"/>
                </a:solidFill>
                <a:latin typeface="Pretendard"/>
              </a:rPr>
              <a:t>개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3ABA9305-F4B1-66C9-4241-860E5E6AC018}"/>
              </a:ext>
            </a:extLst>
          </p:cNvPr>
          <p:cNvSpPr/>
          <p:nvPr/>
        </p:nvSpPr>
        <p:spPr>
          <a:xfrm>
            <a:off x="8242300" y="3276600"/>
            <a:ext cx="635000" cy="63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래픽 39">
            <a:extLst>
              <a:ext uri="{FF2B5EF4-FFF2-40B4-BE49-F238E27FC236}">
                <a16:creationId xmlns:a16="http://schemas.microsoft.com/office/drawing/2014/main" id="{D0761D8E-C1DD-2BA5-B383-ABDC8C1C35F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3416300"/>
            <a:ext cx="355600" cy="3556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16EAA2FB-1A42-9436-040E-8A4FB4EA4B96}"/>
              </a:ext>
            </a:extLst>
          </p:cNvPr>
          <p:cNvSpPr txBox="1"/>
          <p:nvPr/>
        </p:nvSpPr>
        <p:spPr>
          <a:xfrm>
            <a:off x="8001000" y="2844800"/>
            <a:ext cx="1117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300" b="1">
                <a:solidFill>
                  <a:srgbClr val="2E6FD4"/>
                </a:solidFill>
                <a:latin typeface="Pretendard"/>
              </a:rPr>
              <a:t>3</a:t>
            </a:r>
            <a:r>
              <a:rPr lang="ko-KR" altLang="en-US" sz="1300" b="1">
                <a:solidFill>
                  <a:srgbClr val="2E6FD4"/>
                </a:solidFill>
                <a:latin typeface="Pretendard"/>
              </a:rPr>
              <a:t>차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8206DD-E19B-B923-EC92-02EB27923F16}"/>
              </a:ext>
            </a:extLst>
          </p:cNvPr>
          <p:cNvSpPr txBox="1"/>
          <p:nvPr/>
        </p:nvSpPr>
        <p:spPr>
          <a:xfrm>
            <a:off x="7772400" y="4191000"/>
            <a:ext cx="1574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420" b="1">
                <a:solidFill>
                  <a:srgbClr val="1B2A4E"/>
                </a:solidFill>
                <a:latin typeface="Pretendard"/>
              </a:rPr>
              <a:t>폰 실측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7E75E1-D8EC-FF0A-758D-B2583BCFAE3E}"/>
              </a:ext>
            </a:extLst>
          </p:cNvPr>
          <p:cNvSpPr txBox="1"/>
          <p:nvPr/>
        </p:nvSpPr>
        <p:spPr>
          <a:xfrm>
            <a:off x="7670800" y="4521200"/>
            <a:ext cx="1778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200">
                <a:solidFill>
                  <a:srgbClr val="202635"/>
                </a:solidFill>
                <a:latin typeface="Pretendard"/>
              </a:rPr>
              <a:t>오프라인</a:t>
            </a:r>
            <a:r>
              <a:rPr lang="en-US" altLang="ko-KR" sz="120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200">
                <a:solidFill>
                  <a:srgbClr val="202635"/>
                </a:solidFill>
                <a:latin typeface="Pretendard"/>
              </a:rPr>
              <a:t>메모리</a:t>
            </a:r>
            <a:r>
              <a:rPr lang="en-US" altLang="ko-KR" sz="120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200">
                <a:solidFill>
                  <a:srgbClr val="202635"/>
                </a:solidFill>
                <a:latin typeface="Pretendard"/>
              </a:rPr>
              <a:t>속도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02EF6D64-4F47-B492-0F33-F6F13228F294}"/>
              </a:ext>
            </a:extLst>
          </p:cNvPr>
          <p:cNvSpPr/>
          <p:nvPr/>
        </p:nvSpPr>
        <p:spPr>
          <a:xfrm>
            <a:off x="10706100" y="3276600"/>
            <a:ext cx="635000" cy="63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7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6" name="그래픽 45">
            <a:extLst>
              <a:ext uri="{FF2B5EF4-FFF2-40B4-BE49-F238E27FC236}">
                <a16:creationId xmlns:a16="http://schemas.microsoft.com/office/drawing/2014/main" id="{51D5A5DB-E5A7-E384-97B3-DD06747905D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45800" y="3416300"/>
            <a:ext cx="355600" cy="3556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3DE0EEB-478E-E006-B227-DCF739C635E0}"/>
              </a:ext>
            </a:extLst>
          </p:cNvPr>
          <p:cNvSpPr txBox="1"/>
          <p:nvPr/>
        </p:nvSpPr>
        <p:spPr>
          <a:xfrm>
            <a:off x="10464800" y="2844800"/>
            <a:ext cx="11176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300" b="1">
                <a:solidFill>
                  <a:srgbClr val="157B52"/>
                </a:solidFill>
                <a:latin typeface="Pretendard"/>
              </a:rPr>
              <a:t>목표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F7BA3A-3111-9472-EA95-2C4B37C83D55}"/>
              </a:ext>
            </a:extLst>
          </p:cNvPr>
          <p:cNvSpPr txBox="1"/>
          <p:nvPr/>
        </p:nvSpPr>
        <p:spPr>
          <a:xfrm>
            <a:off x="10236200" y="4191000"/>
            <a:ext cx="1574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1420" b="1">
                <a:solidFill>
                  <a:srgbClr val="1B2A4E"/>
                </a:solidFill>
                <a:latin typeface="Pretendard"/>
              </a:rPr>
              <a:t>Standalone</a:t>
            </a:r>
            <a:endParaRPr lang="ko-KR" altLang="en-US" sz="1420" b="1">
              <a:solidFill>
                <a:srgbClr val="1B2A4E"/>
              </a:solidFill>
              <a:latin typeface="Pretendard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CBD9DF-6A7D-0610-909E-D36B85085F91}"/>
              </a:ext>
            </a:extLst>
          </p:cNvPr>
          <p:cNvSpPr txBox="1"/>
          <p:nvPr/>
        </p:nvSpPr>
        <p:spPr>
          <a:xfrm>
            <a:off x="10134600" y="4521200"/>
            <a:ext cx="1778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ko-KR" altLang="en-US" sz="1200">
                <a:solidFill>
                  <a:srgbClr val="202635"/>
                </a:solidFill>
                <a:latin typeface="Pretendard"/>
              </a:rPr>
              <a:t>네트워크 없이 시연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F10D2980-2C46-B623-6633-A2779A8D3A7B}"/>
              </a:ext>
            </a:extLst>
          </p:cNvPr>
          <p:cNvSpPr/>
          <p:nvPr/>
        </p:nvSpPr>
        <p:spPr>
          <a:xfrm>
            <a:off x="1270000" y="5207000"/>
            <a:ext cx="9652000" cy="533400"/>
          </a:xfrm>
          <a:prstGeom prst="roundRect">
            <a:avLst/>
          </a:prstGeom>
          <a:solidFill>
            <a:srgbClr val="EEF4FC"/>
          </a:solidFill>
          <a:ln w="10160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래픽 51">
            <a:extLst>
              <a:ext uri="{FF2B5EF4-FFF2-40B4-BE49-F238E27FC236}">
                <a16:creationId xmlns:a16="http://schemas.microsoft.com/office/drawing/2014/main" id="{AD8689DF-BCD1-41D6-E006-7677EBB6A50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49400" y="5334000"/>
            <a:ext cx="254000" cy="254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952E813-55BD-28A3-1CC2-60DA352C3142}"/>
              </a:ext>
            </a:extLst>
          </p:cNvPr>
          <p:cNvSpPr txBox="1"/>
          <p:nvPr/>
        </p:nvSpPr>
        <p:spPr>
          <a:xfrm>
            <a:off x="1930400" y="5359400"/>
            <a:ext cx="1879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50" b="1">
                <a:solidFill>
                  <a:srgbClr val="2E6FD4"/>
                </a:solidFill>
                <a:latin typeface="Pretendard"/>
              </a:rPr>
              <a:t>형욱님 파트 핵심 문장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65657E-E721-5D67-426E-C9274FEAF0E7}"/>
              </a:ext>
            </a:extLst>
          </p:cNvPr>
          <p:cNvSpPr txBox="1"/>
          <p:nvPr/>
        </p:nvSpPr>
        <p:spPr>
          <a:xfrm>
            <a:off x="3860800" y="5275580"/>
            <a:ext cx="6731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50">
                <a:solidFill>
                  <a:srgbClr val="202635"/>
                </a:solidFill>
                <a:latin typeface="Pretendard"/>
              </a:rPr>
              <a:t>우리가 얻고자 하는 것은 모델 점수 하나가 아니라</a:t>
            </a:r>
            <a:r>
              <a:rPr lang="en-US" altLang="ko-KR" sz="1250">
                <a:solidFill>
                  <a:srgbClr val="202635"/>
                </a:solidFill>
                <a:latin typeface="Pretendard"/>
              </a:rPr>
              <a:t>, </a:t>
            </a:r>
            <a:r>
              <a:rPr lang="ko-KR" altLang="en-US" sz="1250">
                <a:solidFill>
                  <a:srgbClr val="202635"/>
                </a:solidFill>
                <a:latin typeface="Pretendard"/>
              </a:rPr>
              <a:t>데이터</a:t>
            </a:r>
            <a:r>
              <a:rPr lang="en-US" altLang="ko-KR" sz="12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250">
                <a:solidFill>
                  <a:srgbClr val="202635"/>
                </a:solidFill>
                <a:latin typeface="Pretendard"/>
              </a:rPr>
              <a:t>질문</a:t>
            </a:r>
            <a:r>
              <a:rPr lang="en-US" altLang="ko-KR" sz="12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250">
                <a:solidFill>
                  <a:srgbClr val="202635"/>
                </a:solidFill>
                <a:latin typeface="Pretendard"/>
              </a:rPr>
              <a:t>실측 로그까지 갖춘 재현 가능한 독립 실행 데모</a:t>
            </a:r>
          </a:p>
        </p:txBody>
      </p:sp>
    </p:spTree>
    <p:extLst>
      <p:ext uri="{BB962C8B-B14F-4D97-AF65-F5344CB8AC3E}">
        <p14:creationId xmlns:p14="http://schemas.microsoft.com/office/powerpoint/2010/main" val="2549192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DBAA8D9-2DAE-1C6B-2711-F5639A5ADE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3FD8E83-1D9D-37E1-B367-E9AC407E268E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233F"/>
          </a:solidFill>
          <a:ln w="0">
            <a:solidFill>
              <a:srgbClr val="1723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61F43F-9671-9C11-3C10-CD56792E210F}"/>
              </a:ext>
            </a:extLst>
          </p:cNvPr>
          <p:cNvSpPr/>
          <p:nvPr/>
        </p:nvSpPr>
        <p:spPr>
          <a:xfrm>
            <a:off x="114300" y="0"/>
            <a:ext cx="50800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03FF30-FD68-A0EE-0886-45AC54B8596D}"/>
              </a:ext>
            </a:extLst>
          </p:cNvPr>
          <p:cNvSpPr/>
          <p:nvPr/>
        </p:nvSpPr>
        <p:spPr>
          <a:xfrm>
            <a:off x="508000" y="355600"/>
            <a:ext cx="2057400" cy="330200"/>
          </a:xfrm>
          <a:prstGeom prst="rect">
            <a:avLst/>
          </a:prstGeom>
          <a:solidFill>
            <a:srgbClr val="E8F1FF"/>
          </a:solidFill>
          <a:ln w="6350">
            <a:solidFill>
              <a:srgbClr val="E8F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2009C-BFF8-498C-83AD-91448BA5453B}"/>
              </a:ext>
            </a:extLst>
          </p:cNvPr>
          <p:cNvSpPr txBox="1"/>
          <p:nvPr/>
        </p:nvSpPr>
        <p:spPr>
          <a:xfrm>
            <a:off x="609600" y="419100"/>
            <a:ext cx="18542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200" b="1">
                <a:solidFill>
                  <a:srgbClr val="2E6FD4"/>
                </a:solidFill>
                <a:latin typeface="Pretendard"/>
              </a:rPr>
              <a:t>팀 공유 메모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56F47-6110-D228-29C2-F075170EE6C5}"/>
              </a:ext>
            </a:extLst>
          </p:cNvPr>
          <p:cNvSpPr txBox="1"/>
          <p:nvPr/>
        </p:nvSpPr>
        <p:spPr>
          <a:xfrm>
            <a:off x="10693400" y="482600"/>
            <a:ext cx="990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50" b="1">
                <a:solidFill>
                  <a:srgbClr val="586780"/>
                </a:solidFill>
                <a:latin typeface="Pretendard"/>
              </a:rPr>
              <a:t>Exhibit 11</a:t>
            </a:r>
            <a:endParaRPr lang="ko-KR" altLang="en-US" sz="950" b="1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AF7B0E-FE63-0D83-DECE-0B86804A4DB5}"/>
              </a:ext>
            </a:extLst>
          </p:cNvPr>
          <p:cNvSpPr txBox="1"/>
          <p:nvPr/>
        </p:nvSpPr>
        <p:spPr>
          <a:xfrm>
            <a:off x="584200" y="9906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이 샘플은 박스 템플릿이 아니라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2EE38-8C9F-D701-5BA5-F6C2E4249576}"/>
              </a:ext>
            </a:extLst>
          </p:cNvPr>
          <p:cNvSpPr txBox="1"/>
          <p:nvPr/>
        </p:nvSpPr>
        <p:spPr>
          <a:xfrm>
            <a:off x="584200" y="1384300"/>
            <a:ext cx="1003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2550" b="1">
                <a:solidFill>
                  <a:srgbClr val="1B2A4E"/>
                </a:solidFill>
                <a:latin typeface="Pretendard"/>
              </a:rPr>
              <a:t>파트별 컨텐츠에 맞는 포맷 선택 예시임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18C1980-5A87-B98C-5491-26AC118CCA60}"/>
              </a:ext>
            </a:extLst>
          </p:cNvPr>
          <p:cNvCxnSpPr/>
          <p:nvPr/>
        </p:nvCxnSpPr>
        <p:spPr>
          <a:xfrm>
            <a:off x="508000" y="1778000"/>
            <a:ext cx="11176000" cy="0"/>
          </a:xfrm>
          <a:prstGeom prst="line">
            <a:avLst/>
          </a:prstGeom>
          <a:ln w="38100">
            <a:solidFill>
              <a:srgbClr val="1B2A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0E340E-EDD4-9227-A8C1-FA10BF6669B3}"/>
              </a:ext>
            </a:extLst>
          </p:cNvPr>
          <p:cNvSpPr/>
          <p:nvPr/>
        </p:nvSpPr>
        <p:spPr>
          <a:xfrm>
            <a:off x="508000" y="6197600"/>
            <a:ext cx="11176000" cy="368300"/>
          </a:xfrm>
          <a:prstGeom prst="rect">
            <a:avLst/>
          </a:prstGeom>
          <a:solidFill>
            <a:srgbClr val="EEF4FC"/>
          </a:solidFill>
          <a:ln w="9525">
            <a:solidFill>
              <a:srgbClr val="C5D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144ED8-FEDE-4AE7-5BB0-C0FB7EEDDB9D}"/>
              </a:ext>
            </a:extLst>
          </p:cNvPr>
          <p:cNvSpPr/>
          <p:nvPr/>
        </p:nvSpPr>
        <p:spPr>
          <a:xfrm>
            <a:off x="508000" y="6197600"/>
            <a:ext cx="76200" cy="3683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AF3289-DFB1-0B10-327C-210834FC8FA6}"/>
              </a:ext>
            </a:extLst>
          </p:cNvPr>
          <p:cNvSpPr txBox="1"/>
          <p:nvPr/>
        </p:nvSpPr>
        <p:spPr>
          <a:xfrm>
            <a:off x="736600" y="6311900"/>
            <a:ext cx="889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 b="1">
                <a:solidFill>
                  <a:srgbClr val="2E6FD4"/>
                </a:solidFill>
                <a:latin typeface="Pretendard"/>
              </a:rPr>
              <a:t>Takeaway</a:t>
            </a:r>
            <a:endParaRPr lang="ko-KR" altLang="en-US" sz="900" b="1">
              <a:solidFill>
                <a:srgbClr val="2E6FD4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C5321B-CC26-DDCC-778C-1E90E3F90BC5}"/>
              </a:ext>
            </a:extLst>
          </p:cNvPr>
          <p:cNvSpPr txBox="1"/>
          <p:nvPr/>
        </p:nvSpPr>
        <p:spPr>
          <a:xfrm>
            <a:off x="1727200" y="6273800"/>
            <a:ext cx="9144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팀원은 자기 파트의 메시지에 맞게 장면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개념도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맵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표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스토리보드</a:t>
            </a:r>
            <a:r>
              <a:rPr lang="en-US" altLang="ko-KR" sz="1320" b="1">
                <a:solidFill>
                  <a:srgbClr val="1B2A4E"/>
                </a:solidFill>
                <a:latin typeface="Pretendard"/>
              </a:rPr>
              <a:t>·</a:t>
            </a:r>
            <a:r>
              <a:rPr lang="ko-KR" altLang="en-US" sz="1320" b="1">
                <a:solidFill>
                  <a:srgbClr val="1B2A4E"/>
                </a:solidFill>
                <a:latin typeface="Pretendard"/>
              </a:rPr>
              <a:t>로드맵 중 하나를 고름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03E055-B132-3761-139C-7BB4AA8E82FD}"/>
              </a:ext>
            </a:extLst>
          </p:cNvPr>
          <p:cNvSpPr txBox="1"/>
          <p:nvPr/>
        </p:nvSpPr>
        <p:spPr>
          <a:xfrm>
            <a:off x="508000" y="6680200"/>
            <a:ext cx="5207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00">
                <a:solidFill>
                  <a:srgbClr val="586780"/>
                </a:solidFill>
                <a:latin typeface="Pretendard"/>
              </a:rPr>
              <a:t>6/11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발표 샘플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| </a:t>
            </a:r>
            <a:r>
              <a:rPr lang="ko-KR" altLang="en-US" sz="900">
                <a:solidFill>
                  <a:srgbClr val="586780"/>
                </a:solidFill>
                <a:latin typeface="Pretendard"/>
              </a:rPr>
              <a:t>시니어 온디바이스 헬스케어 지식증류 </a:t>
            </a:r>
            <a:r>
              <a:rPr lang="en-US" altLang="ko-KR" sz="900">
                <a:solidFill>
                  <a:srgbClr val="586780"/>
                </a:solidFill>
                <a:latin typeface="Pretendard"/>
              </a:rPr>
              <a:t>LLM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F43B07-B878-826E-3710-AF729663A81D}"/>
              </a:ext>
            </a:extLst>
          </p:cNvPr>
          <p:cNvSpPr txBox="1"/>
          <p:nvPr/>
        </p:nvSpPr>
        <p:spPr>
          <a:xfrm>
            <a:off x="6350000" y="6680200"/>
            <a:ext cx="4572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Source: WHO; CDC; W3C; AI Hub; Hinton et al.; design systems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8E6C38-810E-85ED-CDA6-E03BF68002D6}"/>
              </a:ext>
            </a:extLst>
          </p:cNvPr>
          <p:cNvSpPr txBox="1"/>
          <p:nvPr/>
        </p:nvSpPr>
        <p:spPr>
          <a:xfrm>
            <a:off x="11379200" y="6680200"/>
            <a:ext cx="3556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US" altLang="ko-KR" sz="900">
                <a:solidFill>
                  <a:srgbClr val="586780"/>
                </a:solidFill>
                <a:latin typeface="Pretendard"/>
              </a:rPr>
              <a:t>11</a:t>
            </a:r>
            <a:endParaRPr lang="ko-KR" altLang="en-US" sz="900">
              <a:solidFill>
                <a:srgbClr val="586780"/>
              </a:solidFill>
              <a:latin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A859B4-F523-3E4B-9C97-A16618342DC6}"/>
              </a:ext>
            </a:extLst>
          </p:cNvPr>
          <p:cNvSpPr txBox="1"/>
          <p:nvPr/>
        </p:nvSpPr>
        <p:spPr>
          <a:xfrm>
            <a:off x="889000" y="2311400"/>
            <a:ext cx="2286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500" b="1">
                <a:solidFill>
                  <a:srgbClr val="1B2A4E"/>
                </a:solidFill>
                <a:latin typeface="Pretendard"/>
              </a:rPr>
              <a:t>포맷 선택 예시</a:t>
            </a:r>
          </a:p>
        </p:txBody>
      </p:sp>
      <p:pic>
        <p:nvPicPr>
          <p:cNvPr id="20" name="그래픽 19">
            <a:extLst>
              <a:ext uri="{FF2B5EF4-FFF2-40B4-BE49-F238E27FC236}">
                <a16:creationId xmlns:a16="http://schemas.microsoft.com/office/drawing/2014/main" id="{236B4A23-0711-6DA6-FA92-F7C96D0FC71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7600" y="2743200"/>
            <a:ext cx="228600" cy="2286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11A29F3-BB50-AD05-7A41-A726FA63258E}"/>
              </a:ext>
            </a:extLst>
          </p:cNvPr>
          <p:cNvSpPr txBox="1"/>
          <p:nvPr/>
        </p:nvSpPr>
        <p:spPr>
          <a:xfrm>
            <a:off x="1473200" y="2755900"/>
            <a:ext cx="939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 b="1">
                <a:solidFill>
                  <a:srgbClr val="1B2A4E"/>
                </a:solidFill>
                <a:latin typeface="Pretendard"/>
              </a:rPr>
              <a:t>필요성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CEF3AB-5CB3-8CAE-F7BF-7DD0E84ED764}"/>
              </a:ext>
            </a:extLst>
          </p:cNvPr>
          <p:cNvSpPr txBox="1"/>
          <p:nvPr/>
        </p:nvSpPr>
        <p:spPr>
          <a:xfrm>
            <a:off x="2413000" y="2755900"/>
            <a:ext cx="3556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>
                <a:solidFill>
                  <a:srgbClr val="202635"/>
                </a:solidFill>
                <a:latin typeface="Pretendard"/>
              </a:rPr>
              <a:t>장면형 일러스트 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+ 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문제 콜아웃</a:t>
            </a:r>
          </a:p>
        </p:txBody>
      </p:sp>
      <p:pic>
        <p:nvPicPr>
          <p:cNvPr id="24" name="그래픽 23">
            <a:extLst>
              <a:ext uri="{FF2B5EF4-FFF2-40B4-BE49-F238E27FC236}">
                <a16:creationId xmlns:a16="http://schemas.microsoft.com/office/drawing/2014/main" id="{1A730157-B934-74D1-A861-97C0AB1ADE9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600" y="3124200"/>
            <a:ext cx="228600" cy="2286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C480F43-7206-ED55-5172-3E810371FBB9}"/>
              </a:ext>
            </a:extLst>
          </p:cNvPr>
          <p:cNvSpPr txBox="1"/>
          <p:nvPr/>
        </p:nvSpPr>
        <p:spPr>
          <a:xfrm>
            <a:off x="1473200" y="3136900"/>
            <a:ext cx="939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 b="1">
                <a:solidFill>
                  <a:srgbClr val="1B2A4E"/>
                </a:solidFill>
                <a:latin typeface="Pretendard"/>
              </a:rPr>
              <a:t>이론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DD721E-47B3-3E41-CB4C-546F7813A2C0}"/>
              </a:ext>
            </a:extLst>
          </p:cNvPr>
          <p:cNvSpPr txBox="1"/>
          <p:nvPr/>
        </p:nvSpPr>
        <p:spPr>
          <a:xfrm>
            <a:off x="2413000" y="3136900"/>
            <a:ext cx="3556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1150">
                <a:solidFill>
                  <a:srgbClr val="202635"/>
                </a:solidFill>
                <a:latin typeface="Pretendard"/>
              </a:rPr>
              <a:t>Teacher→Student 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개념도</a:t>
            </a:r>
          </a:p>
        </p:txBody>
      </p:sp>
      <p:pic>
        <p:nvPicPr>
          <p:cNvPr id="28" name="그래픽 27">
            <a:extLst>
              <a:ext uri="{FF2B5EF4-FFF2-40B4-BE49-F238E27FC236}">
                <a16:creationId xmlns:a16="http://schemas.microsoft.com/office/drawing/2014/main" id="{88DDA9D8-DCB2-BB7A-CBDD-B4C76419BE7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600" y="3505200"/>
            <a:ext cx="228600" cy="2286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B2FC8F8-EF27-B1DD-8AFF-535B9305A5B6}"/>
              </a:ext>
            </a:extLst>
          </p:cNvPr>
          <p:cNvSpPr txBox="1"/>
          <p:nvPr/>
        </p:nvSpPr>
        <p:spPr>
          <a:xfrm>
            <a:off x="1473200" y="3517900"/>
            <a:ext cx="939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 b="1">
                <a:solidFill>
                  <a:srgbClr val="1B2A4E"/>
                </a:solidFill>
                <a:latin typeface="Pretendard"/>
              </a:rPr>
              <a:t>데이터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A9679C-B2B2-13C7-4E84-A07FE033C516}"/>
              </a:ext>
            </a:extLst>
          </p:cNvPr>
          <p:cNvSpPr txBox="1"/>
          <p:nvPr/>
        </p:nvSpPr>
        <p:spPr>
          <a:xfrm>
            <a:off x="2413000" y="3517900"/>
            <a:ext cx="3556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>
                <a:solidFill>
                  <a:srgbClr val="202635"/>
                </a:solidFill>
                <a:latin typeface="Pretendard"/>
              </a:rPr>
              <a:t>출처 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cluster + processing funnel</a:t>
            </a:r>
            <a:endParaRPr lang="ko-KR" altLang="en-US" sz="1150">
              <a:solidFill>
                <a:srgbClr val="202635"/>
              </a:solidFill>
              <a:latin typeface="Pretendard"/>
            </a:endParaRPr>
          </a:p>
        </p:txBody>
      </p:sp>
      <p:pic>
        <p:nvPicPr>
          <p:cNvPr id="32" name="그래픽 31">
            <a:extLst>
              <a:ext uri="{FF2B5EF4-FFF2-40B4-BE49-F238E27FC236}">
                <a16:creationId xmlns:a16="http://schemas.microsoft.com/office/drawing/2014/main" id="{67B55D7D-C4FE-7D9B-041E-DCF1363FB0C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7600" y="3886200"/>
            <a:ext cx="228600" cy="2286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3FE05AB-52C4-A6D1-07BC-1763B8FB59F3}"/>
              </a:ext>
            </a:extLst>
          </p:cNvPr>
          <p:cNvSpPr txBox="1"/>
          <p:nvPr/>
        </p:nvSpPr>
        <p:spPr>
          <a:xfrm>
            <a:off x="1473200" y="3898900"/>
            <a:ext cx="939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 b="1">
                <a:solidFill>
                  <a:srgbClr val="1B2A4E"/>
                </a:solidFill>
                <a:latin typeface="Pretendard"/>
              </a:rPr>
              <a:t>구현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ECFA1-A4A7-ED11-2178-246249E58323}"/>
              </a:ext>
            </a:extLst>
          </p:cNvPr>
          <p:cNvSpPr txBox="1"/>
          <p:nvPr/>
        </p:nvSpPr>
        <p:spPr>
          <a:xfrm>
            <a:off x="2413000" y="3898900"/>
            <a:ext cx="3556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>
                <a:solidFill>
                  <a:srgbClr val="202635"/>
                </a:solidFill>
                <a:latin typeface="Pretendard"/>
              </a:rPr>
              <a:t>시스템 아키텍처 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+ 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로그</a:t>
            </a:r>
          </a:p>
        </p:txBody>
      </p:sp>
      <p:pic>
        <p:nvPicPr>
          <p:cNvPr id="36" name="그래픽 35">
            <a:extLst>
              <a:ext uri="{FF2B5EF4-FFF2-40B4-BE49-F238E27FC236}">
                <a16:creationId xmlns:a16="http://schemas.microsoft.com/office/drawing/2014/main" id="{29065305-E74E-6B9E-F1A8-E8A64BCFA94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7600" y="4267200"/>
            <a:ext cx="228600" cy="2286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6B2ADB5-221C-9978-FE8C-DDA63157D2B8}"/>
              </a:ext>
            </a:extLst>
          </p:cNvPr>
          <p:cNvSpPr txBox="1"/>
          <p:nvPr/>
        </p:nvSpPr>
        <p:spPr>
          <a:xfrm>
            <a:off x="1473200" y="4279900"/>
            <a:ext cx="9398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 b="1">
                <a:solidFill>
                  <a:srgbClr val="1B2A4E"/>
                </a:solidFill>
                <a:latin typeface="Pretendard"/>
              </a:rPr>
              <a:t>시나리오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C5296B-BB5A-27D8-2CBF-FB8871B64486}"/>
              </a:ext>
            </a:extLst>
          </p:cNvPr>
          <p:cNvSpPr txBox="1"/>
          <p:nvPr/>
        </p:nvSpPr>
        <p:spPr>
          <a:xfrm>
            <a:off x="2413000" y="4279900"/>
            <a:ext cx="3556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1150">
                <a:solidFill>
                  <a:srgbClr val="202635"/>
                </a:solidFill>
                <a:latin typeface="Pretendard"/>
              </a:rPr>
              <a:t>4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컷 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Storyboard</a:t>
            </a:r>
            <a:endParaRPr lang="ko-KR" altLang="en-US" sz="1150">
              <a:solidFill>
                <a:srgbClr val="202635"/>
              </a:solidFill>
              <a:latin typeface="Pretendard"/>
            </a:endParaRPr>
          </a:p>
        </p:txBody>
      </p:sp>
      <p:pic>
        <p:nvPicPr>
          <p:cNvPr id="40" name="그래픽 39">
            <a:extLst>
              <a:ext uri="{FF2B5EF4-FFF2-40B4-BE49-F238E27FC236}">
                <a16:creationId xmlns:a16="http://schemas.microsoft.com/office/drawing/2014/main" id="{7A2DF60B-EE37-83DF-2646-1A3FD03CB69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7600" y="4648200"/>
            <a:ext cx="228600" cy="2286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C6C4CBD-4778-0DA4-9C33-7A01511A718A}"/>
              </a:ext>
            </a:extLst>
          </p:cNvPr>
          <p:cNvSpPr txBox="1"/>
          <p:nvPr/>
        </p:nvSpPr>
        <p:spPr>
          <a:xfrm>
            <a:off x="1473200" y="4660900"/>
            <a:ext cx="939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 b="1">
                <a:solidFill>
                  <a:srgbClr val="1B2A4E"/>
                </a:solidFill>
                <a:latin typeface="Pretendard"/>
              </a:rPr>
              <a:t>평가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FAB31A-5324-E492-9CDA-680760A67C9A}"/>
              </a:ext>
            </a:extLst>
          </p:cNvPr>
          <p:cNvSpPr txBox="1"/>
          <p:nvPr/>
        </p:nvSpPr>
        <p:spPr>
          <a:xfrm>
            <a:off x="2413000" y="4660900"/>
            <a:ext cx="3556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>
                <a:solidFill>
                  <a:srgbClr val="202635"/>
                </a:solidFill>
                <a:latin typeface="Pretendard"/>
              </a:rPr>
              <a:t>기술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실효성 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Gate Matrix</a:t>
            </a:r>
            <a:endParaRPr lang="ko-KR" altLang="en-US" sz="1150">
              <a:solidFill>
                <a:srgbClr val="202635"/>
              </a:solidFill>
              <a:latin typeface="Pretendard"/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891B1517-A1E2-9DB0-BE82-DCB7106791B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7600" y="5029200"/>
            <a:ext cx="228600" cy="2286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815B03D3-3663-A3B5-8267-F7426A542D09}"/>
              </a:ext>
            </a:extLst>
          </p:cNvPr>
          <p:cNvSpPr txBox="1"/>
          <p:nvPr/>
        </p:nvSpPr>
        <p:spPr>
          <a:xfrm>
            <a:off x="1473200" y="5041900"/>
            <a:ext cx="939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 b="1">
                <a:solidFill>
                  <a:srgbClr val="1B2A4E"/>
                </a:solidFill>
                <a:latin typeface="Pretendard"/>
              </a:rPr>
              <a:t>목표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157152-506C-90D5-0FA5-6E85B51441DA}"/>
              </a:ext>
            </a:extLst>
          </p:cNvPr>
          <p:cNvSpPr txBox="1"/>
          <p:nvPr/>
        </p:nvSpPr>
        <p:spPr>
          <a:xfrm>
            <a:off x="2413000" y="5041900"/>
            <a:ext cx="3556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1150">
                <a:solidFill>
                  <a:srgbClr val="202635"/>
                </a:solidFill>
                <a:latin typeface="Pretendard"/>
              </a:rPr>
              <a:t>Standalone Roadmap</a:t>
            </a:r>
            <a:endParaRPr lang="ko-KR" altLang="en-US" sz="1150">
              <a:solidFill>
                <a:srgbClr val="202635"/>
              </a:solidFill>
              <a:latin typeface="Pretendard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650187-82DC-7292-C685-D42757EEEA70}"/>
              </a:ext>
            </a:extLst>
          </p:cNvPr>
          <p:cNvSpPr txBox="1"/>
          <p:nvPr/>
        </p:nvSpPr>
        <p:spPr>
          <a:xfrm>
            <a:off x="6858000" y="2311400"/>
            <a:ext cx="2286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500" b="1">
                <a:solidFill>
                  <a:srgbClr val="1B2A4E"/>
                </a:solidFill>
                <a:latin typeface="Pretendard"/>
              </a:rPr>
              <a:t>시각 자산 기준</a:t>
            </a:r>
          </a:p>
        </p:txBody>
      </p:sp>
      <p:pic>
        <p:nvPicPr>
          <p:cNvPr id="49" name="그래픽 48">
            <a:extLst>
              <a:ext uri="{FF2B5EF4-FFF2-40B4-BE49-F238E27FC236}">
                <a16:creationId xmlns:a16="http://schemas.microsoft.com/office/drawing/2014/main" id="{5DAC477A-4DB1-ACB2-F086-73BB5081761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2768600"/>
            <a:ext cx="215900" cy="2159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6CDA80B-73B8-1DE2-B58A-6D856AEF94E3}"/>
              </a:ext>
            </a:extLst>
          </p:cNvPr>
          <p:cNvSpPr txBox="1"/>
          <p:nvPr/>
        </p:nvSpPr>
        <p:spPr>
          <a:xfrm>
            <a:off x="7442200" y="2781300"/>
            <a:ext cx="3810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>
                <a:solidFill>
                  <a:srgbClr val="202635"/>
                </a:solidFill>
                <a:latin typeface="Pretendard"/>
              </a:rPr>
              <a:t>원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기본선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기본 박스만 남으면 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L0 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초안</a:t>
            </a:r>
          </a:p>
        </p:txBody>
      </p:sp>
      <p:pic>
        <p:nvPicPr>
          <p:cNvPr id="52" name="그래픽 51">
            <a:extLst>
              <a:ext uri="{FF2B5EF4-FFF2-40B4-BE49-F238E27FC236}">
                <a16:creationId xmlns:a16="http://schemas.microsoft.com/office/drawing/2014/main" id="{C5032923-8ECF-A07B-2CEB-BB890A02477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3175000"/>
            <a:ext cx="215900" cy="2159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0949F91A-120A-273E-A539-653412E4C6DC}"/>
              </a:ext>
            </a:extLst>
          </p:cNvPr>
          <p:cNvSpPr txBox="1"/>
          <p:nvPr/>
        </p:nvSpPr>
        <p:spPr>
          <a:xfrm>
            <a:off x="7442200" y="3187700"/>
            <a:ext cx="3810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>
                <a:solidFill>
                  <a:srgbClr val="202635"/>
                </a:solidFill>
                <a:latin typeface="Pretendard"/>
              </a:rPr>
              <a:t>핵심 장표는 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L2 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이상 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SVG 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아이콘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픽토그램 사용</a:t>
            </a: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A5904A2A-6661-10A2-D0DF-0EB24FE6770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3581400"/>
            <a:ext cx="215900" cy="2159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27B9332-62E3-61F9-26AB-38FC1A8D9805}"/>
              </a:ext>
            </a:extLst>
          </p:cNvPr>
          <p:cNvSpPr txBox="1"/>
          <p:nvPr/>
        </p:nvSpPr>
        <p:spPr>
          <a:xfrm>
            <a:off x="7442200" y="3594100"/>
            <a:ext cx="3810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>
                <a:solidFill>
                  <a:srgbClr val="202635"/>
                </a:solidFill>
                <a:latin typeface="Pretendard"/>
              </a:rPr>
              <a:t>아이콘 패밀리는 한 덱에서 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1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종 중심으로 통일</a:t>
            </a:r>
          </a:p>
        </p:txBody>
      </p:sp>
      <p:pic>
        <p:nvPicPr>
          <p:cNvPr id="58" name="그래픽 57">
            <a:extLst>
              <a:ext uri="{FF2B5EF4-FFF2-40B4-BE49-F238E27FC236}">
                <a16:creationId xmlns:a16="http://schemas.microsoft.com/office/drawing/2014/main" id="{7F5D1559-85A7-EA6E-4B9F-831F421EC02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3987800"/>
            <a:ext cx="215900" cy="2159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E5092E85-DF86-C988-3100-9281A13CFDC9}"/>
              </a:ext>
            </a:extLst>
          </p:cNvPr>
          <p:cNvSpPr txBox="1"/>
          <p:nvPr/>
        </p:nvSpPr>
        <p:spPr>
          <a:xfrm>
            <a:off x="7442200" y="4000500"/>
            <a:ext cx="3810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1150">
                <a:solidFill>
                  <a:srgbClr val="202635"/>
                </a:solidFill>
                <a:latin typeface="Pretendard"/>
              </a:rPr>
              <a:t>AI 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생성 이미지는 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concept image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로 표시</a:t>
            </a:r>
          </a:p>
        </p:txBody>
      </p:sp>
      <p:pic>
        <p:nvPicPr>
          <p:cNvPr id="61" name="그래픽 60">
            <a:extLst>
              <a:ext uri="{FF2B5EF4-FFF2-40B4-BE49-F238E27FC236}">
                <a16:creationId xmlns:a16="http://schemas.microsoft.com/office/drawing/2014/main" id="{8C9D4D62-FF17-2AAB-0847-AEA2C22C623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4394200"/>
            <a:ext cx="215900" cy="2159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4225BE13-9C81-3E1A-4050-05DDA95329DF}"/>
              </a:ext>
            </a:extLst>
          </p:cNvPr>
          <p:cNvSpPr txBox="1"/>
          <p:nvPr/>
        </p:nvSpPr>
        <p:spPr>
          <a:xfrm>
            <a:off x="7442200" y="4406900"/>
            <a:ext cx="3810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>
                <a:solidFill>
                  <a:srgbClr val="202635"/>
                </a:solidFill>
                <a:latin typeface="Pretendard"/>
              </a:rPr>
              <a:t>좌우 노드 수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선 길이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·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라벨 기준선 균형 확인</a:t>
            </a:r>
          </a:p>
        </p:txBody>
      </p:sp>
      <p:pic>
        <p:nvPicPr>
          <p:cNvPr id="64" name="그래픽 63">
            <a:extLst>
              <a:ext uri="{FF2B5EF4-FFF2-40B4-BE49-F238E27FC236}">
                <a16:creationId xmlns:a16="http://schemas.microsoft.com/office/drawing/2014/main" id="{4D3A2426-6F80-D271-756D-B0557868C09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4800600"/>
            <a:ext cx="215900" cy="21590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022FD9DB-8E0B-F7DB-5347-6DEF31DFBC68}"/>
              </a:ext>
            </a:extLst>
          </p:cNvPr>
          <p:cNvSpPr txBox="1"/>
          <p:nvPr/>
        </p:nvSpPr>
        <p:spPr>
          <a:xfrm>
            <a:off x="7442200" y="4813300"/>
            <a:ext cx="3810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ko-KR" altLang="en-US" sz="1150">
                <a:solidFill>
                  <a:srgbClr val="202635"/>
                </a:solidFill>
                <a:latin typeface="Pretendard"/>
              </a:rPr>
              <a:t>이미지 안 텍스트 금지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, 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라벨은 </a:t>
            </a:r>
            <a:r>
              <a:rPr lang="en-US" altLang="ko-KR" sz="1150">
                <a:solidFill>
                  <a:srgbClr val="202635"/>
                </a:solidFill>
                <a:latin typeface="Pretendard"/>
              </a:rPr>
              <a:t>native </a:t>
            </a:r>
            <a:r>
              <a:rPr lang="ko-KR" altLang="en-US" sz="1150">
                <a:solidFill>
                  <a:srgbClr val="202635"/>
                </a:solidFill>
                <a:latin typeface="Pretendard"/>
              </a:rPr>
              <a:t>텍스트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145E94D-3681-5DCC-391E-34A64C4DC44E}"/>
              </a:ext>
            </a:extLst>
          </p:cNvPr>
          <p:cNvSpPr txBox="1"/>
          <p:nvPr/>
        </p:nvSpPr>
        <p:spPr>
          <a:xfrm>
            <a:off x="889000" y="5791200"/>
            <a:ext cx="9144000" cy="6463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altLang="ko-KR" sz="920">
                <a:solidFill>
                  <a:srgbClr val="586780"/>
                </a:solidFill>
                <a:latin typeface="Pretendard"/>
              </a:rPr>
              <a:t>Icons: custom SVG line set following Lucide/Heroicons-style consistency; concept illustration generated as local SVG.</a:t>
            </a:r>
            <a:endParaRPr lang="ko-KR" altLang="en-US" sz="920">
              <a:solidFill>
                <a:srgbClr val="586780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36600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1222</Words>
  <Application>Microsoft Office PowerPoint</Application>
  <PresentationFormat>와이드스크린</PresentationFormat>
  <Paragraphs>267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지혜 윤</dc:creator>
  <cp:lastModifiedBy>지혜 윤</cp:lastModifiedBy>
  <cp:revision>4</cp:revision>
  <dcterms:created xsi:type="dcterms:W3CDTF">2026-05-30T11:58:22Z</dcterms:created>
  <dcterms:modified xsi:type="dcterms:W3CDTF">2026-05-30T12:59:55Z</dcterms:modified>
</cp:coreProperties>
</file>