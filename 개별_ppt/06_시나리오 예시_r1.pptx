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88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3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72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46888"/>
            <a:ext cx="2148840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21488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6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 적용 예시 시나리오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731520"/>
            <a:ext cx="113385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026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경량화된 모델은 </a:t>
            </a:r>
            <a:r>
              <a:rPr lang="en-US" sz="2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어디에서 어떻게 필요한가?</a:t>
            </a:r>
            <a:r>
              <a:rPr lang="en-US" sz="2400" b="1" dirty="0">
                <a:solidFill>
                  <a:srgbClr val="2026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실버케어 적용 장면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" y="1225296"/>
            <a:ext cx="11247120" cy="0"/>
          </a:xfrm>
          <a:prstGeom prst="line">
            <a:avLst/>
          </a:prstGeom>
          <a:noFill/>
          <a:ln w="15240">
            <a:solidFill>
              <a:srgbClr val="2026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11155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026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실버케어는 프로젝트의 출발점이 아니라, KD 기반 경량화 모델이 실제로 필요한 대표 적용 시나리오다.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84048" y="1719072"/>
            <a:ext cx="11247120" cy="530352"/>
          </a:xfrm>
          <a:prstGeom prst="roundRect">
            <a:avLst>
              <a:gd name="adj" fmla="val 8621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892808"/>
            <a:ext cx="685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FE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00200" y="1855695"/>
            <a:ext cx="99212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통신이 없어도, 개인정보를 기기 밖으로 내보내지 않아도 — 보급형 기기에서 그 자리에서 바로 답한다.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84048" y="2487168"/>
            <a:ext cx="2148840" cy="2633472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12064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2651760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페르소나: 김말순(78)</a:t>
            </a:r>
            <a:endParaRPr lang="en-US" sz="1350" dirty="0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FE4620D-0938-21F5-AA8D-37166CBE59B7}"/>
              </a:ext>
            </a:extLst>
          </p:cNvPr>
          <p:cNvGrpSpPr/>
          <p:nvPr/>
        </p:nvGrpSpPr>
        <p:grpSpPr>
          <a:xfrm>
            <a:off x="548640" y="3026664"/>
            <a:ext cx="1837944" cy="1892808"/>
            <a:chOff x="548640" y="3026664"/>
            <a:chExt cx="1837944" cy="1179576"/>
          </a:xfrm>
        </p:grpSpPr>
        <p:sp>
          <p:nvSpPr>
            <p:cNvPr id="15" name="Text 13"/>
            <p:cNvSpPr/>
            <p:nvPr/>
          </p:nvSpPr>
          <p:spPr>
            <a:xfrm>
              <a:off x="548640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13232" y="3026664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경북 의성 농촌, Wi‑Fi 없음·LTE 약함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48640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13232" y="3337560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고혈압·당뇨, 4종 이상 복약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13232" y="3648456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4GB RAM 수준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보급형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스마트폰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가정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48640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13232" y="3959352"/>
              <a:ext cx="1673352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카톡은 가능하나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복잡한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앱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사용은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어려움</a:t>
              </a:r>
              <a:endParaRPr lang="en-US" sz="12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2651760" y="3611880"/>
            <a:ext cx="320040" cy="329184"/>
          </a:xfrm>
          <a:prstGeom prst="rightArrow">
            <a:avLst/>
          </a:prstGeom>
          <a:solidFill>
            <a:srgbClr val="0B70C9"/>
          </a:solidFill>
          <a:ln w="12700">
            <a:solidFill>
              <a:srgbClr val="0B7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063240" y="2487168"/>
            <a:ext cx="2487168" cy="2633472"/>
          </a:xfrm>
          <a:prstGeom prst="roundRect">
            <a:avLst>
              <a:gd name="adj" fmla="val 2206"/>
            </a:avLst>
          </a:prstGeom>
          <a:solidFill>
            <a:srgbClr val="F7FB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191256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🩺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66160" y="2651760"/>
            <a:ext cx="184708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S1. 오프라인 의료 정보 상담</a:t>
            </a:r>
            <a:endParaRPr lang="en-US" sz="1350" dirty="0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D1CA4D3-CABE-6030-D386-5845061447A0}"/>
              </a:ext>
            </a:extLst>
          </p:cNvPr>
          <p:cNvGrpSpPr/>
          <p:nvPr/>
        </p:nvGrpSpPr>
        <p:grpSpPr>
          <a:xfrm>
            <a:off x="3227832" y="3026664"/>
            <a:ext cx="2176272" cy="1853680"/>
            <a:chOff x="3227832" y="3026664"/>
            <a:chExt cx="2176272" cy="1179576"/>
          </a:xfrm>
        </p:grpSpPr>
        <p:sp>
          <p:nvSpPr>
            <p:cNvPr id="27" name="Text 25"/>
            <p:cNvSpPr/>
            <p:nvPr/>
          </p:nvSpPr>
          <p:spPr>
            <a:xfrm>
              <a:off x="3227832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392424" y="3026664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“혈압약 먹고 머리가 무거운데…”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227832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392424" y="3337560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기기 내부 의료 도메인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모델이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즉시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응답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227832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392424" y="3648456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진단·처방이 아닌 정보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제공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+ 전문가 상담 권고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3227832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3392424" y="3959352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건강 데이터는 외부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서버로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전송하지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않음</a:t>
              </a:r>
              <a:endParaRPr lang="en-US" sz="1200" dirty="0"/>
            </a:p>
          </p:txBody>
        </p:sp>
      </p:grpSp>
      <p:sp>
        <p:nvSpPr>
          <p:cNvPr id="35" name="Shape 33"/>
          <p:cNvSpPr/>
          <p:nvPr/>
        </p:nvSpPr>
        <p:spPr>
          <a:xfrm>
            <a:off x="5669280" y="3611880"/>
            <a:ext cx="320040" cy="329184"/>
          </a:xfrm>
          <a:prstGeom prst="rightArrow">
            <a:avLst/>
          </a:prstGeom>
          <a:solidFill>
            <a:srgbClr val="0B70C9"/>
          </a:solidFill>
          <a:ln w="12700">
            <a:solidFill>
              <a:srgbClr val="0B7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080760" y="2487168"/>
            <a:ext cx="2487168" cy="2633472"/>
          </a:xfrm>
          <a:prstGeom prst="roundRect">
            <a:avLst>
              <a:gd name="adj" fmla="val 2206"/>
            </a:avLst>
          </a:prstGeom>
          <a:solidFill>
            <a:srgbClr val="F7FB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208776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583680" y="2651760"/>
            <a:ext cx="184708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S2·S3. 복약 관리 / 말동무</a:t>
            </a:r>
            <a:endParaRPr lang="en-US" sz="1350" dirty="0"/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007DDFE-CDDE-2D42-B856-F546E2538829}"/>
              </a:ext>
            </a:extLst>
          </p:cNvPr>
          <p:cNvGrpSpPr/>
          <p:nvPr/>
        </p:nvGrpSpPr>
        <p:grpSpPr>
          <a:xfrm>
            <a:off x="6245352" y="3026664"/>
            <a:ext cx="2176272" cy="1853680"/>
            <a:chOff x="6245352" y="3026664"/>
            <a:chExt cx="2176272" cy="1179576"/>
          </a:xfrm>
        </p:grpSpPr>
        <p:sp>
          <p:nvSpPr>
            <p:cNvPr id="39" name="Text 37"/>
            <p:cNvSpPr/>
            <p:nvPr/>
          </p:nvSpPr>
          <p:spPr>
            <a:xfrm>
              <a:off x="6245352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409944" y="3026664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로컬 라이프 로그로 복약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기록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확인</a:t>
              </a:r>
              <a:endParaRPr lang="en-US" sz="12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245352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409944" y="3337560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중복 복용 방지·복약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누락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리마인드</a:t>
              </a:r>
              <a:endParaRPr lang="en-US" sz="12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245352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409944" y="3648456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일상 대화 이력 기반 연속성 있는 말동무</a:t>
              </a:r>
              <a:endParaRPr lang="en-US" sz="12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245352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6409944" y="3959352"/>
              <a:ext cx="201168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비용 부담 없이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상시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보조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가능</a:t>
              </a:r>
              <a:endParaRPr lang="en-US" sz="1200" dirty="0"/>
            </a:p>
          </p:txBody>
        </p:sp>
      </p:grpSp>
      <p:sp>
        <p:nvSpPr>
          <p:cNvPr id="47" name="Shape 45"/>
          <p:cNvSpPr/>
          <p:nvPr/>
        </p:nvSpPr>
        <p:spPr>
          <a:xfrm>
            <a:off x="8686800" y="3611880"/>
            <a:ext cx="320040" cy="329184"/>
          </a:xfrm>
          <a:prstGeom prst="rightArrow">
            <a:avLst/>
          </a:prstGeom>
          <a:solidFill>
            <a:srgbClr val="0B70C9"/>
          </a:solidFill>
          <a:ln w="12700">
            <a:solidFill>
              <a:srgbClr val="0B7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098280" y="2487168"/>
            <a:ext cx="2532888" cy="2633472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 w="13970">
            <a:solidFill>
              <a:srgbClr val="BBD7F1"/>
            </a:solidFill>
            <a:prstDash val="solid"/>
          </a:ln>
          <a:effectLst>
            <a:outerShdw blurRad="12700" dist="50800" dir="2700000" algn="bl" rotWithShape="0">
              <a:srgbClr val="D5E2F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226296" y="2615184"/>
            <a:ext cx="3474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601200" y="2651760"/>
            <a:ext cx="189280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S4. 클라우드 대비 프라이버시</a:t>
            </a:r>
            <a:endParaRPr lang="en-US" sz="1350" dirty="0"/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13A912E-3B7B-247D-CCF6-AF8C1069CBAF}"/>
              </a:ext>
            </a:extLst>
          </p:cNvPr>
          <p:cNvGrpSpPr/>
          <p:nvPr/>
        </p:nvGrpSpPr>
        <p:grpSpPr>
          <a:xfrm>
            <a:off x="9262872" y="3026664"/>
            <a:ext cx="2221992" cy="1853680"/>
            <a:chOff x="9262872" y="3026664"/>
            <a:chExt cx="2221992" cy="1179576"/>
          </a:xfrm>
        </p:grpSpPr>
        <p:sp>
          <p:nvSpPr>
            <p:cNvPr id="51" name="Text 49"/>
            <p:cNvSpPr/>
            <p:nvPr/>
          </p:nvSpPr>
          <p:spPr>
            <a:xfrm>
              <a:off x="9262872" y="3035808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9427464" y="3026664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클라우드: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발화·건강정보가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서버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처리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대상</a:t>
              </a:r>
              <a:endParaRPr lang="en-US" sz="12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9262872" y="3346704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9427464" y="3337560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우리 방식: 발화 → 기기 내부 처리 → 응답</a:t>
              </a:r>
              <a:endParaRPr lang="en-US" sz="12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9262872" y="3657600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9427464" y="3648456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외부 통신 0건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검증으로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온디바이스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가치 확인</a:t>
              </a:r>
              <a:endParaRPr lang="en-US" sz="12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9262872" y="3968496"/>
              <a:ext cx="137160" cy="18288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B70C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•</a:t>
              </a:r>
              <a:endParaRPr lang="en-US" sz="16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9427464" y="3959352"/>
              <a:ext cx="2057400" cy="24688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가족·사용자의 </a:t>
              </a: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민감정보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b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</a:br>
              <a:r>
                <a:rPr lang="en-US" sz="1200" dirty="0" err="1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노출</a:t>
              </a:r>
              <a:r>
                <a:rPr lang="en-US" sz="1200" dirty="0">
                  <a:solidFill>
                    <a:srgbClr val="20263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우려 완화</a:t>
              </a:r>
              <a:endParaRPr lang="en-US" sz="1200" dirty="0"/>
            </a:p>
          </p:txBody>
        </p:sp>
      </p:grpSp>
      <p:sp>
        <p:nvSpPr>
          <p:cNvPr id="59" name="Shape 57"/>
          <p:cNvSpPr/>
          <p:nvPr/>
        </p:nvSpPr>
        <p:spPr>
          <a:xfrm>
            <a:off x="384048" y="5413248"/>
            <a:ext cx="11247120" cy="804672"/>
          </a:xfrm>
          <a:prstGeom prst="roundRect">
            <a:avLst>
              <a:gd name="adj" fmla="val 5682"/>
            </a:avLst>
          </a:prstGeom>
          <a:solidFill>
            <a:srgbClr val="EEF5FF"/>
          </a:solidFill>
          <a:ln w="1270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576072" y="5504689"/>
            <a:ext cx="91440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연결점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600200" y="5504688"/>
            <a:ext cx="150876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673352" y="5577840"/>
            <a:ext cx="136245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오프라인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664208" y="5879592"/>
            <a:ext cx="1380744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없이 동작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55264" y="5504688"/>
            <a:ext cx="196596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3328416" y="5577840"/>
            <a:ext cx="181965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프라이버시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3319272" y="5879592"/>
            <a:ext cx="183794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건강·대화 데이터 미전송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367528" y="5504688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5440680" y="5577840"/>
            <a:ext cx="172821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도메인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431536" y="5879592"/>
            <a:ext cx="17465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LLM 대비 질의 대응성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388352" y="5504688"/>
            <a:ext cx="187452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461504" y="5577840"/>
            <a:ext cx="172821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KD+Pruning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452360" y="5879592"/>
            <a:ext cx="174650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보급형 기기 탑재 가능성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409176" y="5504688"/>
            <a:ext cx="1600200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8890">
            <a:solidFill>
              <a:srgbClr val="BBD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9482328" y="5577840"/>
            <a:ext cx="1453896" cy="100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0C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라이프 로그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9473184" y="5879592"/>
            <a:ext cx="147218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5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기록 기반 개인화</a:t>
            </a:r>
            <a:endParaRPr lang="en-US" sz="11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35829A7-B99F-F473-6593-A960EF09AB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6D26200-5FCF-DA6B-B29A-8159599F0D23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256</Words>
  <Application>Microsoft Macintosh PowerPoint</Application>
  <PresentationFormat>와이드스크린</PresentationFormat>
  <Paragraphs>57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Pretendard</vt:lpstr>
      <vt:lpstr>Arial</vt:lpstr>
      <vt:lpstr>Office Theme</vt:lpstr>
      <vt:lpstr>PowerPoint 프레젠테이션</vt:lpstr>
    </vt:vector>
  </TitlesOfParts>
  <Company>시니어 온디바이스 헬스케어 지식증류 LLM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실버케어 적용 예시 시나리오</dc:title>
  <dc:subject>섹션 6 — 실버케어 적용 예시 시나리오</dc:subject>
  <dc:creator>OpenAI</dc:creator>
  <cp:lastModifiedBy>박철민</cp:lastModifiedBy>
  <cp:revision>10</cp:revision>
  <dcterms:created xsi:type="dcterms:W3CDTF">2026-06-06T13:07:07Z</dcterms:created>
  <dcterms:modified xsi:type="dcterms:W3CDTF">2026-06-06T13:21:58Z</dcterms:modified>
</cp:coreProperties>
</file>