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85" r:id="rId3"/>
    <p:sldId id="283" r:id="rId4"/>
    <p:sldId id="284" r:id="rId5"/>
    <p:sldId id="286" r:id="rId6"/>
    <p:sldId id="261" r:id="rId7"/>
    <p:sldId id="262" r:id="rId8"/>
    <p:sldId id="263" r:id="rId9"/>
    <p:sldId id="287" r:id="rId10"/>
    <p:sldId id="265" r:id="rId11"/>
    <p:sldId id="266" r:id="rId12"/>
    <p:sldId id="300" r:id="rId13"/>
    <p:sldId id="301" r:id="rId14"/>
    <p:sldId id="257" r:id="rId15"/>
    <p:sldId id="302" r:id="rId16"/>
    <p:sldId id="303" r:id="rId17"/>
    <p:sldId id="308" r:id="rId18"/>
    <p:sldId id="304" r:id="rId19"/>
    <p:sldId id="305" r:id="rId20"/>
    <p:sldId id="289" r:id="rId21"/>
    <p:sldId id="280" r:id="rId22"/>
    <p:sldId id="282" r:id="rId23"/>
    <p:sldId id="307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3037"/>
    <a:srgbClr val="151922"/>
    <a:srgbClr val="EEF5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25"/>
  </p:normalViewPr>
  <p:slideViewPr>
    <p:cSldViewPr snapToGrid="0">
      <p:cViewPr varScale="1">
        <p:scale>
          <a:sx n="93" d="100"/>
          <a:sy n="93" d="100"/>
        </p:scale>
        <p:origin x="24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2460-5D6C-AA7C-CE6B-8393AA29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4B2A4-D83C-4371-2AD2-0A9736C15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8A28A-02F2-E83B-1EFD-F23CDEF4B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44971-9BC2-0CF0-2CA9-85EC16C666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1832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729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434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57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2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84A1-0F9D-14E5-9F86-888B682D1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181E9-88DC-8591-3AD2-EB1C791C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59161-B1CC-35CA-F9A2-A139E498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8ACC-1910-4C5B-ABC4-B0A3D198528A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E6BCD-8FEC-944D-A819-86CEC2DD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773C-78ED-FD50-DFAF-90BBB035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106F-011B-4518-BF39-7FBC1FA63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9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77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02A1EC-A385-4446-8D58-C92D912B5B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9ED9E2-658B-4374-ADF5-AE76CCF7A1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DD8DA3-CB87-487D-9B73-8D739A51DAE0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17C169-48EF-4E9A-9B52-C0F6FEA31438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 / 27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BC235C-771A-4498-9418-A6A7ADCDF1C9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2095500" cy="228600"/>
          </a:xfrm>
          <a:prstGeom prst="rect">
            <a:avLst/>
          </a:prstGeom>
          <a:solidFill>
            <a:srgbClr val="1F3A6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B7D3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B7D3FF"/>
                </a:solidFill>
                <a:latin typeface="Pretendard"/>
                <a:ea typeface="Pretendard"/>
                <a:cs typeface="Pretendard"/>
              </a:rPr>
              <a:t>TEAM PROJECT PLAN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C1AFC2-7E79-4C59-93CE-1E27530FB7EF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7239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36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6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증류 기반 경량 언어모델 연구</a:t>
            </a:r>
            <a:endParaRPr lang="en-US" altLang="ko-KR" sz="36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br>
              <a:rPr lang="en-US" altLang="ko-KR" sz="1700" b="1" dirty="0">
                <a:ea typeface="Pretendard SemiBold"/>
                <a:cs typeface="Pretendard SemiBold"/>
              </a:rPr>
            </a:br>
            <a:r>
              <a:rPr lang="en-US" altLang="ko-KR" sz="1700" b="1" dirty="0">
                <a:ea typeface="Pretendard SemiBold"/>
                <a:cs typeface="Pretendard SemiBold"/>
              </a:rPr>
              <a:t>-</a:t>
            </a:r>
            <a:r>
              <a:rPr lang="ko-KR" altLang="en-US" sz="1700" b="1" dirty="0">
                <a:ea typeface="Pretendard SemiBold"/>
                <a:cs typeface="Pretendard SemiBold"/>
              </a:rPr>
              <a:t> </a:t>
            </a:r>
            <a:r>
              <a:rPr lang="ko-KR" altLang="en-US" sz="1700" b="1" dirty="0" err="1">
                <a:ea typeface="Pretendard SemiBold"/>
                <a:cs typeface="Pretendard SemiBold"/>
              </a:rPr>
              <a:t>실버케어</a:t>
            </a:r>
            <a:r>
              <a:rPr lang="ko-KR" altLang="en-US" sz="1700" b="1" dirty="0">
                <a:ea typeface="Pretendard SemiBold"/>
                <a:cs typeface="Pretendard SemiBold"/>
              </a:rPr>
              <a:t> </a:t>
            </a:r>
            <a:r>
              <a:rPr lang="ko-KR" altLang="en-US" sz="1700" b="1" dirty="0" err="1">
                <a:ea typeface="Pretendard SemiBold"/>
                <a:cs typeface="Pretendard SemiBold"/>
              </a:rPr>
              <a:t>온디바이스</a:t>
            </a:r>
            <a:r>
              <a:rPr lang="ko-KR" altLang="en-US" sz="1700" b="1" dirty="0">
                <a:ea typeface="Pretendard SemiBold"/>
                <a:cs typeface="Pretendard SemiBold"/>
              </a:rPr>
              <a:t> </a:t>
            </a:r>
            <a:r>
              <a:rPr lang="en" altLang="ko-KR" sz="1700" b="1" dirty="0">
                <a:ea typeface="Pretendard SemiBold"/>
                <a:cs typeface="Pretendard SemiBold"/>
              </a:rPr>
              <a:t>AI</a:t>
            </a:r>
            <a:endParaRPr lang="ko-KR" altLang="en-US" sz="1700" b="1" dirty="0">
              <a:ea typeface="Pretendard SemiBold"/>
              <a:cs typeface="Pretendard SemiBold"/>
            </a:endParaRPr>
          </a:p>
          <a:p>
            <a: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 sz="36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1D691652-8C28-714F-FA17-F6F77D4C0334}"/>
              </a:ext>
            </a:extLst>
          </p:cNvPr>
          <p:cNvSpPr/>
          <p:nvPr/>
        </p:nvSpPr>
        <p:spPr>
          <a:xfrm>
            <a:off x="777240" y="370332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20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177800" rtlCol="0" anchor="ctr"/>
          <a:lstStyle/>
          <a:p>
            <a:pPr algn="ctr">
              <a:lnSpc>
                <a:spcPct val="112000"/>
              </a:lnSpc>
            </a:pPr>
            <a:r>
              <a:rPr sz="145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연구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주제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=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지식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증류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기반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경량화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  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·   </a:t>
            </a:r>
            <a:r>
              <a:rPr sz="145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적용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sz="145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=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실버케어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온디바이스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결과의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가치를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  <a:r>
              <a:rPr sz="14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D987-D3B4-382A-1183-9B25E48FDB63}"/>
              </a:ext>
            </a:extLst>
          </p:cNvPr>
          <p:cNvSpPr txBox="1"/>
          <p:nvPr/>
        </p:nvSpPr>
        <p:spPr>
          <a:xfrm>
            <a:off x="777240" y="5212080"/>
            <a:ext cx="10515600" cy="22557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팀</a:t>
            </a:r>
            <a:r>
              <a:rPr sz="130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구성</a:t>
            </a:r>
            <a:r>
              <a:rPr sz="1300" b="1" dirty="0">
                <a:solidFill>
                  <a:srgbClr val="CADCFC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남궁철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황영민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홍윤표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박철민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서현범</a:t>
            </a:r>
            <a:r>
              <a:rPr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박형욱</a:t>
            </a:r>
            <a:r>
              <a:rPr lang="ko-KR" altLang="en-US" sz="13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30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정길량</a:t>
            </a:r>
            <a:endParaRPr sz="1300" b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0C9986-8E5A-8046-F742-BA5BB10D7C96}"/>
              </a:ext>
            </a:extLst>
          </p:cNvPr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6C2"/>
                </a:solidFill>
                <a:latin typeface="Pretendard"/>
                <a:ea typeface="Pretendard"/>
                <a:cs typeface="Pretendard"/>
              </a:rPr>
              <a:t>2026. 06   |   인공지능융합대학원 팀 프로젝트</a:t>
            </a:r>
          </a:p>
        </p:txBody>
      </p:sp>
    </p:spTree>
    <p:extLst>
      <p:ext uri="{BB962C8B-B14F-4D97-AF65-F5344CB8AC3E}">
        <p14:creationId xmlns:p14="http://schemas.microsoft.com/office/powerpoint/2010/main" val="164667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26763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경량화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연구와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적용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분야의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관계를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정의한다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CCCFFA-9435-96EB-6DF4-8FE58B5CECAF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DA3CB7-9A97-4B15-8EB4-64ECEA2518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637C1E-5548-4559-B5B2-72C8662B81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12C630-9436-48C0-A601-256E6558DCA4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1A0AC3-97A2-4F29-A26B-6D04A8F55D6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4A1554-33A7-46F3-8A5B-A9F5F544FB6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A19303-3975-4C30-B4E3-B7A1F86C6A3F}"/>
              </a:ext>
            </a:extLst>
          </p:cNvPr>
          <p:cNvSpPr>
            <a:spLocks noGrp="1"/>
          </p:cNvSpPr>
          <p:nvPr/>
        </p:nvSpPr>
        <p:spPr>
          <a:xfrm>
            <a:off x="400050" y="1552921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SOTA 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기술이 집중하지 않는 </a:t>
            </a:r>
            <a:r>
              <a:rPr lang="en-US" altLang="ko-KR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‘</a:t>
            </a:r>
            <a:r>
              <a:rPr lang="ko-KR" altLang="en-US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특정 분야를 위한 경량화</a:t>
            </a:r>
            <a:r>
              <a:rPr lang="en-US" altLang="ko-KR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’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 더 의미 있을 것으로 판단</a:t>
            </a:r>
            <a:endParaRPr sz="1313" b="1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E2414-4FE2-4B45-8F04-FBF1381BE479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lang="en-US"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5A0204F5-382F-3A6A-3DE4-9B534C5F98B1}"/>
              </a:ext>
            </a:extLst>
          </p:cNvPr>
          <p:cNvSpPr/>
          <p:nvPr/>
        </p:nvSpPr>
        <p:spPr>
          <a:xfrm>
            <a:off x="40141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C2D8EE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D9CF0927-2BC7-7E07-8AD8-191C5B207281}"/>
              </a:ext>
            </a:extLst>
          </p:cNvPr>
          <p:cNvSpPr/>
          <p:nvPr/>
        </p:nvSpPr>
        <p:spPr>
          <a:xfrm>
            <a:off x="610960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</a:t>
            </a:r>
            <a:endParaRPr lang="en-US" sz="1900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01DF31AF-179F-C2B1-31EA-8FA8ED72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30" y="2704193"/>
            <a:ext cx="960120" cy="960120"/>
          </a:xfrm>
          <a:prstGeom prst="rect">
            <a:avLst/>
          </a:prstGeom>
        </p:spPr>
      </p:pic>
      <p:sp>
        <p:nvSpPr>
          <p:cNvPr id="43" name="Shape 6">
            <a:extLst>
              <a:ext uri="{FF2B5EF4-FFF2-40B4-BE49-F238E27FC236}">
                <a16:creationId xmlns:a16="http://schemas.microsoft.com/office/drawing/2014/main" id="{3151D8A9-638D-2E00-7414-ADAD6C263D8C}"/>
              </a:ext>
            </a:extLst>
          </p:cNvPr>
          <p:cNvSpPr/>
          <p:nvPr/>
        </p:nvSpPr>
        <p:spPr>
          <a:xfrm>
            <a:off x="630010" y="4026263"/>
            <a:ext cx="1508760" cy="0"/>
          </a:xfrm>
          <a:prstGeom prst="line">
            <a:avLst/>
          </a:prstGeom>
          <a:noFill/>
          <a:ln w="12700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B9EA218A-93A5-7EF4-ACA9-418B75448E0E}"/>
              </a:ext>
            </a:extLst>
          </p:cNvPr>
          <p:cNvSpPr/>
          <p:nvPr/>
        </p:nvSpPr>
        <p:spPr>
          <a:xfrm>
            <a:off x="525018" y="4082288"/>
            <a:ext cx="1618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초대형 언어 모델이 일상이 된 상황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 모델 경량화를 직접 해보고 싶다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생각에서 시작</a:t>
            </a:r>
            <a:endParaRPr lang="en-US" sz="145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04F5C564-C22B-C1FB-F1B5-1FE52F3B916E}"/>
              </a:ext>
            </a:extLst>
          </p:cNvPr>
          <p:cNvSpPr/>
          <p:nvPr/>
        </p:nvSpPr>
        <p:spPr>
          <a:xfrm>
            <a:off x="277885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FD7EE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A68A77C9-E89B-3E63-711F-B584A00929ED}"/>
              </a:ext>
            </a:extLst>
          </p:cNvPr>
          <p:cNvSpPr/>
          <p:nvPr/>
        </p:nvSpPr>
        <p:spPr>
          <a:xfrm>
            <a:off x="2961730" y="217612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DFBDFEC7-A0F6-2186-20FD-578CF46FAE29}"/>
              </a:ext>
            </a:extLst>
          </p:cNvPr>
          <p:cNvSpPr/>
          <p:nvPr/>
        </p:nvSpPr>
        <p:spPr>
          <a:xfrm>
            <a:off x="2994496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9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B1453E2B-A123-1777-6B05-CB8FDF16D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770" y="2704193"/>
            <a:ext cx="960120" cy="960120"/>
          </a:xfrm>
          <a:prstGeom prst="rect">
            <a:avLst/>
          </a:prstGeom>
        </p:spPr>
      </p:pic>
      <p:sp>
        <p:nvSpPr>
          <p:cNvPr id="50" name="Shape 12">
            <a:extLst>
              <a:ext uri="{FF2B5EF4-FFF2-40B4-BE49-F238E27FC236}">
                <a16:creationId xmlns:a16="http://schemas.microsoft.com/office/drawing/2014/main" id="{0888AC8A-53A3-C48C-12BC-328B0753BD52}"/>
              </a:ext>
            </a:extLst>
          </p:cNvPr>
          <p:cNvSpPr/>
          <p:nvPr/>
        </p:nvSpPr>
        <p:spPr>
          <a:xfrm>
            <a:off x="3007450" y="4026263"/>
            <a:ext cx="1508760" cy="0"/>
          </a:xfrm>
          <a:prstGeom prst="line">
            <a:avLst/>
          </a:prstGeom>
          <a:noFill/>
          <a:ln w="1270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757C13CA-B519-B9C7-04AB-3E9DCCA02F46}"/>
              </a:ext>
            </a:extLst>
          </p:cNvPr>
          <p:cNvSpPr/>
          <p:nvPr/>
        </p:nvSpPr>
        <p:spPr>
          <a:xfrm>
            <a:off x="2902458" y="4082288"/>
            <a:ext cx="1618488" cy="176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논문과 자료를 검토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많은 경량화 연구가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중임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파악</a:t>
            </a:r>
            <a:endParaRPr lang="en-US" sz="1450" dirty="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A5579FCB-A915-9F3A-F2AC-1BB964401392}"/>
              </a:ext>
            </a:extLst>
          </p:cNvPr>
          <p:cNvSpPr/>
          <p:nvPr/>
        </p:nvSpPr>
        <p:spPr>
          <a:xfrm>
            <a:off x="515629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CD8EF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78C2F9F0-284D-5682-11E7-710A1A6F6129}"/>
              </a:ext>
            </a:extLst>
          </p:cNvPr>
          <p:cNvSpPr/>
          <p:nvPr/>
        </p:nvSpPr>
        <p:spPr>
          <a:xfrm>
            <a:off x="5353648" y="2100580"/>
            <a:ext cx="12656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</a:t>
            </a:r>
            <a:r>
              <a:rPr lang="ko-KR" altLang="en-US" sz="19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</a:t>
            </a:r>
            <a:endParaRPr lang="en-US" sz="1900" dirty="0"/>
          </a:p>
        </p:txBody>
      </p:sp>
      <p:pic>
        <p:nvPicPr>
          <p:cNvPr id="56" name="Image 2" descr="preencoded.png">
            <a:extLst>
              <a:ext uri="{FF2B5EF4-FFF2-40B4-BE49-F238E27FC236}">
                <a16:creationId xmlns:a16="http://schemas.microsoft.com/office/drawing/2014/main" id="{D1F97241-1E32-0F8A-BAD2-3463B2694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210" y="2704193"/>
            <a:ext cx="960120" cy="960120"/>
          </a:xfrm>
          <a:prstGeom prst="rect">
            <a:avLst/>
          </a:prstGeom>
        </p:spPr>
      </p:pic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D2F3B189-6982-1B79-1E77-770FD04F5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618" y="3435713"/>
            <a:ext cx="310896" cy="310896"/>
          </a:xfrm>
          <a:prstGeom prst="rect">
            <a:avLst/>
          </a:prstGeom>
        </p:spPr>
      </p:pic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F2E6FDEB-F068-4DD9-BE06-4627561EE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026" y="3435713"/>
            <a:ext cx="310896" cy="310896"/>
          </a:xfrm>
          <a:prstGeom prst="rect">
            <a:avLst/>
          </a:prstGeom>
        </p:spPr>
      </p:pic>
      <p:sp>
        <p:nvSpPr>
          <p:cNvPr id="59" name="Shape 18">
            <a:extLst>
              <a:ext uri="{FF2B5EF4-FFF2-40B4-BE49-F238E27FC236}">
                <a16:creationId xmlns:a16="http://schemas.microsoft.com/office/drawing/2014/main" id="{263E2FE6-E9D0-FFF6-59C4-D7903D113C9B}"/>
              </a:ext>
            </a:extLst>
          </p:cNvPr>
          <p:cNvSpPr/>
          <p:nvPr/>
        </p:nvSpPr>
        <p:spPr>
          <a:xfrm>
            <a:off x="5384890" y="4026263"/>
            <a:ext cx="1508760" cy="0"/>
          </a:xfrm>
          <a:prstGeom prst="line">
            <a:avLst/>
          </a:prstGeom>
          <a:noFill/>
          <a:ln w="12700">
            <a:solidFill>
              <a:srgbClr val="BCD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AEAA56AA-7351-4D7A-CEB5-B5C5A916526E}"/>
              </a:ext>
            </a:extLst>
          </p:cNvPr>
          <p:cNvSpPr/>
          <p:nvPr/>
        </p:nvSpPr>
        <p:spPr>
          <a:xfrm>
            <a:off x="5279898" y="4082288"/>
            <a:ext cx="1618488" cy="149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단기간 프로젝트로 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SOTA 수준 추격은 어려움</a:t>
            </a:r>
            <a:endParaRPr lang="en-US" sz="1450" b="1" dirty="0">
              <a:solidFill>
                <a:srgbClr val="0070C0"/>
              </a:solidFill>
            </a:endParaRPr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현실적인 범위 설정이 필요</a:t>
            </a:r>
            <a:endParaRPr lang="en-US" sz="1450" dirty="0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A811DDB7-E7EA-762D-FF61-AAF44F489EF1}"/>
              </a:ext>
            </a:extLst>
          </p:cNvPr>
          <p:cNvSpPr/>
          <p:nvPr/>
        </p:nvSpPr>
        <p:spPr>
          <a:xfrm>
            <a:off x="7533730" y="2043158"/>
            <a:ext cx="1965960" cy="3957593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CDAF0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6498161E-88ED-9D4C-F041-85CF1452C02A}"/>
              </a:ext>
            </a:extLst>
          </p:cNvPr>
          <p:cNvSpPr/>
          <p:nvPr/>
        </p:nvSpPr>
        <p:spPr>
          <a:xfrm>
            <a:off x="7740613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 전환</a:t>
            </a:r>
            <a:endParaRPr lang="en-US" sz="1900" dirty="0"/>
          </a:p>
        </p:txBody>
      </p:sp>
      <p:pic>
        <p:nvPicPr>
          <p:cNvPr id="65" name="Image 5" descr="preencoded.png">
            <a:extLst>
              <a:ext uri="{FF2B5EF4-FFF2-40B4-BE49-F238E27FC236}">
                <a16:creationId xmlns:a16="http://schemas.microsoft.com/office/drawing/2014/main" id="{210BCB1F-0AAC-0723-532D-E7AE3AA076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6650" y="2704193"/>
            <a:ext cx="960120" cy="960120"/>
          </a:xfrm>
          <a:prstGeom prst="rect">
            <a:avLst/>
          </a:prstGeom>
        </p:spPr>
      </p:pic>
      <p:sp>
        <p:nvSpPr>
          <p:cNvPr id="66" name="Shape 24">
            <a:extLst>
              <a:ext uri="{FF2B5EF4-FFF2-40B4-BE49-F238E27FC236}">
                <a16:creationId xmlns:a16="http://schemas.microsoft.com/office/drawing/2014/main" id="{9CCD0FAB-BA6E-0CE2-5824-75FC92176AA4}"/>
              </a:ext>
            </a:extLst>
          </p:cNvPr>
          <p:cNvSpPr/>
          <p:nvPr/>
        </p:nvSpPr>
        <p:spPr>
          <a:xfrm>
            <a:off x="7762330" y="4026263"/>
            <a:ext cx="1508760" cy="0"/>
          </a:xfrm>
          <a:prstGeom prst="line">
            <a:avLst/>
          </a:prstGeom>
          <a:noFill/>
          <a:ln w="12700">
            <a:solidFill>
              <a:srgbClr val="BCDA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9C0513E5-2349-C7C0-0DEC-EE5664A06007}"/>
              </a:ext>
            </a:extLst>
          </p:cNvPr>
          <p:cNvSpPr/>
          <p:nvPr/>
        </p:nvSpPr>
        <p:spPr>
          <a:xfrm>
            <a:off x="7657338" y="4082289"/>
            <a:ext cx="1618488" cy="168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SOTA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경량화보다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확한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 목적을 가진 모델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경량화에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</a:t>
            </a:r>
            <a:r>
              <a:rPr lang="ko-KR" alt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것이 더 바람직할 것으로 판단</a:t>
            </a:r>
            <a:endParaRPr lang="en-US" sz="1450" dirty="0"/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955C7678-7A74-B9DE-E9D1-C96CD1558FEA}"/>
              </a:ext>
            </a:extLst>
          </p:cNvPr>
          <p:cNvSpPr/>
          <p:nvPr/>
        </p:nvSpPr>
        <p:spPr>
          <a:xfrm>
            <a:off x="991117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EDCF1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Text 29">
            <a:extLst>
              <a:ext uri="{FF2B5EF4-FFF2-40B4-BE49-F238E27FC236}">
                <a16:creationId xmlns:a16="http://schemas.microsoft.com/office/drawing/2014/main" id="{D7562EFC-E08E-1BFC-D3F8-01BC680686D8}"/>
              </a:ext>
            </a:extLst>
          </p:cNvPr>
          <p:cNvSpPr/>
          <p:nvPr/>
        </p:nvSpPr>
        <p:spPr>
          <a:xfrm>
            <a:off x="10127578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2992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900" dirty="0"/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EE58C24F-0929-D5D7-A7F0-19DC14B637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4090" y="2704193"/>
            <a:ext cx="960120" cy="960120"/>
          </a:xfrm>
          <a:prstGeom prst="rect">
            <a:avLst/>
          </a:prstGeom>
        </p:spPr>
      </p:pic>
      <p:sp>
        <p:nvSpPr>
          <p:cNvPr id="73" name="Shape 30">
            <a:extLst>
              <a:ext uri="{FF2B5EF4-FFF2-40B4-BE49-F238E27FC236}">
                <a16:creationId xmlns:a16="http://schemas.microsoft.com/office/drawing/2014/main" id="{B52F51AD-AF84-2CA3-1CA1-9F02402894E2}"/>
              </a:ext>
            </a:extLst>
          </p:cNvPr>
          <p:cNvSpPr/>
          <p:nvPr/>
        </p:nvSpPr>
        <p:spPr>
          <a:xfrm>
            <a:off x="10139770" y="4026263"/>
            <a:ext cx="1508760" cy="0"/>
          </a:xfrm>
          <a:prstGeom prst="line">
            <a:avLst/>
          </a:prstGeom>
          <a:noFill/>
          <a:ln w="12700">
            <a:solidFill>
              <a:srgbClr val="BEDC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6C007CDD-41A8-5951-0E69-9AF5C1B58784}"/>
              </a:ext>
            </a:extLst>
          </p:cNvPr>
          <p:cNvSpPr/>
          <p:nvPr/>
        </p:nvSpPr>
        <p:spPr>
          <a:xfrm>
            <a:off x="10034778" y="4082288"/>
            <a:ext cx="1618488" cy="85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 가치가 돋보일 수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450" dirty="0"/>
          </a:p>
        </p:txBody>
      </p:sp>
      <p:sp>
        <p:nvSpPr>
          <p:cNvPr id="75" name="Shape 32">
            <a:extLst>
              <a:ext uri="{FF2B5EF4-FFF2-40B4-BE49-F238E27FC236}">
                <a16:creationId xmlns:a16="http://schemas.microsoft.com/office/drawing/2014/main" id="{7BBFC60B-4AAB-7A90-2360-FA4F1C4D1FD1}"/>
              </a:ext>
            </a:extLst>
          </p:cNvPr>
          <p:cNvSpPr/>
          <p:nvPr/>
        </p:nvSpPr>
        <p:spPr>
          <a:xfrm>
            <a:off x="2394802" y="3838811"/>
            <a:ext cx="356616" cy="512064"/>
          </a:xfrm>
          <a:prstGeom prst="right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47755B0E-1F48-B37F-0DE5-D8CF8020FC94}"/>
              </a:ext>
            </a:extLst>
          </p:cNvPr>
          <p:cNvSpPr/>
          <p:nvPr/>
        </p:nvSpPr>
        <p:spPr>
          <a:xfrm>
            <a:off x="4772242" y="3838811"/>
            <a:ext cx="356616" cy="512064"/>
          </a:xfrm>
          <a:prstGeom prst="rightArrow">
            <a:avLst/>
          </a:prstGeom>
          <a:solidFill>
            <a:srgbClr val="1461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192A42D4-334A-8A82-A801-A9F5DB7C7884}"/>
              </a:ext>
            </a:extLst>
          </p:cNvPr>
          <p:cNvSpPr/>
          <p:nvPr/>
        </p:nvSpPr>
        <p:spPr>
          <a:xfrm>
            <a:off x="7149682" y="3838811"/>
            <a:ext cx="356616" cy="512064"/>
          </a:xfrm>
          <a:prstGeom prst="rightArrow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AB94729B-F91A-8381-01B4-7932758CA2BA}"/>
              </a:ext>
            </a:extLst>
          </p:cNvPr>
          <p:cNvSpPr/>
          <p:nvPr/>
        </p:nvSpPr>
        <p:spPr>
          <a:xfrm>
            <a:off x="9527122" y="3838811"/>
            <a:ext cx="356616" cy="512064"/>
          </a:xfrm>
          <a:prstGeom prst="rightArrow">
            <a:avLst/>
          </a:prstGeom>
          <a:solidFill>
            <a:srgbClr val="2185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A11741-81A0-D765-524C-7B0F55D10F88}"/>
              </a:ext>
            </a:extLst>
          </p:cNvPr>
          <p:cNvSpPr>
            <a:spLocks noGrp="1"/>
          </p:cNvSpPr>
          <p:nvPr/>
        </p:nvSpPr>
        <p:spPr>
          <a:xfrm>
            <a:off x="400050" y="885825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Motivation: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 경량화를 해보고 싶다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706161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8736-E4F2-3475-BCC7-8714AE6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EFD2F0-D467-4E9F-7127-C1A9FAB37755}"/>
              </a:ext>
            </a:extLst>
          </p:cNvPr>
          <p:cNvSpPr>
            <a:spLocks noGrp="1"/>
          </p:cNvSpPr>
          <p:nvPr/>
        </p:nvSpPr>
        <p:spPr>
          <a:xfrm>
            <a:off x="-5842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84D9C6-F9D6-E890-FAA7-0A1B6E350A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86F7D5-9DFD-DC6C-E078-998E9E3A4155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5EC9FA-01CA-221C-0236-B913975D8A0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4813FA-15C4-9CEF-BE9C-83D2421D6A3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C3D153-E146-E58D-5CB3-87AB45DFC22B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lang="en-US" sz="713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173DD3C-979B-B7F3-1616-1A6A9F7008C3}"/>
              </a:ext>
            </a:extLst>
          </p:cNvPr>
          <p:cNvSpPr/>
          <p:nvPr/>
        </p:nvSpPr>
        <p:spPr>
          <a:xfrm>
            <a:off x="402336" y="1463040"/>
            <a:ext cx="1128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1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경량화가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1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선택이 아닌 필수</a:t>
            </a:r>
            <a:r>
              <a:rPr lang="ko-KR" altLang="en-US" sz="131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되</a:t>
            </a:r>
            <a:r>
              <a:rPr lang="en-US" sz="131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환경을 기준으로, </a:t>
            </a:r>
            <a:r>
              <a:rPr lang="en-US" sz="131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제약(연결성·연산)을 동시에·강하게 만족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대표 시나리오 도출</a:t>
            </a:r>
            <a:endParaRPr lang="en-US" sz="131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9A13F29-A574-5C95-4D15-EDF8609FE9C4}"/>
              </a:ext>
            </a:extLst>
          </p:cNvPr>
          <p:cNvSpPr/>
          <p:nvPr/>
        </p:nvSpPr>
        <p:spPr>
          <a:xfrm>
            <a:off x="40233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9A28FF-EE1C-A0B6-A839-24345A49EC40}"/>
              </a:ext>
            </a:extLst>
          </p:cNvPr>
          <p:cNvSpPr/>
          <p:nvPr/>
        </p:nvSpPr>
        <p:spPr>
          <a:xfrm>
            <a:off x="530733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</a:t>
            </a:r>
            <a:r>
              <a:rPr lang="en-US" sz="15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endParaRPr lang="en-US" sz="15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072E30F-A90A-7679-85EA-86556B33942D}"/>
              </a:ext>
            </a:extLst>
          </p:cNvPr>
          <p:cNvSpPr/>
          <p:nvPr/>
        </p:nvSpPr>
        <p:spPr>
          <a:xfrm>
            <a:off x="330555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E8EAE44-0C79-1EF5-0864-071BAD86A814}"/>
              </a:ext>
            </a:extLst>
          </p:cNvPr>
          <p:cNvSpPr/>
          <p:nvPr/>
        </p:nvSpPr>
        <p:spPr>
          <a:xfrm>
            <a:off x="3488436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분야 선정 기준</a:t>
            </a:r>
            <a:endParaRPr lang="en-US" sz="15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757D48C-E54C-9856-C651-ECF4AF2D97CB}"/>
              </a:ext>
            </a:extLst>
          </p:cNvPr>
          <p:cNvSpPr/>
          <p:nvPr/>
        </p:nvSpPr>
        <p:spPr>
          <a:xfrm>
            <a:off x="620877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F442527-6BFD-1110-1E0E-056EBB2602B1}"/>
              </a:ext>
            </a:extLst>
          </p:cNvPr>
          <p:cNvSpPr/>
          <p:nvPr/>
        </p:nvSpPr>
        <p:spPr>
          <a:xfrm>
            <a:off x="6402324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시나리오 비교</a:t>
            </a:r>
            <a:endParaRPr lang="en-US" sz="15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CCD8D41-C7C6-737E-A177-0B9CBE69F7E5}"/>
              </a:ext>
            </a:extLst>
          </p:cNvPr>
          <p:cNvSpPr/>
          <p:nvPr/>
        </p:nvSpPr>
        <p:spPr>
          <a:xfrm>
            <a:off x="911199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2ECBC74-D141-2578-1365-F69700E3C8E5}"/>
              </a:ext>
            </a:extLst>
          </p:cNvPr>
          <p:cNvSpPr/>
          <p:nvPr/>
        </p:nvSpPr>
        <p:spPr>
          <a:xfrm>
            <a:off x="9278112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AI 선정 이유</a:t>
            </a:r>
            <a:endParaRPr lang="en-US" sz="15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D14D97F-5675-6D27-3040-974A356AE25D}"/>
              </a:ext>
            </a:extLst>
          </p:cNvPr>
          <p:cNvSpPr/>
          <p:nvPr/>
        </p:nvSpPr>
        <p:spPr>
          <a:xfrm>
            <a:off x="521208" y="2443607"/>
            <a:ext cx="1122426" cy="1986534"/>
          </a:xfrm>
          <a:prstGeom prst="roundRect">
            <a:avLst>
              <a:gd name="adj" fmla="val 4073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712313-0264-4533-2DF6-4BF7664C3D83}"/>
              </a:ext>
            </a:extLst>
          </p:cNvPr>
          <p:cNvSpPr/>
          <p:nvPr/>
        </p:nvSpPr>
        <p:spPr>
          <a:xfrm>
            <a:off x="521208" y="2443607"/>
            <a:ext cx="1122426" cy="237744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DEB1188-179D-7A8A-BBCB-1CB33C5BFC21}"/>
              </a:ext>
            </a:extLst>
          </p:cNvPr>
          <p:cNvSpPr/>
          <p:nvPr/>
        </p:nvSpPr>
        <p:spPr>
          <a:xfrm>
            <a:off x="521208" y="2571623"/>
            <a:ext cx="1122426" cy="1097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518917-AE15-66A3-1D2B-5D4C7805029E}"/>
              </a:ext>
            </a:extLst>
          </p:cNvPr>
          <p:cNvSpPr/>
          <p:nvPr/>
        </p:nvSpPr>
        <p:spPr>
          <a:xfrm>
            <a:off x="521208" y="2443607"/>
            <a:ext cx="112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없는 환경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3212DCE5-AC28-71E1-3330-B1F065F6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2745359"/>
            <a:ext cx="384048" cy="384048"/>
          </a:xfrm>
          <a:prstGeom prst="rect">
            <a:avLst/>
          </a:prstGeom>
        </p:spPr>
      </p:pic>
      <p:sp>
        <p:nvSpPr>
          <p:cNvPr id="33" name="Text 30">
            <a:extLst>
              <a:ext uri="{FF2B5EF4-FFF2-40B4-BE49-F238E27FC236}">
                <a16:creationId xmlns:a16="http://schemas.microsoft.com/office/drawing/2014/main" id="{608547FE-13F6-5E9B-1287-EBBD6A4238FF}"/>
              </a:ext>
            </a:extLst>
          </p:cNvPr>
          <p:cNvSpPr/>
          <p:nvPr/>
        </p:nvSpPr>
        <p:spPr>
          <a:xfrm>
            <a:off x="605790" y="3201035"/>
            <a:ext cx="10378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원활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 충분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모델·클라우드 추론으로 대체 가능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실익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작음</a:t>
            </a:r>
            <a:endParaRPr lang="en-US" sz="9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28D0660-5F9A-A27E-FC08-0FE4E0DAA88D}"/>
              </a:ext>
            </a:extLst>
          </p:cNvPr>
          <p:cNvSpPr/>
          <p:nvPr/>
        </p:nvSpPr>
        <p:spPr>
          <a:xfrm>
            <a:off x="1735074" y="2443607"/>
            <a:ext cx="1122426" cy="1986534"/>
          </a:xfrm>
          <a:prstGeom prst="roundRect">
            <a:avLst>
              <a:gd name="adj" fmla="val 4073"/>
            </a:avLst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6092F74-32C8-D69D-93C1-CD01CB482F49}"/>
              </a:ext>
            </a:extLst>
          </p:cNvPr>
          <p:cNvSpPr/>
          <p:nvPr/>
        </p:nvSpPr>
        <p:spPr>
          <a:xfrm>
            <a:off x="1739835" y="2446783"/>
            <a:ext cx="1112902" cy="237744"/>
          </a:xfrm>
          <a:prstGeom prst="roundRect">
            <a:avLst>
              <a:gd name="adj" fmla="val 19231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E221DECE-303D-5037-991E-EA40BC4C63C9}"/>
              </a:ext>
            </a:extLst>
          </p:cNvPr>
          <p:cNvSpPr/>
          <p:nvPr/>
        </p:nvSpPr>
        <p:spPr>
          <a:xfrm>
            <a:off x="1739835" y="2581149"/>
            <a:ext cx="1112902" cy="10972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CC73D9DC-CCB1-1B1C-C4D8-BDA71ACE1B34}"/>
              </a:ext>
            </a:extLst>
          </p:cNvPr>
          <p:cNvSpPr/>
          <p:nvPr/>
        </p:nvSpPr>
        <p:spPr>
          <a:xfrm>
            <a:off x="1735074" y="2443607"/>
            <a:ext cx="112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환경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8E938F11-FB36-C02B-5B7F-F7D72C036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263" y="2745359"/>
            <a:ext cx="384048" cy="384048"/>
          </a:xfrm>
          <a:prstGeom prst="rect">
            <a:avLst/>
          </a:prstGeom>
        </p:spPr>
      </p:pic>
      <p:sp>
        <p:nvSpPr>
          <p:cNvPr id="40" name="Text 35">
            <a:extLst>
              <a:ext uri="{FF2B5EF4-FFF2-40B4-BE49-F238E27FC236}">
                <a16:creationId xmlns:a16="http://schemas.microsoft.com/office/drawing/2014/main" id="{163101F2-2BC1-64BB-E093-B31427091042}"/>
              </a:ext>
            </a:extLst>
          </p:cNvPr>
          <p:cNvSpPr/>
          <p:nvPr/>
        </p:nvSpPr>
        <p:spPr>
          <a:xfrm>
            <a:off x="1777365" y="3201035"/>
            <a:ext cx="1087755" cy="869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오프라인·온디바이스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자원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전송 없이 처리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선택이 아닌 필수</a:t>
            </a:r>
            <a:endParaRPr lang="en-US" sz="900" dirty="0"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283A6280-0165-0B3E-CABC-09034BFCF570}"/>
              </a:ext>
            </a:extLst>
          </p:cNvPr>
          <p:cNvSpPr/>
          <p:nvPr/>
        </p:nvSpPr>
        <p:spPr>
          <a:xfrm>
            <a:off x="1543050" y="4513833"/>
            <a:ext cx="292608" cy="274320"/>
          </a:xfrm>
          <a:prstGeom prst="down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05097102-6C8A-FFCB-E864-DDCA91D46334}"/>
              </a:ext>
            </a:extLst>
          </p:cNvPr>
          <p:cNvSpPr/>
          <p:nvPr/>
        </p:nvSpPr>
        <p:spPr>
          <a:xfrm>
            <a:off x="530733" y="4922584"/>
            <a:ext cx="2336292" cy="1088136"/>
          </a:xfrm>
          <a:prstGeom prst="roundRect">
            <a:avLst>
              <a:gd name="adj" fmla="val 5042"/>
            </a:avLst>
          </a:prstGeom>
          <a:solidFill>
            <a:srgbClr val="E9F1F9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93CEAD47-FF42-3E99-8E45-AA121C791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2847" y="4994974"/>
            <a:ext cx="420624" cy="420624"/>
          </a:xfrm>
          <a:prstGeom prst="rect">
            <a:avLst/>
          </a:prstGeom>
        </p:spPr>
      </p:pic>
      <p:sp>
        <p:nvSpPr>
          <p:cNvPr id="44" name="Text 38">
            <a:extLst>
              <a:ext uri="{FF2B5EF4-FFF2-40B4-BE49-F238E27FC236}">
                <a16:creationId xmlns:a16="http://schemas.microsoft.com/office/drawing/2014/main" id="{F2005EFF-B98F-C8F8-47BB-1338A003E1A6}"/>
              </a:ext>
            </a:extLst>
          </p:cNvPr>
          <p:cNvSpPr/>
          <p:nvPr/>
        </p:nvSpPr>
        <p:spPr>
          <a:xfrm>
            <a:off x="640461" y="537064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경량화가</a:t>
            </a:r>
            <a:r>
              <a:rPr lang="ko-KR" alt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r>
              <a:rPr lang="ko-KR" alt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아닌 필수적 요소</a:t>
            </a: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</a:t>
            </a:r>
            <a:r>
              <a:rPr lang="ko-KR" alt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중요</a:t>
            </a:r>
            <a:r>
              <a:rPr lang="en-US" altLang="ko-KR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300" dirty="0"/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72E08766-826F-6C4E-3E30-54472D4CA056}"/>
              </a:ext>
            </a:extLst>
          </p:cNvPr>
          <p:cNvSpPr/>
          <p:nvPr/>
        </p:nvSpPr>
        <p:spPr>
          <a:xfrm>
            <a:off x="3424428" y="2443606"/>
            <a:ext cx="2336292" cy="1360551"/>
          </a:xfrm>
          <a:prstGeom prst="roundRect">
            <a:avLst>
              <a:gd name="adj" fmla="val 4412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E72F9310-AB37-7B04-EE6D-1709089A3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156" y="2553335"/>
            <a:ext cx="365760" cy="365760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EA14E83A-3262-3104-2FB2-BA435C6ED275}"/>
              </a:ext>
            </a:extLst>
          </p:cNvPr>
          <p:cNvSpPr/>
          <p:nvPr/>
        </p:nvSpPr>
        <p:spPr>
          <a:xfrm>
            <a:off x="3973068" y="2489327"/>
            <a:ext cx="17327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1
</a:t>
            </a:r>
            <a:r>
              <a:rPr lang="en-US" sz="12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연결성·프라이버시 제약</a:t>
            </a:r>
            <a:endParaRPr lang="en-US" sz="1200" dirty="0"/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C0F2B5B7-1FE1-DDEB-6268-B6471C6AC1A8}"/>
              </a:ext>
            </a:extLst>
          </p:cNvPr>
          <p:cNvSpPr/>
          <p:nvPr/>
        </p:nvSpPr>
        <p:spPr>
          <a:xfrm>
            <a:off x="3462530" y="3005709"/>
            <a:ext cx="22631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네트워크를 전제할 수 없음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디바이스 외부로 나가지 않아야 함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온디바이스 처리가 요건</a:t>
            </a:r>
            <a:endParaRPr lang="en-US" sz="1000" dirty="0"/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5F4CFAA5-C83C-3E14-57A1-913F6A0B0266}"/>
              </a:ext>
            </a:extLst>
          </p:cNvPr>
          <p:cNvSpPr/>
          <p:nvPr/>
        </p:nvSpPr>
        <p:spPr>
          <a:xfrm>
            <a:off x="3424428" y="3921602"/>
            <a:ext cx="2336292" cy="1243584"/>
          </a:xfrm>
          <a:prstGeom prst="roundRect">
            <a:avLst>
              <a:gd name="adj" fmla="val 4412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09C0CD6A-A7F3-4223-D80A-2E96D246E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4156" y="4064381"/>
            <a:ext cx="365760" cy="365760"/>
          </a:xfrm>
          <a:prstGeom prst="rect">
            <a:avLst/>
          </a:prstGeom>
        </p:spPr>
      </p:pic>
      <p:sp>
        <p:nvSpPr>
          <p:cNvPr id="53" name="Text 45">
            <a:extLst>
              <a:ext uri="{FF2B5EF4-FFF2-40B4-BE49-F238E27FC236}">
                <a16:creationId xmlns:a16="http://schemas.microsoft.com/office/drawing/2014/main" id="{08D8A721-C41E-3D0B-089D-9B061B8464FF}"/>
              </a:ext>
            </a:extLst>
          </p:cNvPr>
          <p:cNvSpPr/>
          <p:nvPr/>
        </p:nvSpPr>
        <p:spPr>
          <a:xfrm>
            <a:off x="3973068" y="4009517"/>
            <a:ext cx="17327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2
</a:t>
            </a:r>
            <a:r>
              <a:rPr lang="en-US" sz="12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 제약</a:t>
            </a:r>
            <a:endParaRPr lang="en-US" sz="1200" dirty="0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054056D6-28BA-D9C8-8A53-5A51A5680D7E}"/>
              </a:ext>
            </a:extLst>
          </p:cNvPr>
          <p:cNvSpPr/>
          <p:nvPr/>
        </p:nvSpPr>
        <p:spPr>
          <a:xfrm>
            <a:off x="3462530" y="4496880"/>
            <a:ext cx="21534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하드웨어를 전제할 수 없음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디바이스 자원만으로 처리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 모델이 요건</a:t>
            </a:r>
            <a:endParaRPr lang="en-US" sz="1000" dirty="0"/>
          </a:p>
        </p:txBody>
      </p:sp>
      <p:sp>
        <p:nvSpPr>
          <p:cNvPr id="55" name="Shape 47">
            <a:extLst>
              <a:ext uri="{FF2B5EF4-FFF2-40B4-BE49-F238E27FC236}">
                <a16:creationId xmlns:a16="http://schemas.microsoft.com/office/drawing/2014/main" id="{30FDD498-32ED-268B-C17D-42B0BE242157}"/>
              </a:ext>
            </a:extLst>
          </p:cNvPr>
          <p:cNvSpPr/>
          <p:nvPr/>
        </p:nvSpPr>
        <p:spPr>
          <a:xfrm>
            <a:off x="3424428" y="5344541"/>
            <a:ext cx="2336292" cy="640080"/>
          </a:xfrm>
          <a:prstGeom prst="roundRect">
            <a:avLst>
              <a:gd name="adj" fmla="val 8571"/>
            </a:avLst>
          </a:prstGeom>
          <a:solidFill>
            <a:srgbClr val="E9F1F9"/>
          </a:solidFill>
          <a:ln w="9525">
            <a:solidFill>
              <a:srgbClr val="C2D8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5" descr="preencoded.png">
            <a:extLst>
              <a:ext uri="{FF2B5EF4-FFF2-40B4-BE49-F238E27FC236}">
                <a16:creationId xmlns:a16="http://schemas.microsoft.com/office/drawing/2014/main" id="{8A6DA817-1830-19B5-6581-B850DBA9F0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2444" y="5490845"/>
            <a:ext cx="384048" cy="384048"/>
          </a:xfrm>
          <a:prstGeom prst="rect">
            <a:avLst/>
          </a:prstGeom>
        </p:spPr>
      </p:pic>
      <p:sp>
        <p:nvSpPr>
          <p:cNvPr id="57" name="Text 48">
            <a:extLst>
              <a:ext uri="{FF2B5EF4-FFF2-40B4-BE49-F238E27FC236}">
                <a16:creationId xmlns:a16="http://schemas.microsoft.com/office/drawing/2014/main" id="{E760BD27-69F0-F26E-5755-853CA42F91E1}"/>
              </a:ext>
            </a:extLst>
          </p:cNvPr>
          <p:cNvSpPr/>
          <p:nvPr/>
        </p:nvSpPr>
        <p:spPr>
          <a:xfrm>
            <a:off x="4009644" y="5352161"/>
            <a:ext cx="1677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제약을 동시에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 err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만족해야</a:t>
            </a:r>
            <a:r>
              <a:rPr lang="en-US" sz="13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함</a:t>
            </a:r>
            <a:endParaRPr lang="en-US" sz="1300" dirty="0"/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67EDDAFF-C7BC-ED1A-B89C-2089A972FAF7}"/>
              </a:ext>
            </a:extLst>
          </p:cNvPr>
          <p:cNvSpPr/>
          <p:nvPr/>
        </p:nvSpPr>
        <p:spPr>
          <a:xfrm>
            <a:off x="6364224" y="243332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시나리오</a:t>
            </a:r>
            <a:endParaRPr lang="en-US" sz="900" dirty="0"/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4743508C-579D-2E80-CD42-6124E80A0046}"/>
              </a:ext>
            </a:extLst>
          </p:cNvPr>
          <p:cNvSpPr/>
          <p:nvPr/>
        </p:nvSpPr>
        <p:spPr>
          <a:xfrm>
            <a:off x="7489602" y="2444276"/>
            <a:ext cx="8028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</a:t>
            </a:r>
            <a:endParaRPr lang="en-US" sz="900" b="1" dirty="0">
              <a:solidFill>
                <a:srgbClr val="4B556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프라이버시</a:t>
            </a:r>
            <a:endParaRPr lang="en-US" sz="900" dirty="0"/>
          </a:p>
        </p:txBody>
      </p:sp>
      <p:sp>
        <p:nvSpPr>
          <p:cNvPr id="60" name="Text 51">
            <a:extLst>
              <a:ext uri="{FF2B5EF4-FFF2-40B4-BE49-F238E27FC236}">
                <a16:creationId xmlns:a16="http://schemas.microsoft.com/office/drawing/2014/main" id="{A863CA74-BECA-845E-A06B-5CD899C90C2D}"/>
              </a:ext>
            </a:extLst>
          </p:cNvPr>
          <p:cNvSpPr/>
          <p:nvPr/>
        </p:nvSpPr>
        <p:spPr>
          <a:xfrm>
            <a:off x="8158734" y="2418080"/>
            <a:ext cx="5234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</a:t>
            </a:r>
            <a:endParaRPr lang="en-US" sz="900" dirty="0"/>
          </a:p>
        </p:txBody>
      </p:sp>
      <p:sp>
        <p:nvSpPr>
          <p:cNvPr id="61" name="Shape 52">
            <a:extLst>
              <a:ext uri="{FF2B5EF4-FFF2-40B4-BE49-F238E27FC236}">
                <a16:creationId xmlns:a16="http://schemas.microsoft.com/office/drawing/2014/main" id="{6CB6C18D-AE33-2EFE-055A-E5FC0A9210CA}"/>
              </a:ext>
            </a:extLst>
          </p:cNvPr>
          <p:cNvSpPr/>
          <p:nvPr/>
        </p:nvSpPr>
        <p:spPr>
          <a:xfrm>
            <a:off x="6327648" y="2762504"/>
            <a:ext cx="2336292" cy="0"/>
          </a:xfrm>
          <a:prstGeom prst="line">
            <a:avLst/>
          </a:prstGeom>
          <a:noFill/>
          <a:ln w="12700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3">
            <a:extLst>
              <a:ext uri="{FF2B5EF4-FFF2-40B4-BE49-F238E27FC236}">
                <a16:creationId xmlns:a16="http://schemas.microsoft.com/office/drawing/2014/main" id="{862E9D32-1FB7-596D-9F84-08756D607CB4}"/>
              </a:ext>
            </a:extLst>
          </p:cNvPr>
          <p:cNvSpPr/>
          <p:nvPr/>
        </p:nvSpPr>
        <p:spPr>
          <a:xfrm>
            <a:off x="6345936" y="3029585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3DCB41AD-D83F-6FFB-B625-17CFE35CAB9A}"/>
              </a:ext>
            </a:extLst>
          </p:cNvPr>
          <p:cNvSpPr/>
          <p:nvPr/>
        </p:nvSpPr>
        <p:spPr>
          <a:xfrm>
            <a:off x="6345936" y="30295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D40E438D-244A-CAAA-9CC6-57F82DC56E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3002153"/>
            <a:ext cx="237744" cy="237744"/>
          </a:xfrm>
          <a:prstGeom prst="rect">
            <a:avLst/>
          </a:prstGeom>
        </p:spPr>
      </p:pic>
      <p:sp>
        <p:nvSpPr>
          <p:cNvPr id="65" name="Text 55">
            <a:extLst>
              <a:ext uri="{FF2B5EF4-FFF2-40B4-BE49-F238E27FC236}">
                <a16:creationId xmlns:a16="http://schemas.microsoft.com/office/drawing/2014/main" id="{B8793A07-2392-B6AF-37FE-15DACF3570F1}"/>
              </a:ext>
            </a:extLst>
          </p:cNvPr>
          <p:cNvSpPr/>
          <p:nvPr/>
        </p:nvSpPr>
        <p:spPr>
          <a:xfrm>
            <a:off x="6839712" y="2864993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건설 현장 단말</a:t>
            </a:r>
            <a:endParaRPr lang="en-US" sz="900" dirty="0"/>
          </a:p>
        </p:txBody>
      </p:sp>
      <p:pic>
        <p:nvPicPr>
          <p:cNvPr id="66" name="Image 7" descr="preencoded.png">
            <a:extLst>
              <a:ext uri="{FF2B5EF4-FFF2-40B4-BE49-F238E27FC236}">
                <a16:creationId xmlns:a16="http://schemas.microsoft.com/office/drawing/2014/main" id="{A6AFE265-EA0E-DE67-E59D-4A032B1376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7259" y="3002153"/>
            <a:ext cx="237744" cy="237744"/>
          </a:xfrm>
          <a:prstGeom prst="rect">
            <a:avLst/>
          </a:prstGeom>
        </p:spPr>
      </p:pic>
      <p:pic>
        <p:nvPicPr>
          <p:cNvPr id="67" name="Image 8" descr="preencoded.png">
            <a:extLst>
              <a:ext uri="{FF2B5EF4-FFF2-40B4-BE49-F238E27FC236}">
                <a16:creationId xmlns:a16="http://schemas.microsoft.com/office/drawing/2014/main" id="{568DC419-1251-2AD7-37BE-9F68973ED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2465" y="3002153"/>
            <a:ext cx="237744" cy="237744"/>
          </a:xfrm>
          <a:prstGeom prst="rect">
            <a:avLst/>
          </a:prstGeom>
        </p:spPr>
      </p:pic>
      <p:sp>
        <p:nvSpPr>
          <p:cNvPr id="68" name="Shape 56">
            <a:extLst>
              <a:ext uri="{FF2B5EF4-FFF2-40B4-BE49-F238E27FC236}">
                <a16:creationId xmlns:a16="http://schemas.microsoft.com/office/drawing/2014/main" id="{3F3A53A3-3A27-87FC-A98C-3B03A53A5FB9}"/>
              </a:ext>
            </a:extLst>
          </p:cNvPr>
          <p:cNvSpPr/>
          <p:nvPr/>
        </p:nvSpPr>
        <p:spPr>
          <a:xfrm>
            <a:off x="6327648" y="3462782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7">
            <a:extLst>
              <a:ext uri="{FF2B5EF4-FFF2-40B4-BE49-F238E27FC236}">
                <a16:creationId xmlns:a16="http://schemas.microsoft.com/office/drawing/2014/main" id="{A75ACA26-DF49-382D-D193-268C172E750B}"/>
              </a:ext>
            </a:extLst>
          </p:cNvPr>
          <p:cNvSpPr/>
          <p:nvPr/>
        </p:nvSpPr>
        <p:spPr>
          <a:xfrm>
            <a:off x="6345936" y="3700399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8">
            <a:extLst>
              <a:ext uri="{FF2B5EF4-FFF2-40B4-BE49-F238E27FC236}">
                <a16:creationId xmlns:a16="http://schemas.microsoft.com/office/drawing/2014/main" id="{F5684323-126A-6ACF-AB31-9172C7E22A40}"/>
              </a:ext>
            </a:extLst>
          </p:cNvPr>
          <p:cNvSpPr/>
          <p:nvPr/>
        </p:nvSpPr>
        <p:spPr>
          <a:xfrm>
            <a:off x="6345936" y="36956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pic>
        <p:nvPicPr>
          <p:cNvPr id="71" name="Image 9" descr="preencoded.png">
            <a:extLst>
              <a:ext uri="{FF2B5EF4-FFF2-40B4-BE49-F238E27FC236}">
                <a16:creationId xmlns:a16="http://schemas.microsoft.com/office/drawing/2014/main" id="{70EE3322-4DE9-383C-714B-979ECB9921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392" y="3672967"/>
            <a:ext cx="237744" cy="237744"/>
          </a:xfrm>
          <a:prstGeom prst="rect">
            <a:avLst/>
          </a:prstGeom>
        </p:spPr>
      </p:pic>
      <p:sp>
        <p:nvSpPr>
          <p:cNvPr id="72" name="Text 59">
            <a:extLst>
              <a:ext uri="{FF2B5EF4-FFF2-40B4-BE49-F238E27FC236}">
                <a16:creationId xmlns:a16="http://schemas.microsoft.com/office/drawing/2014/main" id="{0F9B256F-8564-720F-395C-E0AEB12ABA72}"/>
              </a:ext>
            </a:extLst>
          </p:cNvPr>
          <p:cNvSpPr/>
          <p:nvPr/>
        </p:nvSpPr>
        <p:spPr>
          <a:xfrm>
            <a:off x="6839712" y="3535807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내 디바이스</a:t>
            </a:r>
            <a:endParaRPr lang="en-US" sz="900" dirty="0"/>
          </a:p>
        </p:txBody>
      </p:sp>
      <p:pic>
        <p:nvPicPr>
          <p:cNvPr id="73" name="Image 10" descr="preencoded.png">
            <a:extLst>
              <a:ext uri="{FF2B5EF4-FFF2-40B4-BE49-F238E27FC236}">
                <a16:creationId xmlns:a16="http://schemas.microsoft.com/office/drawing/2014/main" id="{3A62FFDC-98F1-64F5-5419-B1ED99D52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87259" y="3672967"/>
            <a:ext cx="237744" cy="237744"/>
          </a:xfrm>
          <a:prstGeom prst="rect">
            <a:avLst/>
          </a:prstGeom>
        </p:spPr>
      </p:pic>
      <p:pic>
        <p:nvPicPr>
          <p:cNvPr id="74" name="Image 11" descr="preencoded.png">
            <a:extLst>
              <a:ext uri="{FF2B5EF4-FFF2-40B4-BE49-F238E27FC236}">
                <a16:creationId xmlns:a16="http://schemas.microsoft.com/office/drawing/2014/main" id="{B8542A73-87A4-7E03-020E-A2AC1946B6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2465" y="3672967"/>
            <a:ext cx="237744" cy="237744"/>
          </a:xfrm>
          <a:prstGeom prst="rect">
            <a:avLst/>
          </a:prstGeom>
        </p:spPr>
      </p:pic>
      <p:sp>
        <p:nvSpPr>
          <p:cNvPr id="75" name="Shape 60">
            <a:extLst>
              <a:ext uri="{FF2B5EF4-FFF2-40B4-BE49-F238E27FC236}">
                <a16:creationId xmlns:a16="http://schemas.microsoft.com/office/drawing/2014/main" id="{D804570F-224D-0250-A4CB-017F37857FDE}"/>
              </a:ext>
            </a:extLst>
          </p:cNvPr>
          <p:cNvSpPr/>
          <p:nvPr/>
        </p:nvSpPr>
        <p:spPr>
          <a:xfrm>
            <a:off x="6327648" y="4127246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61">
            <a:extLst>
              <a:ext uri="{FF2B5EF4-FFF2-40B4-BE49-F238E27FC236}">
                <a16:creationId xmlns:a16="http://schemas.microsoft.com/office/drawing/2014/main" id="{F4B2AF48-B917-146F-073C-343539A0A52E}"/>
              </a:ext>
            </a:extLst>
          </p:cNvPr>
          <p:cNvSpPr/>
          <p:nvPr/>
        </p:nvSpPr>
        <p:spPr>
          <a:xfrm>
            <a:off x="6345936" y="4291838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2">
            <a:extLst>
              <a:ext uri="{FF2B5EF4-FFF2-40B4-BE49-F238E27FC236}">
                <a16:creationId xmlns:a16="http://schemas.microsoft.com/office/drawing/2014/main" id="{C7A9493F-59C7-F2D7-1FDF-2ECCB4980CBA}"/>
              </a:ext>
            </a:extLst>
          </p:cNvPr>
          <p:cNvSpPr/>
          <p:nvPr/>
        </p:nvSpPr>
        <p:spPr>
          <a:xfrm>
            <a:off x="6345936" y="42965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pic>
        <p:nvPicPr>
          <p:cNvPr id="78" name="Image 12" descr="preencoded.png">
            <a:extLst>
              <a:ext uri="{FF2B5EF4-FFF2-40B4-BE49-F238E27FC236}">
                <a16:creationId xmlns:a16="http://schemas.microsoft.com/office/drawing/2014/main" id="{BDC0431A-FAE7-9F8B-5313-CD438C17C9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5392" y="4312031"/>
            <a:ext cx="237744" cy="237744"/>
          </a:xfrm>
          <a:prstGeom prst="rect">
            <a:avLst/>
          </a:prstGeom>
        </p:spPr>
      </p:pic>
      <p:sp>
        <p:nvSpPr>
          <p:cNvPr id="79" name="Text 63">
            <a:extLst>
              <a:ext uri="{FF2B5EF4-FFF2-40B4-BE49-F238E27FC236}">
                <a16:creationId xmlns:a16="http://schemas.microsoft.com/office/drawing/2014/main" id="{BE133CCE-AE6B-35B3-8D91-09A9C9A6DC43}"/>
              </a:ext>
            </a:extLst>
          </p:cNvPr>
          <p:cNvSpPr/>
          <p:nvPr/>
        </p:nvSpPr>
        <p:spPr>
          <a:xfrm>
            <a:off x="6839712" y="4174871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제세동기 /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메디컬 디바이스</a:t>
            </a:r>
            <a:endParaRPr lang="en-US" sz="900" dirty="0"/>
          </a:p>
        </p:txBody>
      </p:sp>
      <p:pic>
        <p:nvPicPr>
          <p:cNvPr id="80" name="Image 13" descr="preencoded.png">
            <a:extLst>
              <a:ext uri="{FF2B5EF4-FFF2-40B4-BE49-F238E27FC236}">
                <a16:creationId xmlns:a16="http://schemas.microsoft.com/office/drawing/2014/main" id="{B278F378-CE72-D514-698F-539B89003D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7259" y="4312031"/>
            <a:ext cx="237744" cy="237744"/>
          </a:xfrm>
          <a:prstGeom prst="rect">
            <a:avLst/>
          </a:prstGeom>
        </p:spPr>
      </p:pic>
      <p:pic>
        <p:nvPicPr>
          <p:cNvPr id="81" name="Image 14" descr="preencoded.png">
            <a:extLst>
              <a:ext uri="{FF2B5EF4-FFF2-40B4-BE49-F238E27FC236}">
                <a16:creationId xmlns:a16="http://schemas.microsoft.com/office/drawing/2014/main" id="{5A89B880-0FF0-43D7-1599-DB7727A13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2465" y="4312031"/>
            <a:ext cx="237744" cy="237744"/>
          </a:xfrm>
          <a:prstGeom prst="rect">
            <a:avLst/>
          </a:prstGeom>
        </p:spPr>
      </p:pic>
      <p:sp>
        <p:nvSpPr>
          <p:cNvPr id="82" name="Shape 64">
            <a:extLst>
              <a:ext uri="{FF2B5EF4-FFF2-40B4-BE49-F238E27FC236}">
                <a16:creationId xmlns:a16="http://schemas.microsoft.com/office/drawing/2014/main" id="{A7FCF494-D9D3-7699-C469-278AAA70F1BF}"/>
              </a:ext>
            </a:extLst>
          </p:cNvPr>
          <p:cNvSpPr/>
          <p:nvPr/>
        </p:nvSpPr>
        <p:spPr>
          <a:xfrm>
            <a:off x="6327648" y="4753610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65">
            <a:extLst>
              <a:ext uri="{FF2B5EF4-FFF2-40B4-BE49-F238E27FC236}">
                <a16:creationId xmlns:a16="http://schemas.microsoft.com/office/drawing/2014/main" id="{E58A8CBC-AF0B-F85B-F87B-CEBF00998371}"/>
              </a:ext>
            </a:extLst>
          </p:cNvPr>
          <p:cNvSpPr/>
          <p:nvPr/>
        </p:nvSpPr>
        <p:spPr>
          <a:xfrm>
            <a:off x="6345936" y="4970594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66">
            <a:extLst>
              <a:ext uri="{FF2B5EF4-FFF2-40B4-BE49-F238E27FC236}">
                <a16:creationId xmlns:a16="http://schemas.microsoft.com/office/drawing/2014/main" id="{2483A0CC-76C6-7957-E539-2EA3126B43BB}"/>
              </a:ext>
            </a:extLst>
          </p:cNvPr>
          <p:cNvSpPr/>
          <p:nvPr/>
        </p:nvSpPr>
        <p:spPr>
          <a:xfrm>
            <a:off x="6345936" y="497059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pic>
        <p:nvPicPr>
          <p:cNvPr id="85" name="Image 15" descr="preencoded.png">
            <a:extLst>
              <a:ext uri="{FF2B5EF4-FFF2-40B4-BE49-F238E27FC236}">
                <a16:creationId xmlns:a16="http://schemas.microsoft.com/office/drawing/2014/main" id="{B5A51467-F031-4C7D-3A10-5852CAA6E1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5392" y="4943162"/>
            <a:ext cx="237744" cy="237744"/>
          </a:xfrm>
          <a:prstGeom prst="rect">
            <a:avLst/>
          </a:prstGeom>
        </p:spPr>
      </p:pic>
      <p:sp>
        <p:nvSpPr>
          <p:cNvPr id="86" name="Text 67">
            <a:extLst>
              <a:ext uri="{FF2B5EF4-FFF2-40B4-BE49-F238E27FC236}">
                <a16:creationId xmlns:a16="http://schemas.microsoft.com/office/drawing/2014/main" id="{05DA8FAB-9578-B307-399D-4EA375DB5946}"/>
              </a:ext>
            </a:extLst>
          </p:cNvPr>
          <p:cNvSpPr/>
          <p:nvPr/>
        </p:nvSpPr>
        <p:spPr>
          <a:xfrm>
            <a:off x="6839712" y="4806002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어린이 교육용 디바이스</a:t>
            </a:r>
            <a:endParaRPr lang="en-US" sz="900" dirty="0"/>
          </a:p>
        </p:txBody>
      </p:sp>
      <p:pic>
        <p:nvPicPr>
          <p:cNvPr id="87" name="Image 16" descr="preencoded.png">
            <a:extLst>
              <a:ext uri="{FF2B5EF4-FFF2-40B4-BE49-F238E27FC236}">
                <a16:creationId xmlns:a16="http://schemas.microsoft.com/office/drawing/2014/main" id="{6A1CF9C0-F347-A49A-9F37-4A4A7CB6CF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87259" y="4943162"/>
            <a:ext cx="237744" cy="237744"/>
          </a:xfrm>
          <a:prstGeom prst="rect">
            <a:avLst/>
          </a:prstGeom>
        </p:spPr>
      </p:pic>
      <p:pic>
        <p:nvPicPr>
          <p:cNvPr id="88" name="Image 17" descr="preencoded.png">
            <a:extLst>
              <a:ext uri="{FF2B5EF4-FFF2-40B4-BE49-F238E27FC236}">
                <a16:creationId xmlns:a16="http://schemas.microsoft.com/office/drawing/2014/main" id="{4A9604F3-67D6-A44F-1842-E164EEF6C1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2465" y="4943162"/>
            <a:ext cx="237744" cy="237744"/>
          </a:xfrm>
          <a:prstGeom prst="rect">
            <a:avLst/>
          </a:prstGeom>
        </p:spPr>
      </p:pic>
      <p:sp>
        <p:nvSpPr>
          <p:cNvPr id="89" name="Shape 68">
            <a:extLst>
              <a:ext uri="{FF2B5EF4-FFF2-40B4-BE49-F238E27FC236}">
                <a16:creationId xmlns:a16="http://schemas.microsoft.com/office/drawing/2014/main" id="{A55556C7-51A6-6B2B-09E4-F9067380F44E}"/>
              </a:ext>
            </a:extLst>
          </p:cNvPr>
          <p:cNvSpPr/>
          <p:nvPr/>
        </p:nvSpPr>
        <p:spPr>
          <a:xfrm>
            <a:off x="6327648" y="5351399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69">
            <a:extLst>
              <a:ext uri="{FF2B5EF4-FFF2-40B4-BE49-F238E27FC236}">
                <a16:creationId xmlns:a16="http://schemas.microsoft.com/office/drawing/2014/main" id="{CECE2BBB-FE5E-A55B-47D4-75CC15864F01}"/>
              </a:ext>
            </a:extLst>
          </p:cNvPr>
          <p:cNvSpPr/>
          <p:nvPr/>
        </p:nvSpPr>
        <p:spPr>
          <a:xfrm>
            <a:off x="6309360" y="5369686"/>
            <a:ext cx="2372868" cy="641033"/>
          </a:xfrm>
          <a:prstGeom prst="roundRect">
            <a:avLst>
              <a:gd name="adj" fmla="val 7576"/>
            </a:avLst>
          </a:prstGeom>
          <a:solidFill>
            <a:srgbClr val="E9F1F9"/>
          </a:solidFill>
          <a:ln w="19050">
            <a:solidFill>
              <a:srgbClr val="0E4C8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70">
            <a:extLst>
              <a:ext uri="{FF2B5EF4-FFF2-40B4-BE49-F238E27FC236}">
                <a16:creationId xmlns:a16="http://schemas.microsoft.com/office/drawing/2014/main" id="{619319E2-901C-C918-BA49-3144C9EA63A0}"/>
              </a:ext>
            </a:extLst>
          </p:cNvPr>
          <p:cNvSpPr/>
          <p:nvPr/>
        </p:nvSpPr>
        <p:spPr>
          <a:xfrm>
            <a:off x="6364224" y="5579999"/>
            <a:ext cx="182880" cy="182880"/>
          </a:xfrm>
          <a:prstGeom prst="ellipse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71">
            <a:extLst>
              <a:ext uri="{FF2B5EF4-FFF2-40B4-BE49-F238E27FC236}">
                <a16:creationId xmlns:a16="http://schemas.microsoft.com/office/drawing/2014/main" id="{51E24B01-6B5F-E40D-9A96-287947778D30}"/>
              </a:ext>
            </a:extLst>
          </p:cNvPr>
          <p:cNvSpPr/>
          <p:nvPr/>
        </p:nvSpPr>
        <p:spPr>
          <a:xfrm>
            <a:off x="6364224" y="55799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pic>
        <p:nvPicPr>
          <p:cNvPr id="93" name="Image 18" descr="preencoded.png">
            <a:extLst>
              <a:ext uri="{FF2B5EF4-FFF2-40B4-BE49-F238E27FC236}">
                <a16:creationId xmlns:a16="http://schemas.microsoft.com/office/drawing/2014/main" id="{5A690AFD-DC61-88A0-94EF-2EA747C82D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5552567"/>
            <a:ext cx="246888" cy="246888"/>
          </a:xfrm>
          <a:prstGeom prst="rect">
            <a:avLst/>
          </a:prstGeom>
        </p:spPr>
      </p:pic>
      <p:sp>
        <p:nvSpPr>
          <p:cNvPr id="94" name="Text 72">
            <a:extLst>
              <a:ext uri="{FF2B5EF4-FFF2-40B4-BE49-F238E27FC236}">
                <a16:creationId xmlns:a16="http://schemas.microsoft.com/office/drawing/2014/main" id="{A39DD392-92A2-9497-9E4D-5EDC552BFACF}"/>
              </a:ext>
            </a:extLst>
          </p:cNvPr>
          <p:cNvSpPr/>
          <p:nvPr/>
        </p:nvSpPr>
        <p:spPr>
          <a:xfrm>
            <a:off x="6858000" y="5369687"/>
            <a:ext cx="795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온디바이스 AI</a:t>
            </a:r>
            <a:endParaRPr lang="en-US" sz="1000" b="1" dirty="0"/>
          </a:p>
        </p:txBody>
      </p:sp>
      <p:pic>
        <p:nvPicPr>
          <p:cNvPr id="95" name="Image 19" descr="preencoded.png">
            <a:extLst>
              <a:ext uri="{FF2B5EF4-FFF2-40B4-BE49-F238E27FC236}">
                <a16:creationId xmlns:a16="http://schemas.microsoft.com/office/drawing/2014/main" id="{C62902FB-C5F2-4896-606A-F3FF4ACC269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78115" y="5543423"/>
            <a:ext cx="256032" cy="256032"/>
          </a:xfrm>
          <a:prstGeom prst="rect">
            <a:avLst/>
          </a:prstGeom>
        </p:spPr>
      </p:pic>
      <p:pic>
        <p:nvPicPr>
          <p:cNvPr id="96" name="Image 20" descr="preencoded.png">
            <a:extLst>
              <a:ext uri="{FF2B5EF4-FFF2-40B4-BE49-F238E27FC236}">
                <a16:creationId xmlns:a16="http://schemas.microsoft.com/office/drawing/2014/main" id="{F65CFF0F-D522-0C68-12E0-C671FC9E7E2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3321" y="5543423"/>
            <a:ext cx="256032" cy="256032"/>
          </a:xfrm>
          <a:prstGeom prst="rect">
            <a:avLst/>
          </a:prstGeom>
        </p:spPr>
      </p:pic>
      <p:sp>
        <p:nvSpPr>
          <p:cNvPr id="97" name="Shape 73">
            <a:extLst>
              <a:ext uri="{FF2B5EF4-FFF2-40B4-BE49-F238E27FC236}">
                <a16:creationId xmlns:a16="http://schemas.microsoft.com/office/drawing/2014/main" id="{82CB64BB-8896-3F14-BBDC-670D573D05E1}"/>
              </a:ext>
            </a:extLst>
          </p:cNvPr>
          <p:cNvSpPr/>
          <p:nvPr/>
        </p:nvSpPr>
        <p:spPr>
          <a:xfrm>
            <a:off x="8109585" y="5852605"/>
            <a:ext cx="603504" cy="237744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74">
            <a:extLst>
              <a:ext uri="{FF2B5EF4-FFF2-40B4-BE49-F238E27FC236}">
                <a16:creationId xmlns:a16="http://schemas.microsoft.com/office/drawing/2014/main" id="{0CAD9562-CC65-4790-7008-6B05CE527D04}"/>
              </a:ext>
            </a:extLst>
          </p:cNvPr>
          <p:cNvSpPr/>
          <p:nvPr/>
        </p:nvSpPr>
        <p:spPr>
          <a:xfrm>
            <a:off x="8089011" y="585698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선택</a:t>
            </a:r>
            <a:endParaRPr lang="en-US" sz="800" dirty="0"/>
          </a:p>
        </p:txBody>
      </p:sp>
      <p:sp>
        <p:nvSpPr>
          <p:cNvPr id="102" name="Shape 77">
            <a:extLst>
              <a:ext uri="{FF2B5EF4-FFF2-40B4-BE49-F238E27FC236}">
                <a16:creationId xmlns:a16="http://schemas.microsoft.com/office/drawing/2014/main" id="{1AB0BF67-418A-7F2D-BBB7-32511CB2096F}"/>
              </a:ext>
            </a:extLst>
          </p:cNvPr>
          <p:cNvSpPr/>
          <p:nvPr/>
        </p:nvSpPr>
        <p:spPr>
          <a:xfrm>
            <a:off x="9230868" y="2418080"/>
            <a:ext cx="2336292" cy="548640"/>
          </a:xfrm>
          <a:prstGeom prst="roundRect">
            <a:avLst>
              <a:gd name="adj" fmla="val 10000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3" name="Image 22" descr="preencoded.png">
            <a:extLst>
              <a:ext uri="{FF2B5EF4-FFF2-40B4-BE49-F238E27FC236}">
                <a16:creationId xmlns:a16="http://schemas.microsoft.com/office/drawing/2014/main" id="{8061476B-D7FC-2EFD-4694-57E7442162A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3476" y="2536952"/>
            <a:ext cx="365760" cy="365760"/>
          </a:xfrm>
          <a:prstGeom prst="rect">
            <a:avLst/>
          </a:prstGeom>
        </p:spPr>
      </p:pic>
      <p:pic>
        <p:nvPicPr>
          <p:cNvPr id="104" name="Image 23" descr="preencoded.png">
            <a:extLst>
              <a:ext uri="{FF2B5EF4-FFF2-40B4-BE49-F238E27FC236}">
                <a16:creationId xmlns:a16="http://schemas.microsoft.com/office/drawing/2014/main" id="{97B09875-9327-B82E-FD46-13A006DB809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16134" y="2536952"/>
            <a:ext cx="365760" cy="365760"/>
          </a:xfrm>
          <a:prstGeom prst="rect">
            <a:avLst/>
          </a:prstGeom>
        </p:spPr>
      </p:pic>
      <p:pic>
        <p:nvPicPr>
          <p:cNvPr id="105" name="Image 24" descr="preencoded.png">
            <a:extLst>
              <a:ext uri="{FF2B5EF4-FFF2-40B4-BE49-F238E27FC236}">
                <a16:creationId xmlns:a16="http://schemas.microsoft.com/office/drawing/2014/main" id="{8A675CA6-D54F-1856-0EF4-B0907735D05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08792" y="2573528"/>
            <a:ext cx="329184" cy="329184"/>
          </a:xfrm>
          <a:prstGeom prst="rect">
            <a:avLst/>
          </a:prstGeom>
        </p:spPr>
      </p:pic>
      <p:sp>
        <p:nvSpPr>
          <p:cNvPr id="106" name="Shape 78">
            <a:extLst>
              <a:ext uri="{FF2B5EF4-FFF2-40B4-BE49-F238E27FC236}">
                <a16:creationId xmlns:a16="http://schemas.microsoft.com/office/drawing/2014/main" id="{52B1F35B-AE2E-E31E-59E6-950D92D2C88C}"/>
              </a:ext>
            </a:extLst>
          </p:cNvPr>
          <p:cNvSpPr/>
          <p:nvPr/>
        </p:nvSpPr>
        <p:spPr>
          <a:xfrm>
            <a:off x="9230868" y="3058160"/>
            <a:ext cx="2336292" cy="989711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7" name="Image 25" descr="preencoded.png">
            <a:extLst>
              <a:ext uri="{FF2B5EF4-FFF2-40B4-BE49-F238E27FC236}">
                <a16:creationId xmlns:a16="http://schemas.microsoft.com/office/drawing/2014/main" id="{6AE14613-24BD-480D-906B-8587106EE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2308" y="3140456"/>
            <a:ext cx="256032" cy="256032"/>
          </a:xfrm>
          <a:prstGeom prst="rect">
            <a:avLst/>
          </a:prstGeom>
        </p:spPr>
      </p:pic>
      <p:sp>
        <p:nvSpPr>
          <p:cNvPr id="108" name="Text 79">
            <a:extLst>
              <a:ext uri="{FF2B5EF4-FFF2-40B4-BE49-F238E27FC236}">
                <a16:creationId xmlns:a16="http://schemas.microsoft.com/office/drawing/2014/main" id="{E27C8460-5869-ED64-5B9F-C59E41A6A96B}"/>
              </a:ext>
            </a:extLst>
          </p:cNvPr>
          <p:cNvSpPr/>
          <p:nvPr/>
        </p:nvSpPr>
        <p:spPr>
          <a:xfrm>
            <a:off x="9633204" y="3103880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연결성·프라이버시</a:t>
            </a:r>
            <a:r>
              <a:rPr lang="en-US" sz="11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제약 충족</a:t>
            </a:r>
            <a:endParaRPr lang="en-US" sz="1100" dirty="0"/>
          </a:p>
        </p:txBody>
      </p:sp>
      <p:sp>
        <p:nvSpPr>
          <p:cNvPr id="109" name="Text 80">
            <a:extLst>
              <a:ext uri="{FF2B5EF4-FFF2-40B4-BE49-F238E27FC236}">
                <a16:creationId xmlns:a16="http://schemas.microsoft.com/office/drawing/2014/main" id="{AACDE2B0-A3A8-4368-4190-312B1FE1C999}"/>
              </a:ext>
            </a:extLst>
          </p:cNvPr>
          <p:cNvSpPr/>
          <p:nvPr/>
        </p:nvSpPr>
        <p:spPr>
          <a:xfrm>
            <a:off x="9303512" y="3405632"/>
            <a:ext cx="2228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독거노인 가정은 네트워크 인프라가 부족할 수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있음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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동작 필요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건강·생활 데이터(민감)는 기기 내 처리가 적합</a:t>
            </a:r>
            <a:endParaRPr lang="en-US" sz="900" dirty="0"/>
          </a:p>
        </p:txBody>
      </p:sp>
      <p:sp>
        <p:nvSpPr>
          <p:cNvPr id="110" name="Shape 81">
            <a:extLst>
              <a:ext uri="{FF2B5EF4-FFF2-40B4-BE49-F238E27FC236}">
                <a16:creationId xmlns:a16="http://schemas.microsoft.com/office/drawing/2014/main" id="{81B25EF3-3DEA-DC21-7DE4-EFFD73285BBC}"/>
              </a:ext>
            </a:extLst>
          </p:cNvPr>
          <p:cNvSpPr/>
          <p:nvPr/>
        </p:nvSpPr>
        <p:spPr>
          <a:xfrm>
            <a:off x="9230868" y="4097432"/>
            <a:ext cx="2336292" cy="685419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1" name="Image 26" descr="preencoded.png">
            <a:extLst>
              <a:ext uri="{FF2B5EF4-FFF2-40B4-BE49-F238E27FC236}">
                <a16:creationId xmlns:a16="http://schemas.microsoft.com/office/drawing/2014/main" id="{B4A3716F-14E6-9A77-DE8A-333095F81FB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22308" y="4124991"/>
            <a:ext cx="256032" cy="256032"/>
          </a:xfrm>
          <a:prstGeom prst="rect">
            <a:avLst/>
          </a:prstGeom>
        </p:spPr>
      </p:pic>
      <p:sp>
        <p:nvSpPr>
          <p:cNvPr id="112" name="Text 82">
            <a:extLst>
              <a:ext uri="{FF2B5EF4-FFF2-40B4-BE49-F238E27FC236}">
                <a16:creationId xmlns:a16="http://schemas.microsoft.com/office/drawing/2014/main" id="{4A521317-3E10-AFD9-110C-74E88FCA7FA1}"/>
              </a:ext>
            </a:extLst>
          </p:cNvPr>
          <p:cNvSpPr/>
          <p:nvPr/>
        </p:nvSpPr>
        <p:spPr>
          <a:xfrm>
            <a:off x="9633204" y="4088415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</a:t>
            </a:r>
            <a:r>
              <a:rPr lang="en-US" sz="11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자원 제약 충족</a:t>
            </a:r>
            <a:endParaRPr lang="en-US" sz="1100" dirty="0"/>
          </a:p>
        </p:txBody>
      </p:sp>
      <p:sp>
        <p:nvSpPr>
          <p:cNvPr id="113" name="Text 83">
            <a:extLst>
              <a:ext uri="{FF2B5EF4-FFF2-40B4-BE49-F238E27FC236}">
                <a16:creationId xmlns:a16="http://schemas.microsoft.com/office/drawing/2014/main" id="{DC9D3EB8-D90A-3CDA-A148-4FCAB0748332}"/>
              </a:ext>
            </a:extLst>
          </p:cNvPr>
          <p:cNvSpPr/>
          <p:nvPr/>
        </p:nvSpPr>
        <p:spPr>
          <a:xfrm>
            <a:off x="9303512" y="4421917"/>
            <a:ext cx="2228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서버·대형 디바이스 사용이 어려움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자원만으로 요청을 처리해야 함</a:t>
            </a:r>
            <a:endParaRPr lang="en-US" sz="900" dirty="0"/>
          </a:p>
        </p:txBody>
      </p:sp>
      <p:sp>
        <p:nvSpPr>
          <p:cNvPr id="114" name="Shape 84">
            <a:extLst>
              <a:ext uri="{FF2B5EF4-FFF2-40B4-BE49-F238E27FC236}">
                <a16:creationId xmlns:a16="http://schemas.microsoft.com/office/drawing/2014/main" id="{B6BA592F-02D4-E98F-2414-99A6B15672AF}"/>
              </a:ext>
            </a:extLst>
          </p:cNvPr>
          <p:cNvSpPr/>
          <p:nvPr/>
        </p:nvSpPr>
        <p:spPr>
          <a:xfrm>
            <a:off x="9230868" y="4832096"/>
            <a:ext cx="233629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5" name="Image 27" descr="preencoded.png">
            <a:extLst>
              <a:ext uri="{FF2B5EF4-FFF2-40B4-BE49-F238E27FC236}">
                <a16:creationId xmlns:a16="http://schemas.microsoft.com/office/drawing/2014/main" id="{E9C814C6-3B60-BDC4-F687-2451601C098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22308" y="4882642"/>
            <a:ext cx="256032" cy="256032"/>
          </a:xfrm>
          <a:prstGeom prst="rect">
            <a:avLst/>
          </a:prstGeom>
        </p:spPr>
      </p:pic>
      <p:sp>
        <p:nvSpPr>
          <p:cNvPr id="116" name="Text 85">
            <a:extLst>
              <a:ext uri="{FF2B5EF4-FFF2-40B4-BE49-F238E27FC236}">
                <a16:creationId xmlns:a16="http://schemas.microsoft.com/office/drawing/2014/main" id="{3669B7A8-A725-E44B-EF64-102FAA5B6F99}"/>
              </a:ext>
            </a:extLst>
          </p:cNvPr>
          <p:cNvSpPr/>
          <p:nvPr/>
        </p:nvSpPr>
        <p:spPr>
          <a:xfrm>
            <a:off x="9633204" y="4846066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</a:t>
            </a:r>
            <a:endParaRPr lang="en-US" sz="1100" dirty="0"/>
          </a:p>
        </p:txBody>
      </p:sp>
      <p:sp>
        <p:nvSpPr>
          <p:cNvPr id="117" name="Text 86">
            <a:extLst>
              <a:ext uri="{FF2B5EF4-FFF2-40B4-BE49-F238E27FC236}">
                <a16:creationId xmlns:a16="http://schemas.microsoft.com/office/drawing/2014/main" id="{A73EE56C-B145-6022-9AF7-8058EE1FCB59}"/>
              </a:ext>
            </a:extLst>
          </p:cNvPr>
          <p:cNvSpPr/>
          <p:nvPr/>
        </p:nvSpPr>
        <p:spPr>
          <a:xfrm>
            <a:off x="9303512" y="5160518"/>
            <a:ext cx="2228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안전성·민감 질의 처리가 중요한 도메인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성능을 넘어 실제 적용 평가 관점까지 도출</a:t>
            </a:r>
            <a:endParaRPr lang="en-US" sz="900" dirty="0"/>
          </a:p>
        </p:txBody>
      </p:sp>
      <p:sp>
        <p:nvSpPr>
          <p:cNvPr id="118" name="Shape 87">
            <a:extLst>
              <a:ext uri="{FF2B5EF4-FFF2-40B4-BE49-F238E27FC236}">
                <a16:creationId xmlns:a16="http://schemas.microsoft.com/office/drawing/2014/main" id="{1627F712-C720-E64A-DB11-5E1BB5A8FCF9}"/>
              </a:ext>
            </a:extLst>
          </p:cNvPr>
          <p:cNvSpPr/>
          <p:nvPr/>
        </p:nvSpPr>
        <p:spPr>
          <a:xfrm>
            <a:off x="9230868" y="5618480"/>
            <a:ext cx="2336292" cy="493776"/>
          </a:xfrm>
          <a:prstGeom prst="roundRect">
            <a:avLst>
              <a:gd name="adj" fmla="val 11111"/>
            </a:avLst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9" name="Image 28" descr="preencoded.png">
            <a:extLst>
              <a:ext uri="{FF2B5EF4-FFF2-40B4-BE49-F238E27FC236}">
                <a16:creationId xmlns:a16="http://schemas.microsoft.com/office/drawing/2014/main" id="{C6520CF5-928D-B98B-24C1-59C078A64F1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77172" y="5728208"/>
            <a:ext cx="274320" cy="274320"/>
          </a:xfrm>
          <a:prstGeom prst="rect">
            <a:avLst/>
          </a:prstGeom>
        </p:spPr>
      </p:pic>
      <p:sp>
        <p:nvSpPr>
          <p:cNvPr id="120" name="Text 88">
            <a:extLst>
              <a:ext uri="{FF2B5EF4-FFF2-40B4-BE49-F238E27FC236}">
                <a16:creationId xmlns:a16="http://schemas.microsoft.com/office/drawing/2014/main" id="{AAF10725-025B-6F42-6CF8-ED7F190AADB2}"/>
              </a:ext>
            </a:extLst>
          </p:cNvPr>
          <p:cNvSpPr/>
          <p:nvPr/>
        </p:nvSpPr>
        <p:spPr>
          <a:xfrm>
            <a:off x="9724644" y="5618480"/>
            <a:ext cx="17693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FE1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적용 시나리오
</a:t>
            </a: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온디바이스 AI</a:t>
            </a:r>
            <a:endParaRPr lang="en-US" sz="800" dirty="0"/>
          </a:p>
        </p:txBody>
      </p:sp>
      <p:sp>
        <p:nvSpPr>
          <p:cNvPr id="121" name="Shape 89">
            <a:extLst>
              <a:ext uri="{FF2B5EF4-FFF2-40B4-BE49-F238E27FC236}">
                <a16:creationId xmlns:a16="http://schemas.microsoft.com/office/drawing/2014/main" id="{9AE4A3D7-6605-5120-A4E3-D834CDD6739F}"/>
              </a:ext>
            </a:extLst>
          </p:cNvPr>
          <p:cNvSpPr/>
          <p:nvPr/>
        </p:nvSpPr>
        <p:spPr>
          <a:xfrm>
            <a:off x="3003804" y="3821303"/>
            <a:ext cx="274320" cy="310896"/>
          </a:xfrm>
          <a:prstGeom prst="right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90">
            <a:extLst>
              <a:ext uri="{FF2B5EF4-FFF2-40B4-BE49-F238E27FC236}">
                <a16:creationId xmlns:a16="http://schemas.microsoft.com/office/drawing/2014/main" id="{E779CC58-6720-D974-1DDE-E1496618D0ED}"/>
              </a:ext>
            </a:extLst>
          </p:cNvPr>
          <p:cNvSpPr/>
          <p:nvPr/>
        </p:nvSpPr>
        <p:spPr>
          <a:xfrm>
            <a:off x="5907024" y="3821303"/>
            <a:ext cx="274320" cy="310896"/>
          </a:xfrm>
          <a:prstGeom prst="rightArrow">
            <a:avLst/>
          </a:prstGeom>
          <a:solidFill>
            <a:srgbClr val="1461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91">
            <a:extLst>
              <a:ext uri="{FF2B5EF4-FFF2-40B4-BE49-F238E27FC236}">
                <a16:creationId xmlns:a16="http://schemas.microsoft.com/office/drawing/2014/main" id="{C6C4EEDB-5758-F467-6DD8-9B2F5DF47348}"/>
              </a:ext>
            </a:extLst>
          </p:cNvPr>
          <p:cNvSpPr/>
          <p:nvPr/>
        </p:nvSpPr>
        <p:spPr>
          <a:xfrm>
            <a:off x="8810244" y="3954653"/>
            <a:ext cx="274320" cy="310896"/>
          </a:xfrm>
          <a:prstGeom prst="rightArrow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0C0D7464-0C1F-74AC-ACCE-96848CDA200F}"/>
              </a:ext>
            </a:extLst>
          </p:cNvPr>
          <p:cNvSpPr/>
          <p:nvPr/>
        </p:nvSpPr>
        <p:spPr>
          <a:xfrm>
            <a:off x="4426395" y="356838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9C7DD4-E654-4028-4D86-08B35BF0FB2B}"/>
              </a:ext>
            </a:extLst>
          </p:cNvPr>
          <p:cNvSpPr>
            <a:spLocks noGrp="1"/>
          </p:cNvSpPr>
          <p:nvPr/>
        </p:nvSpPr>
        <p:spPr>
          <a:xfrm>
            <a:off x="400050" y="885825"/>
            <a:ext cx="10098000" cy="38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Motivation: 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경량화된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모델은 </a:t>
            </a:r>
            <a:r>
              <a:rPr lang="ko-KR" altLang="en-US" sz="2400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어디에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필요할까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?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29385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62168-3318-86AB-2CED-FED9F2A957EB}"/>
              </a:ext>
            </a:extLst>
          </p:cNvPr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이론적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B0FE0-0DEF-04C7-84A6-2C5BDFF81DE3}"/>
              </a:ext>
            </a:extLst>
          </p:cNvPr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증류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(KD)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원리와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추가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경량화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기법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프루닝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양자화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F0C41B-87FC-819D-A5A5-F2A259AC67FD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8D13FF47-D2EE-4E8F-A01A-5F344FEABE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2C9AFA-4FCF-46EF-8864-3DAA673AA5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2338FD-8521-4D5D-99F2-B60B37B1544C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19709C-9DCF-41B8-95EE-F7E11B1A64B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 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384674-836F-48D6-9D24-B5977493ADCF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26F249-4E0A-481D-AB7B-3223AA5C9E25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증류는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큰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(Teacher)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출력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분포와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방식을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</a:t>
            </a: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(Student)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에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이전하는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방법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362083-C53A-4CF9-A001-DAA749D74D0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EE0293-CCE9-4F46-A50A-A1B31A25AC9B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Student 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모델은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뿐만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Teacher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모델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사고 방식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까지</a:t>
            </a:r>
            <a:r>
              <a:rPr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13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학습함</a:t>
            </a:r>
            <a:endParaRPr sz="1313" b="1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64B677FE-BCB0-76F7-8442-D00FEB0996FD}"/>
              </a:ext>
            </a:extLst>
          </p:cNvPr>
          <p:cNvSpPr/>
          <p:nvPr/>
        </p:nvSpPr>
        <p:spPr>
          <a:xfrm>
            <a:off x="548640" y="2194560"/>
            <a:ext cx="740054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EE968042-0621-E5D1-02A4-7BD3B32A35D8}"/>
              </a:ext>
            </a:extLst>
          </p:cNvPr>
          <p:cNvSpPr/>
          <p:nvPr/>
        </p:nvSpPr>
        <p:spPr>
          <a:xfrm>
            <a:off x="768096" y="2560320"/>
            <a:ext cx="188976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57A75E88-147F-4EAD-DA2F-4AAF16A18A9F}"/>
              </a:ext>
            </a:extLst>
          </p:cNvPr>
          <p:cNvSpPr/>
          <p:nvPr/>
        </p:nvSpPr>
        <p:spPr>
          <a:xfrm>
            <a:off x="1377696" y="2804160"/>
            <a:ext cx="670560" cy="670560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1277F9F7-6A43-0F6B-7460-DED70E2B3CA8}"/>
              </a:ext>
            </a:extLst>
          </p:cNvPr>
          <p:cNvSpPr/>
          <p:nvPr/>
        </p:nvSpPr>
        <p:spPr>
          <a:xfrm>
            <a:off x="1377696" y="2804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1907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10E3F779-C0B1-81DB-C43A-11560F0918EF}"/>
              </a:ext>
            </a:extLst>
          </p:cNvPr>
          <p:cNvSpPr/>
          <p:nvPr/>
        </p:nvSpPr>
        <p:spPr>
          <a:xfrm>
            <a:off x="768096" y="3596640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(Teacher)</a:t>
            </a:r>
            <a:endParaRPr lang="en-US" sz="16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ECEB2AAC-6B5B-218C-8F76-9313083057F2}"/>
              </a:ext>
            </a:extLst>
          </p:cNvPr>
          <p:cNvSpPr/>
          <p:nvPr/>
        </p:nvSpPr>
        <p:spPr>
          <a:xfrm>
            <a:off x="841248" y="3962400"/>
            <a:ext cx="17434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대형 모델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학습된 지식·답변 생성 패턴 제공</a:t>
            </a:r>
            <a:endParaRPr lang="en-US" sz="1333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0C774617-85BF-6930-1355-EED472880F15}"/>
              </a:ext>
            </a:extLst>
          </p:cNvPr>
          <p:cNvSpPr/>
          <p:nvPr/>
        </p:nvSpPr>
        <p:spPr>
          <a:xfrm>
            <a:off x="2731008" y="2926080"/>
            <a:ext cx="5242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933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F515B190-2187-61CB-812B-E42595A638F1}"/>
              </a:ext>
            </a:extLst>
          </p:cNvPr>
          <p:cNvSpPr/>
          <p:nvPr/>
        </p:nvSpPr>
        <p:spPr>
          <a:xfrm>
            <a:off x="3328416" y="2560320"/>
            <a:ext cx="188976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469AC481-2ECC-A097-17F0-A2B7A2614BE0}"/>
              </a:ext>
            </a:extLst>
          </p:cNvPr>
          <p:cNvSpPr/>
          <p:nvPr/>
        </p:nvSpPr>
        <p:spPr>
          <a:xfrm>
            <a:off x="3938016" y="2804160"/>
            <a:ext cx="670560" cy="670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0FE95D71-FC0E-66AC-8689-4127DE4EAC85}"/>
              </a:ext>
            </a:extLst>
          </p:cNvPr>
          <p:cNvSpPr/>
          <p:nvPr/>
        </p:nvSpPr>
        <p:spPr>
          <a:xfrm>
            <a:off x="3938016" y="2804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</a:t>
            </a:r>
            <a:endParaRPr lang="en-US" sz="1907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3CA29474-7935-CC62-D026-4C53943AD765}"/>
              </a:ext>
            </a:extLst>
          </p:cNvPr>
          <p:cNvSpPr/>
          <p:nvPr/>
        </p:nvSpPr>
        <p:spPr>
          <a:xfrm>
            <a:off x="3328416" y="3596640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 힌트</a:t>
            </a:r>
            <a:endParaRPr lang="en-US" sz="16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0B0A611D-3974-1AA2-CDA0-80F7E05E78E3}"/>
              </a:ext>
            </a:extLst>
          </p:cNvPr>
          <p:cNvSpPr/>
          <p:nvPr/>
        </p:nvSpPr>
        <p:spPr>
          <a:xfrm>
            <a:off x="3401568" y="3962400"/>
            <a:ext cx="17434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확률 분포를 통해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간 관계 정보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(Dark Knowledge) 까지 전달</a:t>
            </a:r>
            <a:endParaRPr lang="en-US" sz="1333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51E385C9-9418-0FAF-4BA6-6745CF15F75F}"/>
              </a:ext>
            </a:extLst>
          </p:cNvPr>
          <p:cNvSpPr/>
          <p:nvPr/>
        </p:nvSpPr>
        <p:spPr>
          <a:xfrm>
            <a:off x="5291328" y="2926080"/>
            <a:ext cx="5242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933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64990E34-2B12-8712-8AB2-3A7F480AE034}"/>
              </a:ext>
            </a:extLst>
          </p:cNvPr>
          <p:cNvSpPr/>
          <p:nvPr/>
        </p:nvSpPr>
        <p:spPr>
          <a:xfrm>
            <a:off x="5888736" y="2560320"/>
            <a:ext cx="1889760" cy="3291840"/>
          </a:xfrm>
          <a:prstGeom prst="rect">
            <a:avLst/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426F5424-7E85-7E3F-F662-8ECA1224EA34}"/>
              </a:ext>
            </a:extLst>
          </p:cNvPr>
          <p:cNvSpPr/>
          <p:nvPr/>
        </p:nvSpPr>
        <p:spPr>
          <a:xfrm>
            <a:off x="6498336" y="2804160"/>
            <a:ext cx="670560" cy="670560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1F37BF38-FDA8-8AE9-F786-7FAE8ED26B5D}"/>
              </a:ext>
            </a:extLst>
          </p:cNvPr>
          <p:cNvSpPr/>
          <p:nvPr/>
        </p:nvSpPr>
        <p:spPr>
          <a:xfrm>
            <a:off x="6498336" y="2804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</a:t>
            </a:r>
            <a:endParaRPr lang="en-US" sz="1907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E7F66D57-1745-9787-B419-7EF6F7E4E92C}"/>
              </a:ext>
            </a:extLst>
          </p:cNvPr>
          <p:cNvSpPr/>
          <p:nvPr/>
        </p:nvSpPr>
        <p:spPr>
          <a:xfrm>
            <a:off x="5888736" y="3596640"/>
            <a:ext cx="188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 (Student)</a:t>
            </a:r>
            <a:endParaRPr lang="en-US" sz="16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10F710D4-85EA-F85F-A9AB-DFFEA557998A}"/>
              </a:ext>
            </a:extLst>
          </p:cNvPr>
          <p:cNvSpPr/>
          <p:nvPr/>
        </p:nvSpPr>
        <p:spPr>
          <a:xfrm>
            <a:off x="5961888" y="3962400"/>
            <a:ext cx="17434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소형 모델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행동을 모방하며 학습</a:t>
            </a:r>
            <a:endParaRPr lang="en-US" sz="1333" dirty="0"/>
          </a:p>
        </p:txBody>
      </p:sp>
      <p:sp>
        <p:nvSpPr>
          <p:cNvPr id="53" name="Shape 26">
            <a:extLst>
              <a:ext uri="{FF2B5EF4-FFF2-40B4-BE49-F238E27FC236}">
                <a16:creationId xmlns:a16="http://schemas.microsoft.com/office/drawing/2014/main" id="{75197D56-A75E-BA35-6502-F8BF4A89FF59}"/>
              </a:ext>
            </a:extLst>
          </p:cNvPr>
          <p:cNvSpPr/>
          <p:nvPr/>
        </p:nvSpPr>
        <p:spPr>
          <a:xfrm>
            <a:off x="8046720" y="2292096"/>
            <a:ext cx="73152" cy="121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6625254B-6CF5-8DEB-C26E-6D2185FC0B35}"/>
              </a:ext>
            </a:extLst>
          </p:cNvPr>
          <p:cNvSpPr/>
          <p:nvPr/>
        </p:nvSpPr>
        <p:spPr>
          <a:xfrm>
            <a:off x="8119872" y="2292096"/>
            <a:ext cx="358444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455865E3-ABA4-FFB7-C9E3-B1AFAD2923BD}"/>
              </a:ext>
            </a:extLst>
          </p:cNvPr>
          <p:cNvSpPr/>
          <p:nvPr/>
        </p:nvSpPr>
        <p:spPr>
          <a:xfrm>
            <a:off x="8266176" y="2414016"/>
            <a:ext cx="33406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기원</a:t>
            </a:r>
            <a:endParaRPr lang="en-US" sz="1733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D50D6D01-4B6F-F24F-7B40-02AF2097D1AF}"/>
              </a:ext>
            </a:extLst>
          </p:cNvPr>
          <p:cNvSpPr/>
          <p:nvPr/>
        </p:nvSpPr>
        <p:spPr>
          <a:xfrm>
            <a:off x="8266176" y="2731008"/>
            <a:ext cx="334060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Hinton et al. (2015), 신경망 지식 증류의 이론적 기반</a:t>
            </a:r>
            <a:endParaRPr lang="en-US" sz="1400" dirty="0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D7009D93-E231-0AE2-6F02-FC21BCEC3F62}"/>
              </a:ext>
            </a:extLst>
          </p:cNvPr>
          <p:cNvSpPr/>
          <p:nvPr/>
        </p:nvSpPr>
        <p:spPr>
          <a:xfrm>
            <a:off x="8046720" y="3608832"/>
            <a:ext cx="73152" cy="121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906ACACC-A6AD-E399-0CE8-2D14A162FBD5}"/>
              </a:ext>
            </a:extLst>
          </p:cNvPr>
          <p:cNvSpPr/>
          <p:nvPr/>
        </p:nvSpPr>
        <p:spPr>
          <a:xfrm>
            <a:off x="8119872" y="3608832"/>
            <a:ext cx="358444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36D7AC64-8777-2F1D-DA62-314DFE975337}"/>
              </a:ext>
            </a:extLst>
          </p:cNvPr>
          <p:cNvSpPr/>
          <p:nvPr/>
        </p:nvSpPr>
        <p:spPr>
          <a:xfrm>
            <a:off x="8266176" y="3730752"/>
            <a:ext cx="33406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733" dirty="0"/>
          </a:p>
        </p:txBody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B9E2EC4A-4D34-BC24-8419-A4B5578CE6BC}"/>
              </a:ext>
            </a:extLst>
          </p:cNvPr>
          <p:cNvSpPr/>
          <p:nvPr/>
        </p:nvSpPr>
        <p:spPr>
          <a:xfrm>
            <a:off x="8266176" y="4047744"/>
            <a:ext cx="334060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정보 뿐만 아니라 답 후보 간 관계 (숨은 힌트) 를 전달</a:t>
            </a:r>
            <a:endParaRPr lang="en-US" sz="1400" dirty="0"/>
          </a:p>
        </p:txBody>
      </p:sp>
      <p:sp>
        <p:nvSpPr>
          <p:cNvPr id="61" name="Shape 34">
            <a:extLst>
              <a:ext uri="{FF2B5EF4-FFF2-40B4-BE49-F238E27FC236}">
                <a16:creationId xmlns:a16="http://schemas.microsoft.com/office/drawing/2014/main" id="{B29EF1A6-782F-04F1-B83F-5B4D5C3A4497}"/>
              </a:ext>
            </a:extLst>
          </p:cNvPr>
          <p:cNvSpPr/>
          <p:nvPr/>
        </p:nvSpPr>
        <p:spPr>
          <a:xfrm>
            <a:off x="8046720" y="4925568"/>
            <a:ext cx="73152" cy="121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Shape 35">
            <a:extLst>
              <a:ext uri="{FF2B5EF4-FFF2-40B4-BE49-F238E27FC236}">
                <a16:creationId xmlns:a16="http://schemas.microsoft.com/office/drawing/2014/main" id="{A47E4CF1-2397-1E9A-0746-917EC2D70D3B}"/>
              </a:ext>
            </a:extLst>
          </p:cNvPr>
          <p:cNvSpPr/>
          <p:nvPr/>
        </p:nvSpPr>
        <p:spPr>
          <a:xfrm>
            <a:off x="8119872" y="4925568"/>
            <a:ext cx="358444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68167AE7-3F9E-959D-7FE8-28D3C9DB542D}"/>
              </a:ext>
            </a:extLst>
          </p:cNvPr>
          <p:cNvSpPr/>
          <p:nvPr/>
        </p:nvSpPr>
        <p:spPr>
          <a:xfrm>
            <a:off x="8266176" y="5047488"/>
            <a:ext cx="33406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733" dirty="0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CB864CBB-5EDD-D9CF-9DB2-795B68EC2BCE}"/>
              </a:ext>
            </a:extLst>
          </p:cNvPr>
          <p:cNvSpPr/>
          <p:nvPr/>
        </p:nvSpPr>
        <p:spPr>
          <a:xfrm>
            <a:off x="8266176" y="5364480"/>
            <a:ext cx="3340608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크기↓, 답변 생성속도↑, 성능은 큰 모델 수준에 가깝게 유지</a:t>
            </a:r>
            <a:endParaRPr 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3ABA694-3AED-1FBA-7509-F2137C04F506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343356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DF2D6452-68E8-4C0C-A3B9-F48DE7992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428E35-BCE5-4F43-9130-5BEC433FF7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A82E29-DDA7-4C72-BB3D-B6881788CDC3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205265-9EAA-4299-8F85-5E93AFD0F465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 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65E7D8-1A88-46B9-A030-55171BF46181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D3595-2641-4A00-B533-976CDB2163F7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r>
              <a:rPr lang="ko-KR" alt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정확성과 일반화 동시 확보 위해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</a:t>
            </a:r>
            <a:r>
              <a:rPr lang="ko-KR" alt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en-US" altLang="ko-KR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</a:t>
            </a:r>
            <a:r>
              <a:rPr lang="en-US" altLang="ko-KR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4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</a:t>
            </a:r>
            <a:r>
              <a:rPr lang="en-US" altLang="ko-KR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endParaRPr lang="en-US" altLang="ko-KR" sz="2400" dirty="0"/>
          </a:p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598717-9522-487C-8126-2B1BF4DBB96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BFF8F1-0361-402E-8E0E-297999CC5CB4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정답만 외우지 않고, 큰 모델이 헷갈린 후보까지 함께 배움</a:t>
            </a:r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849D21E6-A71B-BB13-8394-3C463349E2DA}"/>
              </a:ext>
            </a:extLst>
          </p:cNvPr>
          <p:cNvSpPr/>
          <p:nvPr/>
        </p:nvSpPr>
        <p:spPr>
          <a:xfrm>
            <a:off x="548640" y="2194560"/>
            <a:ext cx="5425440" cy="396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3809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E04F180A-8AD1-BC5E-CD9A-8EB45459EDC4}"/>
              </a:ext>
            </a:extLst>
          </p:cNvPr>
          <p:cNvSpPr/>
          <p:nvPr/>
        </p:nvSpPr>
        <p:spPr>
          <a:xfrm>
            <a:off x="548640" y="2194560"/>
            <a:ext cx="73152" cy="3962400"/>
          </a:xfrm>
          <a:prstGeom prst="rect">
            <a:avLst/>
          </a:prstGeom>
          <a:solidFill>
            <a:srgbClr val="738095"/>
          </a:solidFill>
          <a:ln w="12700">
            <a:solidFill>
              <a:srgbClr val="73809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33A74FEE-1F2E-CB2D-8637-1ACFEC32F926}"/>
              </a:ext>
            </a:extLst>
          </p:cNvPr>
          <p:cNvSpPr/>
          <p:nvPr/>
        </p:nvSpPr>
        <p:spPr>
          <a:xfrm>
            <a:off x="768096" y="2389632"/>
            <a:ext cx="512064" cy="512064"/>
          </a:xfrm>
          <a:prstGeom prst="ellipse">
            <a:avLst/>
          </a:prstGeom>
          <a:solidFill>
            <a:srgbClr val="738095"/>
          </a:solidFill>
          <a:ln w="12700">
            <a:solidFill>
              <a:srgbClr val="73809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EAF92F92-33BE-88FA-3504-FD224E4B45C7}"/>
              </a:ext>
            </a:extLst>
          </p:cNvPr>
          <p:cNvSpPr/>
          <p:nvPr/>
        </p:nvSpPr>
        <p:spPr>
          <a:xfrm>
            <a:off x="768096" y="2389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56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3AA43A5D-AD1F-39DD-EEF0-794E6ACC981D}"/>
              </a:ext>
            </a:extLst>
          </p:cNvPr>
          <p:cNvSpPr/>
          <p:nvPr/>
        </p:nvSpPr>
        <p:spPr>
          <a:xfrm>
            <a:off x="1377696" y="2389632"/>
            <a:ext cx="44256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정답만 보는 학습</a:t>
            </a:r>
            <a:endParaRPr lang="en-US" sz="20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99BDD2BF-1297-4157-0504-A3FA85288672}"/>
              </a:ext>
            </a:extLst>
          </p:cNvPr>
          <p:cNvSpPr/>
          <p:nvPr/>
        </p:nvSpPr>
        <p:spPr>
          <a:xfrm>
            <a:off x="1377696" y="2706624"/>
            <a:ext cx="442569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표시만 사용</a:t>
            </a:r>
            <a:endParaRPr lang="en-US" sz="1333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1DEADD73-62DD-5C08-1135-E5CC610BCB2E}"/>
              </a:ext>
            </a:extLst>
          </p:cNvPr>
          <p:cNvSpPr/>
          <p:nvPr/>
        </p:nvSpPr>
        <p:spPr>
          <a:xfrm>
            <a:off x="694944" y="3072384"/>
            <a:ext cx="5132832" cy="902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1578EA6-926A-E00A-FC75-D446D4D7F668}"/>
              </a:ext>
            </a:extLst>
          </p:cNvPr>
          <p:cNvSpPr/>
          <p:nvPr/>
        </p:nvSpPr>
        <p:spPr>
          <a:xfrm>
            <a:off x="816864" y="3194304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신호</a:t>
            </a:r>
            <a:endParaRPr lang="en-US" sz="16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AE6AA04A-AC75-6CF8-27E1-6FF0C9B892D6}"/>
              </a:ext>
            </a:extLst>
          </p:cNvPr>
          <p:cNvSpPr/>
          <p:nvPr/>
        </p:nvSpPr>
        <p:spPr>
          <a:xfrm>
            <a:off x="2109216" y="31943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정답만 표시된 자료를 사용, 확률은 0 또는 1</a:t>
            </a:r>
            <a:endParaRPr lang="en-US" sz="14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8DF5654B-4C6B-E58E-2DA2-A5D9DCF4C952}"/>
              </a:ext>
            </a:extLst>
          </p:cNvPr>
          <p:cNvSpPr/>
          <p:nvPr/>
        </p:nvSpPr>
        <p:spPr>
          <a:xfrm>
            <a:off x="694944" y="4072128"/>
            <a:ext cx="5132832" cy="902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10F3C658-D469-4A17-3888-A4032F137324}"/>
              </a:ext>
            </a:extLst>
          </p:cNvPr>
          <p:cNvSpPr/>
          <p:nvPr/>
        </p:nvSpPr>
        <p:spPr>
          <a:xfrm>
            <a:off x="816864" y="4194048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기준</a:t>
            </a:r>
            <a:endParaRPr lang="en-US" sz="16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06A25193-9985-8244-0F95-76462AE6F58F}"/>
              </a:ext>
            </a:extLst>
          </p:cNvPr>
          <p:cNvSpPr/>
          <p:nvPr/>
        </p:nvSpPr>
        <p:spPr>
          <a:xfrm>
            <a:off x="2109216" y="41940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맞히기 중심, 틀린 답 후보 정보는 무시</a:t>
            </a:r>
            <a:endParaRPr lang="en-US" sz="1400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C5ACE89A-ACBB-1A63-6B41-646C0B414B6A}"/>
              </a:ext>
            </a:extLst>
          </p:cNvPr>
          <p:cNvSpPr/>
          <p:nvPr/>
        </p:nvSpPr>
        <p:spPr>
          <a:xfrm>
            <a:off x="694944" y="5071872"/>
            <a:ext cx="5132832" cy="902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78CD0F53-3FE0-EA01-3816-2DB591F5B66F}"/>
              </a:ext>
            </a:extLst>
          </p:cNvPr>
          <p:cNvSpPr/>
          <p:nvPr/>
        </p:nvSpPr>
        <p:spPr>
          <a:xfrm>
            <a:off x="816864" y="5193792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6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26B3380C-E533-8C3C-46BD-B3D0C1753201}"/>
              </a:ext>
            </a:extLst>
          </p:cNvPr>
          <p:cNvSpPr/>
          <p:nvPr/>
        </p:nvSpPr>
        <p:spPr>
          <a:xfrm>
            <a:off x="2109216" y="51937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후보 간 유사성·대안 후보의 </a:t>
            </a:r>
            <a:r>
              <a:rPr lang="en-US" sz="1400" dirty="0" err="1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정보가</a:t>
            </a: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부족하여 </a:t>
            </a:r>
            <a:r>
              <a:rPr lang="en-US" alt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Student </a:t>
            </a:r>
            <a:r>
              <a:rPr lang="ko-KR" alt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모델의 일반화 능력에 한계 </a:t>
            </a:r>
            <a:endParaRPr lang="en-US" sz="140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1A58F2D6-523F-9B41-276C-960DFF9CB57C}"/>
              </a:ext>
            </a:extLst>
          </p:cNvPr>
          <p:cNvSpPr/>
          <p:nvPr/>
        </p:nvSpPr>
        <p:spPr>
          <a:xfrm>
            <a:off x="6217920" y="2194560"/>
            <a:ext cx="5425440" cy="396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FCAD6A58-C123-C60C-7A08-002FEAF78F08}"/>
              </a:ext>
            </a:extLst>
          </p:cNvPr>
          <p:cNvSpPr/>
          <p:nvPr/>
        </p:nvSpPr>
        <p:spPr>
          <a:xfrm>
            <a:off x="6217920" y="2194560"/>
            <a:ext cx="73152" cy="3962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5FE0D439-66D0-DD75-94C7-646207E2CD1D}"/>
              </a:ext>
            </a:extLst>
          </p:cNvPr>
          <p:cNvSpPr/>
          <p:nvPr/>
        </p:nvSpPr>
        <p:spPr>
          <a:xfrm>
            <a:off x="6437376" y="2389632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0D22B51C-4101-91F8-50D4-E15271F44676}"/>
              </a:ext>
            </a:extLst>
          </p:cNvPr>
          <p:cNvSpPr/>
          <p:nvPr/>
        </p:nvSpPr>
        <p:spPr>
          <a:xfrm>
            <a:off x="6437376" y="2389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456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7BBFE70C-572F-D08F-32EE-46F937927535}"/>
              </a:ext>
            </a:extLst>
          </p:cNvPr>
          <p:cNvSpPr/>
          <p:nvPr/>
        </p:nvSpPr>
        <p:spPr>
          <a:xfrm>
            <a:off x="7046976" y="2389632"/>
            <a:ext cx="442569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</a:t>
            </a:r>
            <a:r>
              <a:rPr lang="en-US" sz="2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증류</a:t>
            </a:r>
            <a:r>
              <a:rPr lang="en-US" sz="2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확률 힌트 학습</a:t>
            </a:r>
            <a:endParaRPr lang="en-US" sz="20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A65DC7A5-B481-4FCC-E0D5-94453906349D}"/>
              </a:ext>
            </a:extLst>
          </p:cNvPr>
          <p:cNvSpPr/>
          <p:nvPr/>
        </p:nvSpPr>
        <p:spPr>
          <a:xfrm>
            <a:off x="7046976" y="2706624"/>
            <a:ext cx="442569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7380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출력 분포 활용</a:t>
            </a:r>
            <a:endParaRPr lang="en-US" sz="1333" dirty="0"/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40DDC583-3D34-CD98-C329-E343FC3C77AE}"/>
              </a:ext>
            </a:extLst>
          </p:cNvPr>
          <p:cNvSpPr/>
          <p:nvPr/>
        </p:nvSpPr>
        <p:spPr>
          <a:xfrm>
            <a:off x="6364224" y="3072384"/>
            <a:ext cx="5132832" cy="902208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C9D9EE55-BB96-B5E3-F143-1C34DB8BB32C}"/>
              </a:ext>
            </a:extLst>
          </p:cNvPr>
          <p:cNvSpPr/>
          <p:nvPr/>
        </p:nvSpPr>
        <p:spPr>
          <a:xfrm>
            <a:off x="6486144" y="3194304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신호</a:t>
            </a:r>
            <a:endParaRPr lang="en-US" sz="1600" dirty="0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20B37C12-1E07-B74F-5C82-7811B3D6CF6B}"/>
              </a:ext>
            </a:extLst>
          </p:cNvPr>
          <p:cNvSpPr/>
          <p:nvPr/>
        </p:nvSpPr>
        <p:spPr>
          <a:xfrm>
            <a:off x="7778496" y="31943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모델의 확률 힌트를 모방해 답 후보 관계 학습</a:t>
            </a:r>
            <a:endParaRPr lang="en-US" sz="1400" dirty="0"/>
          </a:p>
        </p:txBody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59C30EA9-5DDD-49D7-87F3-CB4DF8763F66}"/>
              </a:ext>
            </a:extLst>
          </p:cNvPr>
          <p:cNvSpPr/>
          <p:nvPr/>
        </p:nvSpPr>
        <p:spPr>
          <a:xfrm>
            <a:off x="6364224" y="4072128"/>
            <a:ext cx="5132832" cy="902208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EBBC7F17-39D2-09CC-285A-0BBE8DE221BB}"/>
              </a:ext>
            </a:extLst>
          </p:cNvPr>
          <p:cNvSpPr/>
          <p:nvPr/>
        </p:nvSpPr>
        <p:spPr>
          <a:xfrm>
            <a:off x="6486144" y="4194048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기준</a:t>
            </a:r>
            <a:endParaRPr lang="en-US" sz="1600" dirty="0"/>
          </a:p>
        </p:txBody>
      </p:sp>
      <p:sp>
        <p:nvSpPr>
          <p:cNvPr id="65" name="Text 34">
            <a:extLst>
              <a:ext uri="{FF2B5EF4-FFF2-40B4-BE49-F238E27FC236}">
                <a16:creationId xmlns:a16="http://schemas.microsoft.com/office/drawing/2014/main" id="{E1CD35F6-3B02-DA10-0F50-F1A5F78CFB3A}"/>
              </a:ext>
            </a:extLst>
          </p:cNvPr>
          <p:cNvSpPr/>
          <p:nvPr/>
        </p:nvSpPr>
        <p:spPr>
          <a:xfrm>
            <a:off x="7778496" y="41940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정보와 큰 모델의 확률 힌트를 함께 사용</a:t>
            </a:r>
            <a:endParaRPr lang="en-US" sz="1400" dirty="0"/>
          </a:p>
        </p:txBody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705A209D-0449-A286-902C-C01F863DFDFD}"/>
              </a:ext>
            </a:extLst>
          </p:cNvPr>
          <p:cNvSpPr/>
          <p:nvPr/>
        </p:nvSpPr>
        <p:spPr>
          <a:xfrm>
            <a:off x="6364224" y="5071872"/>
            <a:ext cx="5132832" cy="902208"/>
          </a:xfrm>
          <a:prstGeom prst="rect">
            <a:avLst/>
          </a:prstGeom>
          <a:solidFill>
            <a:srgbClr val="EEF4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Text 36">
            <a:extLst>
              <a:ext uri="{FF2B5EF4-FFF2-40B4-BE49-F238E27FC236}">
                <a16:creationId xmlns:a16="http://schemas.microsoft.com/office/drawing/2014/main" id="{15BA3349-2F80-29F2-9CA5-9CB9989131C3}"/>
              </a:ext>
            </a:extLst>
          </p:cNvPr>
          <p:cNvSpPr/>
          <p:nvPr/>
        </p:nvSpPr>
        <p:spPr>
          <a:xfrm>
            <a:off x="6486144" y="5193792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1600" dirty="0"/>
          </a:p>
        </p:txBody>
      </p:sp>
      <p:sp>
        <p:nvSpPr>
          <p:cNvPr id="68" name="Text 37">
            <a:extLst>
              <a:ext uri="{FF2B5EF4-FFF2-40B4-BE49-F238E27FC236}">
                <a16:creationId xmlns:a16="http://schemas.microsoft.com/office/drawing/2014/main" id="{839DFC21-7551-CD23-B47F-D21A62D4A583}"/>
              </a:ext>
            </a:extLst>
          </p:cNvPr>
          <p:cNvSpPr/>
          <p:nvPr/>
        </p:nvSpPr>
        <p:spPr>
          <a:xfrm>
            <a:off x="7778496" y="51937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힌트를 통해 일반화와 지식 보존을 개선</a:t>
            </a:r>
            <a:endParaRPr lang="en-US" sz="1400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AB7350D-37A1-3C23-7DA9-52683F0BF6B9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7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500111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3F52B355-1D1B-4CD1-90B1-04C2F2484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129A63-DF00-422A-ABE0-B6BE8951A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00A5A7-3B5F-4869-B679-595DD7DA18DE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6E49D6-DE82-4BEC-B63D-314D33BCA2E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 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F871C5-9A03-46A8-B440-AA919C3430D0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482B65-38A7-43B8-8E17-129CFCC28DA5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증류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성능 개선을 위해 고려해야 할 기법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531504-3296-428F-87E5-454BF865A84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BBD30C-9B5E-4E06-BBC8-8942BD2F4498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세 기법은 서로 다른 방식으로 모델을 압축하며, 목적에 따라 선택적으로 결합</a:t>
            </a:r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07AEF555-BFBF-9360-8360-DA8277430A21}"/>
              </a:ext>
            </a:extLst>
          </p:cNvPr>
          <p:cNvSpPr/>
          <p:nvPr/>
        </p:nvSpPr>
        <p:spPr>
          <a:xfrm>
            <a:off x="548640" y="2194560"/>
            <a:ext cx="79248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13E003EA-B872-E805-BB97-F1FFC253C0D8}"/>
              </a:ext>
            </a:extLst>
          </p:cNvPr>
          <p:cNvSpPr/>
          <p:nvPr/>
        </p:nvSpPr>
        <p:spPr>
          <a:xfrm>
            <a:off x="1341120" y="2194560"/>
            <a:ext cx="256032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1AF3B366-BFEC-FFC8-BF16-55447B2E21A2}"/>
              </a:ext>
            </a:extLst>
          </p:cNvPr>
          <p:cNvSpPr/>
          <p:nvPr/>
        </p:nvSpPr>
        <p:spPr>
          <a:xfrm>
            <a:off x="1341120" y="2194560"/>
            <a:ext cx="2560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기법</a:t>
            </a:r>
            <a:endParaRPr lang="en-US" sz="1467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BF49F88B-F955-AB29-9402-2CD549267CED}"/>
              </a:ext>
            </a:extLst>
          </p:cNvPr>
          <p:cNvSpPr/>
          <p:nvPr/>
        </p:nvSpPr>
        <p:spPr>
          <a:xfrm>
            <a:off x="3901440" y="2194560"/>
            <a:ext cx="280416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6C509388-EB07-4A76-0C0B-5254DE731090}"/>
              </a:ext>
            </a:extLst>
          </p:cNvPr>
          <p:cNvSpPr/>
          <p:nvPr/>
        </p:nvSpPr>
        <p:spPr>
          <a:xfrm>
            <a:off x="3901440" y="2194560"/>
            <a:ext cx="2804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467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779919CA-6F24-93FB-2B60-CA7C6518666D}"/>
              </a:ext>
            </a:extLst>
          </p:cNvPr>
          <p:cNvSpPr/>
          <p:nvPr/>
        </p:nvSpPr>
        <p:spPr>
          <a:xfrm>
            <a:off x="6705600" y="2194560"/>
            <a:ext cx="256032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587451FB-E5BF-23DE-9DA7-9CB59197C65C}"/>
              </a:ext>
            </a:extLst>
          </p:cNvPr>
          <p:cNvSpPr/>
          <p:nvPr/>
        </p:nvSpPr>
        <p:spPr>
          <a:xfrm>
            <a:off x="6705600" y="2194560"/>
            <a:ext cx="2560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467" dirty="0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627546B-623A-0A4E-98EE-BEB21649FDA9}"/>
              </a:ext>
            </a:extLst>
          </p:cNvPr>
          <p:cNvSpPr/>
          <p:nvPr/>
        </p:nvSpPr>
        <p:spPr>
          <a:xfrm>
            <a:off x="9265920" y="2194560"/>
            <a:ext cx="2377440" cy="41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C1D259A3-88ED-B7A4-D0FC-E7596345E59E}"/>
              </a:ext>
            </a:extLst>
          </p:cNvPr>
          <p:cNvSpPr/>
          <p:nvPr/>
        </p:nvSpPr>
        <p:spPr>
          <a:xfrm>
            <a:off x="9265920" y="2194560"/>
            <a:ext cx="2377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프로젝트 적용 방향</a:t>
            </a:r>
            <a:endParaRPr lang="en-US" sz="1467" dirty="0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2B87F01B-C52E-4ED8-3977-C04C3A382A00}"/>
              </a:ext>
            </a:extLst>
          </p:cNvPr>
          <p:cNvSpPr/>
          <p:nvPr/>
        </p:nvSpPr>
        <p:spPr>
          <a:xfrm>
            <a:off x="548640" y="2609088"/>
            <a:ext cx="79248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90638DD7-8AFB-A597-5DFD-D8A3BF9C12A9}"/>
              </a:ext>
            </a:extLst>
          </p:cNvPr>
          <p:cNvSpPr/>
          <p:nvPr/>
        </p:nvSpPr>
        <p:spPr>
          <a:xfrm>
            <a:off x="670560" y="285292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F2A303F9-9155-7062-CCBD-789BD5FAC284}"/>
              </a:ext>
            </a:extLst>
          </p:cNvPr>
          <p:cNvSpPr/>
          <p:nvPr/>
        </p:nvSpPr>
        <p:spPr>
          <a:xfrm>
            <a:off x="67056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KD</a:t>
            </a:r>
            <a:endParaRPr lang="en-US" sz="1456" dirty="0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B6A0C697-954E-CD0F-283E-2A07C7AA2D5B}"/>
              </a:ext>
            </a:extLst>
          </p:cNvPr>
          <p:cNvSpPr/>
          <p:nvPr/>
        </p:nvSpPr>
        <p:spPr>
          <a:xfrm>
            <a:off x="1341120" y="2609088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CAC8921A-F755-F997-94B4-13C373134B1E}"/>
              </a:ext>
            </a:extLst>
          </p:cNvPr>
          <p:cNvSpPr/>
          <p:nvPr/>
        </p:nvSpPr>
        <p:spPr>
          <a:xfrm>
            <a:off x="1438656" y="2682240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증류</a:t>
            </a:r>
            <a:endParaRPr lang="en-US" sz="1400" dirty="0"/>
          </a:p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(Knowledge Distillation)</a:t>
            </a:r>
            <a:endParaRPr lang="en-US" sz="1400" dirty="0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17D22B54-4EAE-51C9-4807-90013C3CBD5A}"/>
              </a:ext>
            </a:extLst>
          </p:cNvPr>
          <p:cNvSpPr/>
          <p:nvPr/>
        </p:nvSpPr>
        <p:spPr>
          <a:xfrm>
            <a:off x="3901440" y="2609088"/>
            <a:ext cx="280416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F077F1B5-9486-5E21-B838-94A3C42242A6}"/>
              </a:ext>
            </a:extLst>
          </p:cNvPr>
          <p:cNvSpPr/>
          <p:nvPr/>
        </p:nvSpPr>
        <p:spPr>
          <a:xfrm>
            <a:off x="3998976" y="2682240"/>
            <a:ext cx="260908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모델 지식을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모델에 이전</a:t>
            </a:r>
            <a:endParaRPr lang="en-US" sz="14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9207BC23-14F8-A199-3A82-27627A112966}"/>
              </a:ext>
            </a:extLst>
          </p:cNvPr>
          <p:cNvSpPr/>
          <p:nvPr/>
        </p:nvSpPr>
        <p:spPr>
          <a:xfrm>
            <a:off x="6705600" y="2609088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A72752E2-5561-820B-4D84-B706B2027706}"/>
              </a:ext>
            </a:extLst>
          </p:cNvPr>
          <p:cNvSpPr/>
          <p:nvPr/>
        </p:nvSpPr>
        <p:spPr>
          <a:xfrm>
            <a:off x="6803136" y="2682240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구조적으로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모델을 학습</a:t>
            </a:r>
            <a:endParaRPr lang="en-US" sz="1400" dirty="0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0E687CC2-7490-78FE-CA1D-D170755038EA}"/>
              </a:ext>
            </a:extLst>
          </p:cNvPr>
          <p:cNvSpPr/>
          <p:nvPr/>
        </p:nvSpPr>
        <p:spPr>
          <a:xfrm>
            <a:off x="9265920" y="2609088"/>
            <a:ext cx="23774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B0E0D540-9289-93DD-1E5A-3D4F5DA72EBC}"/>
              </a:ext>
            </a:extLst>
          </p:cNvPr>
          <p:cNvSpPr/>
          <p:nvPr/>
        </p:nvSpPr>
        <p:spPr>
          <a:xfrm>
            <a:off x="9363456" y="2682240"/>
            <a:ext cx="218236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 만들기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연구의 중심 방법</a:t>
            </a:r>
            <a:endParaRPr lang="en-US" sz="1400" dirty="0"/>
          </a:p>
        </p:txBody>
      </p:sp>
      <p:sp>
        <p:nvSpPr>
          <p:cNvPr id="72" name="Shape 28">
            <a:extLst>
              <a:ext uri="{FF2B5EF4-FFF2-40B4-BE49-F238E27FC236}">
                <a16:creationId xmlns:a16="http://schemas.microsoft.com/office/drawing/2014/main" id="{3A939F89-F292-6D20-E7BF-5896BA092CC0}"/>
              </a:ext>
            </a:extLst>
          </p:cNvPr>
          <p:cNvSpPr/>
          <p:nvPr/>
        </p:nvSpPr>
        <p:spPr>
          <a:xfrm>
            <a:off x="548640" y="3608832"/>
            <a:ext cx="79248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6D7A22BB-A4CE-7AF6-999D-A132546E1BD6}"/>
              </a:ext>
            </a:extLst>
          </p:cNvPr>
          <p:cNvSpPr/>
          <p:nvPr/>
        </p:nvSpPr>
        <p:spPr>
          <a:xfrm>
            <a:off x="670560" y="3852672"/>
            <a:ext cx="512064" cy="512064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05B7AA41-F5B0-3C00-02E9-3D5927F67AA4}"/>
              </a:ext>
            </a:extLst>
          </p:cNvPr>
          <p:cNvSpPr/>
          <p:nvPr/>
        </p:nvSpPr>
        <p:spPr>
          <a:xfrm>
            <a:off x="670560" y="3852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✂</a:t>
            </a:r>
            <a:endParaRPr lang="en-US" sz="1456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97AFC893-0EA1-C9F7-1D5A-26CC8220BDD6}"/>
              </a:ext>
            </a:extLst>
          </p:cNvPr>
          <p:cNvSpPr/>
          <p:nvPr/>
        </p:nvSpPr>
        <p:spPr>
          <a:xfrm>
            <a:off x="1341120" y="3608832"/>
            <a:ext cx="256032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7F05B1C7-AAE1-88CD-49B4-4997DF57BDB2}"/>
              </a:ext>
            </a:extLst>
          </p:cNvPr>
          <p:cNvSpPr/>
          <p:nvPr/>
        </p:nvSpPr>
        <p:spPr>
          <a:xfrm>
            <a:off x="1438656" y="3681984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프루닝</a:t>
            </a:r>
            <a:endParaRPr lang="en-US" sz="1400" dirty="0"/>
          </a:p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(Pruning)</a:t>
            </a:r>
            <a:endParaRPr lang="en-US" sz="140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1AFB2BFA-B45A-1946-23EB-2F94098F9C34}"/>
              </a:ext>
            </a:extLst>
          </p:cNvPr>
          <p:cNvSpPr/>
          <p:nvPr/>
        </p:nvSpPr>
        <p:spPr>
          <a:xfrm>
            <a:off x="3901440" y="3608832"/>
            <a:ext cx="280416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6AA08242-0E16-E006-10E1-12BC5D13AFC0}"/>
              </a:ext>
            </a:extLst>
          </p:cNvPr>
          <p:cNvSpPr/>
          <p:nvPr/>
        </p:nvSpPr>
        <p:spPr>
          <a:xfrm>
            <a:off x="3998976" y="3681984"/>
            <a:ext cx="260908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중요도가 낮은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가중치·레이어 제거</a:t>
            </a:r>
            <a:endParaRPr lang="en-US" sz="1400" dirty="0"/>
          </a:p>
        </p:txBody>
      </p:sp>
      <p:sp>
        <p:nvSpPr>
          <p:cNvPr id="79" name="Shape 35">
            <a:extLst>
              <a:ext uri="{FF2B5EF4-FFF2-40B4-BE49-F238E27FC236}">
                <a16:creationId xmlns:a16="http://schemas.microsoft.com/office/drawing/2014/main" id="{2FE603B0-FB43-5199-0CF0-851963241ED2}"/>
              </a:ext>
            </a:extLst>
          </p:cNvPr>
          <p:cNvSpPr/>
          <p:nvPr/>
        </p:nvSpPr>
        <p:spPr>
          <a:xfrm>
            <a:off x="6705600" y="3608832"/>
            <a:ext cx="256032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99100484-FDB5-EF6A-3A2B-E10E729AC72C}"/>
              </a:ext>
            </a:extLst>
          </p:cNvPr>
          <p:cNvSpPr/>
          <p:nvPr/>
        </p:nvSpPr>
        <p:spPr>
          <a:xfrm>
            <a:off x="6803136" y="3681984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크기·연산량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감소</a:t>
            </a:r>
            <a:endParaRPr lang="en-US" sz="1400" dirty="0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9348142A-DB4D-5D8F-57D2-EC902E3676F4}"/>
              </a:ext>
            </a:extLst>
          </p:cNvPr>
          <p:cNvSpPr/>
          <p:nvPr/>
        </p:nvSpPr>
        <p:spPr>
          <a:xfrm>
            <a:off x="9265920" y="3608832"/>
            <a:ext cx="2377440" cy="999744"/>
          </a:xfrm>
          <a:prstGeom prst="rect">
            <a:avLst/>
          </a:prstGeom>
          <a:solidFill>
            <a:srgbClr val="F3F4F6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2" name="Text 38">
            <a:extLst>
              <a:ext uri="{FF2B5EF4-FFF2-40B4-BE49-F238E27FC236}">
                <a16:creationId xmlns:a16="http://schemas.microsoft.com/office/drawing/2014/main" id="{6A95F26E-0DD5-79CE-2599-C31F3314A296}"/>
              </a:ext>
            </a:extLst>
          </p:cNvPr>
          <p:cNvSpPr/>
          <p:nvPr/>
        </p:nvSpPr>
        <p:spPr>
          <a:xfrm>
            <a:off x="9363456" y="3681984"/>
            <a:ext cx="218236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전수 후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압축 필요 시 적용</a:t>
            </a:r>
            <a:endParaRPr lang="en-US" sz="1400" dirty="0"/>
          </a:p>
        </p:txBody>
      </p:sp>
      <p:sp>
        <p:nvSpPr>
          <p:cNvPr id="83" name="Shape 39">
            <a:extLst>
              <a:ext uri="{FF2B5EF4-FFF2-40B4-BE49-F238E27FC236}">
                <a16:creationId xmlns:a16="http://schemas.microsoft.com/office/drawing/2014/main" id="{CD047C51-A77D-9E42-994B-F9E3F7E56246}"/>
              </a:ext>
            </a:extLst>
          </p:cNvPr>
          <p:cNvSpPr/>
          <p:nvPr/>
        </p:nvSpPr>
        <p:spPr>
          <a:xfrm>
            <a:off x="548640" y="4608576"/>
            <a:ext cx="79248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4" name="Shape 40">
            <a:extLst>
              <a:ext uri="{FF2B5EF4-FFF2-40B4-BE49-F238E27FC236}">
                <a16:creationId xmlns:a16="http://schemas.microsoft.com/office/drawing/2014/main" id="{48A4261E-3D6C-4E6E-2B5F-F8FBA2490A09}"/>
              </a:ext>
            </a:extLst>
          </p:cNvPr>
          <p:cNvSpPr/>
          <p:nvPr/>
        </p:nvSpPr>
        <p:spPr>
          <a:xfrm>
            <a:off x="670560" y="4852416"/>
            <a:ext cx="512064" cy="512064"/>
          </a:xfrm>
          <a:prstGeom prst="ellipse">
            <a:avLst/>
          </a:prstGeom>
          <a:solidFill>
            <a:srgbClr val="151923"/>
          </a:solidFill>
          <a:ln w="12700">
            <a:solidFill>
              <a:srgbClr val="15192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A2DB1A22-8899-DA17-F0BE-2F42D861AB09}"/>
              </a:ext>
            </a:extLst>
          </p:cNvPr>
          <p:cNvSpPr/>
          <p:nvPr/>
        </p:nvSpPr>
        <p:spPr>
          <a:xfrm>
            <a:off x="670560" y="4852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6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456" dirty="0"/>
          </a:p>
        </p:txBody>
      </p:sp>
      <p:sp>
        <p:nvSpPr>
          <p:cNvPr id="86" name="Shape 42">
            <a:extLst>
              <a:ext uri="{FF2B5EF4-FFF2-40B4-BE49-F238E27FC236}">
                <a16:creationId xmlns:a16="http://schemas.microsoft.com/office/drawing/2014/main" id="{1F045D94-7B91-7671-FECE-59139D5F28F5}"/>
              </a:ext>
            </a:extLst>
          </p:cNvPr>
          <p:cNvSpPr/>
          <p:nvPr/>
        </p:nvSpPr>
        <p:spPr>
          <a:xfrm>
            <a:off x="1341120" y="4608576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7" name="Text 43">
            <a:extLst>
              <a:ext uri="{FF2B5EF4-FFF2-40B4-BE49-F238E27FC236}">
                <a16:creationId xmlns:a16="http://schemas.microsoft.com/office/drawing/2014/main" id="{66EB955A-272B-55F5-4884-7AD0BBC1F0DA}"/>
              </a:ext>
            </a:extLst>
          </p:cNvPr>
          <p:cNvSpPr/>
          <p:nvPr/>
        </p:nvSpPr>
        <p:spPr>
          <a:xfrm>
            <a:off x="1438656" y="4681728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양자화</a:t>
            </a:r>
            <a:endParaRPr lang="en-US" sz="1400" dirty="0"/>
          </a:p>
          <a:p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(Quantization)</a:t>
            </a:r>
            <a:endParaRPr lang="en-US" sz="1400" dirty="0"/>
          </a:p>
        </p:txBody>
      </p:sp>
      <p:sp>
        <p:nvSpPr>
          <p:cNvPr id="88" name="Shape 44">
            <a:extLst>
              <a:ext uri="{FF2B5EF4-FFF2-40B4-BE49-F238E27FC236}">
                <a16:creationId xmlns:a16="http://schemas.microsoft.com/office/drawing/2014/main" id="{300772B3-CE9A-864E-0441-FFCE9C90F0A5}"/>
              </a:ext>
            </a:extLst>
          </p:cNvPr>
          <p:cNvSpPr/>
          <p:nvPr/>
        </p:nvSpPr>
        <p:spPr>
          <a:xfrm>
            <a:off x="3901440" y="4608576"/>
            <a:ext cx="280416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9" name="Text 45">
            <a:extLst>
              <a:ext uri="{FF2B5EF4-FFF2-40B4-BE49-F238E27FC236}">
                <a16:creationId xmlns:a16="http://schemas.microsoft.com/office/drawing/2014/main" id="{9954D69B-8BE0-EDE0-E75A-182C767A8C60}"/>
              </a:ext>
            </a:extLst>
          </p:cNvPr>
          <p:cNvSpPr/>
          <p:nvPr/>
        </p:nvSpPr>
        <p:spPr>
          <a:xfrm>
            <a:off x="3998976" y="4681728"/>
            <a:ext cx="260908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표현 정밀도 축소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(FP32→INT8/INT4)</a:t>
            </a:r>
            <a:endParaRPr lang="en-US" sz="1400" dirty="0"/>
          </a:p>
        </p:txBody>
      </p:sp>
      <p:sp>
        <p:nvSpPr>
          <p:cNvPr id="90" name="Shape 46">
            <a:extLst>
              <a:ext uri="{FF2B5EF4-FFF2-40B4-BE49-F238E27FC236}">
                <a16:creationId xmlns:a16="http://schemas.microsoft.com/office/drawing/2014/main" id="{3EBF446F-C1EB-3D3B-853A-F9716661DDC1}"/>
              </a:ext>
            </a:extLst>
          </p:cNvPr>
          <p:cNvSpPr/>
          <p:nvPr/>
        </p:nvSpPr>
        <p:spPr>
          <a:xfrm>
            <a:off x="6705600" y="4608576"/>
            <a:ext cx="256032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1" name="Text 47">
            <a:extLst>
              <a:ext uri="{FF2B5EF4-FFF2-40B4-BE49-F238E27FC236}">
                <a16:creationId xmlns:a16="http://schemas.microsoft.com/office/drawing/2014/main" id="{DC57C0FF-2EAF-F5AB-9D29-C4B69D3D7121}"/>
              </a:ext>
            </a:extLst>
          </p:cNvPr>
          <p:cNvSpPr/>
          <p:nvPr/>
        </p:nvSpPr>
        <p:spPr>
          <a:xfrm>
            <a:off x="6803136" y="4681728"/>
            <a:ext cx="236524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용량 4~8배↓,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생성속도↑</a:t>
            </a:r>
            <a:endParaRPr lang="en-US" sz="1400" dirty="0"/>
          </a:p>
        </p:txBody>
      </p:sp>
      <p:sp>
        <p:nvSpPr>
          <p:cNvPr id="92" name="Shape 48">
            <a:extLst>
              <a:ext uri="{FF2B5EF4-FFF2-40B4-BE49-F238E27FC236}">
                <a16:creationId xmlns:a16="http://schemas.microsoft.com/office/drawing/2014/main" id="{E4BA409F-033B-202B-6692-7E74132E5F8D}"/>
              </a:ext>
            </a:extLst>
          </p:cNvPr>
          <p:cNvSpPr/>
          <p:nvPr/>
        </p:nvSpPr>
        <p:spPr>
          <a:xfrm>
            <a:off x="9265920" y="4608576"/>
            <a:ext cx="23774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3" name="Text 49">
            <a:extLst>
              <a:ext uri="{FF2B5EF4-FFF2-40B4-BE49-F238E27FC236}">
                <a16:creationId xmlns:a16="http://schemas.microsoft.com/office/drawing/2014/main" id="{2A3CCC9D-413E-3166-A114-EA2FC6558298}"/>
              </a:ext>
            </a:extLst>
          </p:cNvPr>
          <p:cNvSpPr/>
          <p:nvPr/>
        </p:nvSpPr>
        <p:spPr>
          <a:xfrm>
            <a:off x="9363456" y="4681728"/>
            <a:ext cx="218236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내 실행 후보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실험에서 검토</a:t>
            </a:r>
            <a:endParaRPr lang="en-US" sz="1400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2B3C0E1-C3FA-D323-9A2B-2DF5E428CA35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8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7159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lang="en-US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 3</a:t>
            </a: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64543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40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활용 </a:t>
            </a:r>
            <a:r>
              <a:rPr sz="40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  <a:endParaRPr sz="40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27302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AI Hub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실버케어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한국어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종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데이터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619C6-43BC-A75C-54F9-512EE2F6B4CE}"/>
              </a:ext>
            </a:extLst>
          </p:cNvPr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49D350-32FA-7BA4-B610-ABBE5C6B48AE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9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>
            <a:extLst>
              <a:ext uri="{FF2B5EF4-FFF2-40B4-BE49-F238E27FC236}">
                <a16:creationId xmlns:a16="http://schemas.microsoft.com/office/drawing/2014/main" id="{D0D1FD39-2A75-44DA-A386-EBABA13862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9A14F3-0534-4B15-BCCC-84B66F03F7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BF6027-A508-49D1-B41E-3475253B9843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A023F3-D46B-4493-A9F6-F198414CC445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데이터 종류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B5E8CA-F7EB-4460-9E48-57136D5CF0D7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AA10D2-F64A-4E52-AD64-46D800250FA0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실버케어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관점의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이해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감정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분류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심리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상담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방언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강건성을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나눠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담당함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934300-D254-41E0-922D-F10390AD19B5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B8D35-55CE-4FD8-934A-50F31A86F84C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감성 대화는 상태 분류, 심리상담은 반응 생성으로 역할이 달라 중복이 아니라 상호 보완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CE08EE-4D32-4FDC-83A3-DD9D3BBD2437}"/>
              </a:ext>
            </a:extLst>
          </p:cNvPr>
          <p:cNvSpPr>
            <a:spLocks noGrp="1"/>
          </p:cNvSpPr>
          <p:nvPr/>
        </p:nvSpPr>
        <p:spPr>
          <a:xfrm>
            <a:off x="400050" y="2270499"/>
            <a:ext cx="2064979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F325E0-48F5-4201-BC9C-57BC68EA6658}"/>
              </a:ext>
            </a:extLst>
          </p:cNvPr>
          <p:cNvSpPr>
            <a:spLocks noGrp="1"/>
          </p:cNvSpPr>
          <p:nvPr/>
        </p:nvSpPr>
        <p:spPr>
          <a:xfrm>
            <a:off x="476250" y="2394324"/>
            <a:ext cx="1912579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데이터셋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C1F986-BA99-40A6-8C34-BE703D78E01D}"/>
              </a:ext>
            </a:extLst>
          </p:cNvPr>
          <p:cNvSpPr>
            <a:spLocks noGrp="1"/>
          </p:cNvSpPr>
          <p:nvPr/>
        </p:nvSpPr>
        <p:spPr>
          <a:xfrm>
            <a:off x="2465029" y="2270499"/>
            <a:ext cx="3158203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9BC5D4-9CFD-48EA-A5BE-543066524900}"/>
              </a:ext>
            </a:extLst>
          </p:cNvPr>
          <p:cNvSpPr>
            <a:spLocks noGrp="1"/>
          </p:cNvSpPr>
          <p:nvPr/>
        </p:nvSpPr>
        <p:spPr>
          <a:xfrm>
            <a:off x="2541229" y="2394324"/>
            <a:ext cx="300580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선정 당위성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5FFB17-1424-41CA-8617-0F5EA12049C1}"/>
              </a:ext>
            </a:extLst>
          </p:cNvPr>
          <p:cNvSpPr>
            <a:spLocks noGrp="1"/>
          </p:cNvSpPr>
          <p:nvPr/>
        </p:nvSpPr>
        <p:spPr>
          <a:xfrm>
            <a:off x="5623232" y="2270499"/>
            <a:ext cx="2915265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7A396C-C7E5-4FB7-96E2-18CABAE33EB2}"/>
              </a:ext>
            </a:extLst>
          </p:cNvPr>
          <p:cNvSpPr>
            <a:spLocks noGrp="1"/>
          </p:cNvSpPr>
          <p:nvPr/>
        </p:nvSpPr>
        <p:spPr>
          <a:xfrm>
            <a:off x="5699432" y="2394324"/>
            <a:ext cx="276286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역량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5158FB-8D8B-45FD-B0BA-013034C61EC3}"/>
              </a:ext>
            </a:extLst>
          </p:cNvPr>
          <p:cNvSpPr>
            <a:spLocks noGrp="1"/>
          </p:cNvSpPr>
          <p:nvPr/>
        </p:nvSpPr>
        <p:spPr>
          <a:xfrm>
            <a:off x="8538497" y="2270499"/>
            <a:ext cx="3158203" cy="495300"/>
          </a:xfrm>
          <a:prstGeom prst="rect">
            <a:avLst/>
          </a:prstGeom>
          <a:solidFill>
            <a:srgbClr val="151923"/>
          </a:solidFill>
          <a:ln w="1143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84B5A8-4B5A-4FDB-8E6A-550EEF0CB5FC}"/>
              </a:ext>
            </a:extLst>
          </p:cNvPr>
          <p:cNvSpPr>
            <a:spLocks noGrp="1"/>
          </p:cNvSpPr>
          <p:nvPr/>
        </p:nvSpPr>
        <p:spPr>
          <a:xfrm>
            <a:off x="8614697" y="2394324"/>
            <a:ext cx="300580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주의·보완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06188-E836-4682-B54D-FE6EA3A20B43}"/>
              </a:ext>
            </a:extLst>
          </p:cNvPr>
          <p:cNvSpPr>
            <a:spLocks noGrp="1"/>
          </p:cNvSpPr>
          <p:nvPr/>
        </p:nvSpPr>
        <p:spPr>
          <a:xfrm>
            <a:off x="400050" y="2765799"/>
            <a:ext cx="2064979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7DA7D6-730C-49DA-92A0-D7C0DB863BBA}"/>
              </a:ext>
            </a:extLst>
          </p:cNvPr>
          <p:cNvSpPr>
            <a:spLocks noGrp="1"/>
          </p:cNvSpPr>
          <p:nvPr/>
        </p:nvSpPr>
        <p:spPr>
          <a:xfrm>
            <a:off x="476250" y="284199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자유대화 음성(노인남여) 전사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2BFA59-9F6C-449C-B8FB-E3C746C4AFC3}"/>
              </a:ext>
            </a:extLst>
          </p:cNvPr>
          <p:cNvSpPr>
            <a:spLocks noGrp="1"/>
          </p:cNvSpPr>
          <p:nvPr/>
        </p:nvSpPr>
        <p:spPr>
          <a:xfrm>
            <a:off x="2465029" y="276579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1AF786C-FFAF-46E5-8142-855D72AE1E74}"/>
              </a:ext>
            </a:extLst>
          </p:cNvPr>
          <p:cNvSpPr>
            <a:spLocks noGrp="1"/>
          </p:cNvSpPr>
          <p:nvPr/>
        </p:nvSpPr>
        <p:spPr>
          <a:xfrm>
            <a:off x="2541229" y="284199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노년층의 느린 흐름·반복 표현·구어체 맥락 학습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9D0D0C5-2311-4B62-B439-32CC5DB8F283}"/>
              </a:ext>
            </a:extLst>
          </p:cNvPr>
          <p:cNvSpPr>
            <a:spLocks noGrp="1"/>
          </p:cNvSpPr>
          <p:nvPr/>
        </p:nvSpPr>
        <p:spPr>
          <a:xfrm>
            <a:off x="5623232" y="2765799"/>
            <a:ext cx="291526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B2E80A-24AC-4574-B19D-B58E540BDD6E}"/>
              </a:ext>
            </a:extLst>
          </p:cNvPr>
          <p:cNvSpPr>
            <a:spLocks noGrp="1"/>
          </p:cNvSpPr>
          <p:nvPr/>
        </p:nvSpPr>
        <p:spPr>
          <a:xfrm>
            <a:off x="5699432" y="284199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 맞춤 페르소나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9A6EA0-AEC8-49DC-9EF0-C0AC9D4100DB}"/>
              </a:ext>
            </a:extLst>
          </p:cNvPr>
          <p:cNvSpPr>
            <a:spLocks noGrp="1"/>
          </p:cNvSpPr>
          <p:nvPr/>
        </p:nvSpPr>
        <p:spPr>
          <a:xfrm>
            <a:off x="8538497" y="276579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55FCAE3-CBB0-4335-AB76-1E3FD466C8E0}"/>
              </a:ext>
            </a:extLst>
          </p:cNvPr>
          <p:cNvSpPr>
            <a:spLocks noGrp="1"/>
          </p:cNvSpPr>
          <p:nvPr/>
        </p:nvSpPr>
        <p:spPr>
          <a:xfrm>
            <a:off x="8614697" y="284199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음성 파형이 아니라 전사 텍스트 사용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A2A275D-7DF4-449C-8E1E-7C682FE75B0D}"/>
              </a:ext>
            </a:extLst>
          </p:cNvPr>
          <p:cNvSpPr>
            <a:spLocks noGrp="1"/>
          </p:cNvSpPr>
          <p:nvPr/>
        </p:nvSpPr>
        <p:spPr>
          <a:xfrm>
            <a:off x="400050" y="3546849"/>
            <a:ext cx="2064979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D1F089-7A48-4B84-BE5C-CE90069BBFF5}"/>
              </a:ext>
            </a:extLst>
          </p:cNvPr>
          <p:cNvSpPr>
            <a:spLocks noGrp="1"/>
          </p:cNvSpPr>
          <p:nvPr/>
        </p:nvSpPr>
        <p:spPr>
          <a:xfrm>
            <a:off x="476250" y="362304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감성 대화 말뭉치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62334E-B621-48E4-8567-33B6BC61A9DC}"/>
              </a:ext>
            </a:extLst>
          </p:cNvPr>
          <p:cNvSpPr>
            <a:spLocks noGrp="1"/>
          </p:cNvSpPr>
          <p:nvPr/>
        </p:nvSpPr>
        <p:spPr>
          <a:xfrm>
            <a:off x="2465029" y="354684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AEDD3B-785F-4FC2-BF13-CA4AE658FA03}"/>
              </a:ext>
            </a:extLst>
          </p:cNvPr>
          <p:cNvSpPr>
            <a:spLocks noGrp="1"/>
          </p:cNvSpPr>
          <p:nvPr/>
        </p:nvSpPr>
        <p:spPr>
          <a:xfrm>
            <a:off x="2541229" y="362304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우울·고독·불안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등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이상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징후를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대화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속에서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분류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B53D7E-96FA-40BC-8A6E-72E0A78CDAA2}"/>
              </a:ext>
            </a:extLst>
          </p:cNvPr>
          <p:cNvSpPr>
            <a:spLocks noGrp="1"/>
          </p:cNvSpPr>
          <p:nvPr/>
        </p:nvSpPr>
        <p:spPr>
          <a:xfrm>
            <a:off x="5623232" y="3546849"/>
            <a:ext cx="2915265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DD6195-DE80-4F52-A66D-8F4FADB2F1E6}"/>
              </a:ext>
            </a:extLst>
          </p:cNvPr>
          <p:cNvSpPr>
            <a:spLocks noGrp="1"/>
          </p:cNvSpPr>
          <p:nvPr/>
        </p:nvSpPr>
        <p:spPr>
          <a:xfrm>
            <a:off x="5699432" y="362304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생활 기록 감정 인지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7B124A6-C1C2-4E53-93B7-104C0BBEFB3A}"/>
              </a:ext>
            </a:extLst>
          </p:cNvPr>
          <p:cNvSpPr>
            <a:spLocks noGrp="1"/>
          </p:cNvSpPr>
          <p:nvPr/>
        </p:nvSpPr>
        <p:spPr>
          <a:xfrm>
            <a:off x="8538497" y="354684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97E05C0-DD16-4F38-920B-F9A3A32E13B4}"/>
              </a:ext>
            </a:extLst>
          </p:cNvPr>
          <p:cNvSpPr>
            <a:spLocks noGrp="1"/>
          </p:cNvSpPr>
          <p:nvPr/>
        </p:nvSpPr>
        <p:spPr>
          <a:xfrm>
            <a:off x="8614697" y="362304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상태 진단 역할로 한정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33B8C8-16A6-4433-AACE-76B08C37B8EC}"/>
              </a:ext>
            </a:extLst>
          </p:cNvPr>
          <p:cNvSpPr>
            <a:spLocks noGrp="1"/>
          </p:cNvSpPr>
          <p:nvPr/>
        </p:nvSpPr>
        <p:spPr>
          <a:xfrm>
            <a:off x="400050" y="4327899"/>
            <a:ext cx="2064979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B0D7AF-1F69-4BDE-9513-1BA5DEAED8A4}"/>
              </a:ext>
            </a:extLst>
          </p:cNvPr>
          <p:cNvSpPr>
            <a:spLocks noGrp="1"/>
          </p:cNvSpPr>
          <p:nvPr/>
        </p:nvSpPr>
        <p:spPr>
          <a:xfrm>
            <a:off x="476250" y="440409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심리상담 데이터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9860031-AE56-4DD9-A6FC-0543C5E16A3B}"/>
              </a:ext>
            </a:extLst>
          </p:cNvPr>
          <p:cNvSpPr>
            <a:spLocks noGrp="1"/>
          </p:cNvSpPr>
          <p:nvPr/>
        </p:nvSpPr>
        <p:spPr>
          <a:xfrm>
            <a:off x="2465029" y="432789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EE96A05-1527-4233-988E-85B39375B2FD}"/>
              </a:ext>
            </a:extLst>
          </p:cNvPr>
          <p:cNvSpPr>
            <a:spLocks noGrp="1"/>
          </p:cNvSpPr>
          <p:nvPr/>
        </p:nvSpPr>
        <p:spPr>
          <a:xfrm>
            <a:off x="2541229" y="440409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경청·지지적 반응을 생성하는 상담 대화쌍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81A4C33-E2A3-4333-BAED-65F0C7182C2B}"/>
              </a:ext>
            </a:extLst>
          </p:cNvPr>
          <p:cNvSpPr>
            <a:spLocks noGrp="1"/>
          </p:cNvSpPr>
          <p:nvPr/>
        </p:nvSpPr>
        <p:spPr>
          <a:xfrm>
            <a:off x="5623232" y="4327899"/>
            <a:ext cx="291526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7387AE-DF9C-477F-804F-11AA379B1EA7}"/>
              </a:ext>
            </a:extLst>
          </p:cNvPr>
          <p:cNvSpPr>
            <a:spLocks noGrp="1"/>
          </p:cNvSpPr>
          <p:nvPr/>
        </p:nvSpPr>
        <p:spPr>
          <a:xfrm>
            <a:off x="5699432" y="440409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정서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케어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답변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생성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D91CF78-A381-4F19-B4F2-E394A33222A1}"/>
              </a:ext>
            </a:extLst>
          </p:cNvPr>
          <p:cNvSpPr>
            <a:spLocks noGrp="1"/>
          </p:cNvSpPr>
          <p:nvPr/>
        </p:nvSpPr>
        <p:spPr>
          <a:xfrm>
            <a:off x="8538497" y="4327899"/>
            <a:ext cx="3158203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138DE7E-F600-4DFD-9C83-5A0E1F84A460}"/>
              </a:ext>
            </a:extLst>
          </p:cNvPr>
          <p:cNvSpPr>
            <a:spLocks noGrp="1"/>
          </p:cNvSpPr>
          <p:nvPr/>
        </p:nvSpPr>
        <p:spPr>
          <a:xfrm>
            <a:off x="8614697" y="440409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진단이 아닌 공감·지지 표현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C01C323-6144-43D6-8767-CD61FD2871EE}"/>
              </a:ext>
            </a:extLst>
          </p:cNvPr>
          <p:cNvSpPr>
            <a:spLocks noGrp="1"/>
          </p:cNvSpPr>
          <p:nvPr/>
        </p:nvSpPr>
        <p:spPr>
          <a:xfrm>
            <a:off x="400050" y="5108949"/>
            <a:ext cx="2064979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98AAEDD-A326-45CE-AFCD-3B6F6D339ADB}"/>
              </a:ext>
            </a:extLst>
          </p:cNvPr>
          <p:cNvSpPr>
            <a:spLocks noGrp="1"/>
          </p:cNvSpPr>
          <p:nvPr/>
        </p:nvSpPr>
        <p:spPr>
          <a:xfrm>
            <a:off x="476250" y="5185149"/>
            <a:ext cx="191257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중·노년층 방언 데이터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052A5CF-4D22-4259-BEC9-249790883189}"/>
              </a:ext>
            </a:extLst>
          </p:cNvPr>
          <p:cNvSpPr>
            <a:spLocks noGrp="1"/>
          </p:cNvSpPr>
          <p:nvPr/>
        </p:nvSpPr>
        <p:spPr>
          <a:xfrm>
            <a:off x="2465029" y="510894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DDCB140-E17E-4816-947A-B0603FF40929}"/>
              </a:ext>
            </a:extLst>
          </p:cNvPr>
          <p:cNvSpPr>
            <a:spLocks noGrp="1"/>
          </p:cNvSpPr>
          <p:nvPr/>
        </p:nvSpPr>
        <p:spPr>
          <a:xfrm>
            <a:off x="2541229" y="518514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지방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독거노인의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사투리·억양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표현을</a:t>
            </a:r>
            <a:r>
              <a:rPr sz="108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8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인지</a:t>
            </a:r>
            <a:endParaRPr sz="108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CE250B9-990B-49FF-8360-9556B1151CAC}"/>
              </a:ext>
            </a:extLst>
          </p:cNvPr>
          <p:cNvSpPr>
            <a:spLocks noGrp="1"/>
          </p:cNvSpPr>
          <p:nvPr/>
        </p:nvSpPr>
        <p:spPr>
          <a:xfrm>
            <a:off x="5623232" y="5108949"/>
            <a:ext cx="2915265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F7C0BF2-6275-4221-9082-A880CC0CB415}"/>
              </a:ext>
            </a:extLst>
          </p:cNvPr>
          <p:cNvSpPr>
            <a:spLocks noGrp="1"/>
          </p:cNvSpPr>
          <p:nvPr/>
        </p:nvSpPr>
        <p:spPr>
          <a:xfrm>
            <a:off x="5699432" y="5185149"/>
            <a:ext cx="276286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입력 강건성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BDED44C-EC7F-4F54-8741-1780065576BD}"/>
              </a:ext>
            </a:extLst>
          </p:cNvPr>
          <p:cNvSpPr>
            <a:spLocks noGrp="1"/>
          </p:cNvSpPr>
          <p:nvPr/>
        </p:nvSpPr>
        <p:spPr>
          <a:xfrm>
            <a:off x="8538497" y="5108949"/>
            <a:ext cx="3158203" cy="781050"/>
          </a:xfrm>
          <a:prstGeom prst="rect">
            <a:avLst/>
          </a:prstGeom>
          <a:solidFill>
            <a:srgbClr val="F4F7FB"/>
          </a:solidFill>
          <a:ln w="11430">
            <a:solidFill>
              <a:srgbClr val="D8E0E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A1E2509-EA74-4223-BBFF-765AD6936A4F}"/>
              </a:ext>
            </a:extLst>
          </p:cNvPr>
          <p:cNvSpPr>
            <a:spLocks noGrp="1"/>
          </p:cNvSpPr>
          <p:nvPr/>
        </p:nvSpPr>
        <p:spPr>
          <a:xfrm>
            <a:off x="8614697" y="5185149"/>
            <a:ext cx="300580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STT 후 텍스트 처리와 결합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2F6AE88-85CA-59F9-026E-D8435340B802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lang="en-US" sz="713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10</a:t>
            </a:r>
            <a:r>
              <a:rPr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72526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21D10E2C-1CDD-453A-9ECE-549048D2DF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2BE7A2-D635-43A3-A864-EA80F83C25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1439F7-FB7B-4433-89DE-998417CD87AB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09EF4D-CEA3-45FD-A63B-15566AB8C17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데이터 로드맵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0CAB90-202C-429D-BF5D-AADE3937C303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8E0A0F-3FAB-4690-A674-BA230AB14291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WikiText-2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활용하여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증류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파이프라인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379DBC-D44C-4D4D-BFC9-7B02B1DA1BB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458C35-2DF5-4A54-94C0-A495D34E6E2F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음성 서비스는 STT/TTS를 전후처리로 분리하고, 작은 AI은 텍스트 이해·생성에 집중하는 모듈형 구조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F87634-C801-4B03-9B0A-D55A348CAA42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데이터셋선정_황영민.md; 구현현황.pptx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055DF1-B77C-427A-8AD5-26323037F5CF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11 / 27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90D7C2-A060-409A-9E43-3B732488441F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5CB60E-9937-4F11-8F79-36C8D0C54C6B}"/>
              </a:ext>
            </a:extLst>
          </p:cNvPr>
          <p:cNvSpPr>
            <a:spLocks noGrp="1"/>
          </p:cNvSpPr>
          <p:nvPr/>
        </p:nvSpPr>
        <p:spPr>
          <a:xfrm>
            <a:off x="514350" y="2190750"/>
            <a:ext cx="266700" cy="2667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A8A18-2B4C-4340-AB40-B94DCA957C3C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기본 점검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4289A9-D209-4D21-ABFE-626C44975612}"/>
              </a:ext>
            </a:extLst>
          </p:cNvPr>
          <p:cNvSpPr>
            <a:spLocks noGrp="1"/>
          </p:cNvSpPr>
          <p:nvPr/>
        </p:nvSpPr>
        <p:spPr>
          <a:xfrm>
            <a:off x="571500" y="262890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WikiText-2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B2BFB9-0C1C-45BE-9E70-412A51C2C177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지식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전수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알고리즘·연산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플러그인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작동</a:t>
            </a:r>
            <a:endParaRPr sz="1140" b="0" dirty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BFB351-7F8C-4E7F-9D25-D0E749653CA9}"/>
              </a:ext>
            </a:extLst>
          </p:cNvPr>
          <p:cNvSpPr>
            <a:spLocks noGrp="1"/>
          </p:cNvSpPr>
          <p:nvPr/>
        </p:nvSpPr>
        <p:spPr>
          <a:xfrm>
            <a:off x="4089400" y="2905125"/>
            <a:ext cx="95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A16182-11D6-48C5-A60D-AAC5DC7ACCC9}"/>
              </a:ext>
            </a:extLst>
          </p:cNvPr>
          <p:cNvSpPr>
            <a:spLocks noGrp="1"/>
          </p:cNvSpPr>
          <p:nvPr/>
        </p:nvSpPr>
        <p:spPr>
          <a:xfrm>
            <a:off x="4222750" y="207645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E1DBEB-B8C3-4E31-833F-CA746DB30DE7}"/>
              </a:ext>
            </a:extLst>
          </p:cNvPr>
          <p:cNvSpPr>
            <a:spLocks noGrp="1"/>
          </p:cNvSpPr>
          <p:nvPr/>
        </p:nvSpPr>
        <p:spPr>
          <a:xfrm>
            <a:off x="4337050" y="219075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E51C74-110A-4E8C-9AD5-50D90EE9E092}"/>
              </a:ext>
            </a:extLst>
          </p:cNvPr>
          <p:cNvSpPr>
            <a:spLocks noGrp="1"/>
          </p:cNvSpPr>
          <p:nvPr/>
        </p:nvSpPr>
        <p:spPr>
          <a:xfrm>
            <a:off x="4718050" y="217170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 교체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4A516F-76BD-46E7-A024-E6204D56D2A9}"/>
              </a:ext>
            </a:extLst>
          </p:cNvPr>
          <p:cNvSpPr>
            <a:spLocks noGrp="1"/>
          </p:cNvSpPr>
          <p:nvPr/>
        </p:nvSpPr>
        <p:spPr>
          <a:xfrm>
            <a:off x="4394200" y="262890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AI Hub </a:t>
            </a:r>
            <a:r>
              <a:rPr lang="en-US" altLang="ko-KR" sz="1238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1238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9EF8E0-8E24-47EE-BB27-7FD6628E8111}"/>
              </a:ext>
            </a:extLst>
          </p:cNvPr>
          <p:cNvSpPr>
            <a:spLocks noGrp="1"/>
          </p:cNvSpPr>
          <p:nvPr/>
        </p:nvSpPr>
        <p:spPr>
          <a:xfrm>
            <a:off x="4394200" y="300990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어르신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돌봄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텍스트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전사·상담·방언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결합</a:t>
            </a:r>
            <a:endParaRPr sz="1140" b="0" dirty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093A51-C213-46E7-9C53-01A240F4D11A}"/>
              </a:ext>
            </a:extLst>
          </p:cNvPr>
          <p:cNvSpPr>
            <a:spLocks noGrp="1"/>
          </p:cNvSpPr>
          <p:nvPr/>
        </p:nvSpPr>
        <p:spPr>
          <a:xfrm>
            <a:off x="7912100" y="2905125"/>
            <a:ext cx="95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E1FE07F-E9F4-4C13-BA07-752545FE9D8C}"/>
              </a:ext>
            </a:extLst>
          </p:cNvPr>
          <p:cNvSpPr>
            <a:spLocks noGrp="1"/>
          </p:cNvSpPr>
          <p:nvPr/>
        </p:nvSpPr>
        <p:spPr>
          <a:xfrm>
            <a:off x="8045450" y="207645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C87E05A-B489-4F5F-BDE0-E9B70B7CD340}"/>
              </a:ext>
            </a:extLst>
          </p:cNvPr>
          <p:cNvSpPr>
            <a:spLocks noGrp="1"/>
          </p:cNvSpPr>
          <p:nvPr/>
        </p:nvSpPr>
        <p:spPr>
          <a:xfrm>
            <a:off x="8159750" y="219075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58B806-7393-474E-8CAE-FE1EA4F023D6}"/>
              </a:ext>
            </a:extLst>
          </p:cNvPr>
          <p:cNvSpPr>
            <a:spLocks noGrp="1"/>
          </p:cNvSpPr>
          <p:nvPr/>
        </p:nvSpPr>
        <p:spPr>
          <a:xfrm>
            <a:off x="8540750" y="217170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질문답변 연결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EEBA624-B9E8-4F64-9A80-A2AF84CCC92F}"/>
              </a:ext>
            </a:extLst>
          </p:cNvPr>
          <p:cNvSpPr>
            <a:spLocks noGrp="1"/>
          </p:cNvSpPr>
          <p:nvPr/>
        </p:nvSpPr>
        <p:spPr>
          <a:xfrm>
            <a:off x="8216900" y="262890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공공 의료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5EDC3D-4CCE-4DD3-8FD9-F4AE3C04D81F}"/>
              </a:ext>
            </a:extLst>
          </p:cNvPr>
          <p:cNvSpPr>
            <a:spLocks noGrp="1"/>
          </p:cNvSpPr>
          <p:nvPr/>
        </p:nvSpPr>
        <p:spPr>
          <a:xfrm>
            <a:off x="8216900" y="300990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정답·근거·금지답·필수답 라벨화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A36E39-5D5C-4EC4-89F5-A5D92B3142B9}"/>
              </a:ext>
            </a:extLst>
          </p:cNvPr>
          <p:cNvSpPr>
            <a:spLocks noGrp="1"/>
          </p:cNvSpPr>
          <p:nvPr/>
        </p:nvSpPr>
        <p:spPr>
          <a:xfrm>
            <a:off x="400050" y="392430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D02E12-34CE-4942-86DE-616D2C33F732}"/>
              </a:ext>
            </a:extLst>
          </p:cNvPr>
          <p:cNvSpPr>
            <a:spLocks noGrp="1"/>
          </p:cNvSpPr>
          <p:nvPr/>
        </p:nvSpPr>
        <p:spPr>
          <a:xfrm>
            <a:off x="514350" y="403860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852087-350C-44D7-918F-E5241DF79208}"/>
              </a:ext>
            </a:extLst>
          </p:cNvPr>
          <p:cNvSpPr>
            <a:spLocks noGrp="1"/>
          </p:cNvSpPr>
          <p:nvPr/>
        </p:nvSpPr>
        <p:spPr>
          <a:xfrm>
            <a:off x="895350" y="401955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안전장치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01038A-AC6E-476E-8198-CAEF390EFD26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검수 데이터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D3FA3C-1EFA-4395-AD93-73AE897FA8F1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의료 한계·전문가 상담 안내 내재화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EF2418-3094-4725-9CDB-96D134A09E97}"/>
              </a:ext>
            </a:extLst>
          </p:cNvPr>
          <p:cNvSpPr>
            <a:spLocks noGrp="1"/>
          </p:cNvSpPr>
          <p:nvPr/>
        </p:nvSpPr>
        <p:spPr>
          <a:xfrm>
            <a:off x="4089400" y="4752975"/>
            <a:ext cx="95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698737-9CA3-4D65-9FD0-5B52D1649C1E}"/>
              </a:ext>
            </a:extLst>
          </p:cNvPr>
          <p:cNvSpPr>
            <a:spLocks noGrp="1"/>
          </p:cNvSpPr>
          <p:nvPr/>
        </p:nvSpPr>
        <p:spPr>
          <a:xfrm>
            <a:off x="4222750" y="3924300"/>
            <a:ext cx="3651250" cy="1676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3C8D8C-4CC4-4566-8ABA-D17C3F0C1A7E}"/>
              </a:ext>
            </a:extLst>
          </p:cNvPr>
          <p:cNvSpPr>
            <a:spLocks noGrp="1"/>
          </p:cNvSpPr>
          <p:nvPr/>
        </p:nvSpPr>
        <p:spPr>
          <a:xfrm>
            <a:off x="4337050" y="4038600"/>
            <a:ext cx="266700" cy="266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7B76607-E17C-4F0E-84F9-A2F07606C142}"/>
              </a:ext>
            </a:extLst>
          </p:cNvPr>
          <p:cNvSpPr>
            <a:spLocks noGrp="1"/>
          </p:cNvSpPr>
          <p:nvPr/>
        </p:nvSpPr>
        <p:spPr>
          <a:xfrm>
            <a:off x="4718050" y="4019550"/>
            <a:ext cx="304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안에서 답변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1F64E87-0F17-4791-B5A3-C477B5B89A88}"/>
              </a:ext>
            </a:extLst>
          </p:cNvPr>
          <p:cNvSpPr>
            <a:spLocks noGrp="1"/>
          </p:cNvSpPr>
          <p:nvPr/>
        </p:nvSpPr>
        <p:spPr>
          <a:xfrm>
            <a:off x="4394200" y="4476750"/>
            <a:ext cx="330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2B30A2-6E4B-4D7A-B123-D44E6162AA01}"/>
              </a:ext>
            </a:extLst>
          </p:cNvPr>
          <p:cNvSpPr>
            <a:spLocks noGrp="1"/>
          </p:cNvSpPr>
          <p:nvPr/>
        </p:nvSpPr>
        <p:spPr>
          <a:xfrm>
            <a:off x="4394200" y="4857750"/>
            <a:ext cx="3308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텍스트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문맥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이해와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답변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생성에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연산</a:t>
            </a:r>
            <a:r>
              <a:rPr sz="1140" b="0" dirty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40" b="0" dirty="0" err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집중</a:t>
            </a:r>
            <a:endParaRPr sz="1140" b="0" dirty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8776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715B2-D067-981C-0A6B-9E93068E4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EF22C8-2176-1945-3D4F-3E295ED8855A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0C89C-92DE-B8DB-17A2-E9B963AD460E}"/>
              </a:ext>
            </a:extLst>
          </p:cNvPr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06C41-5831-B8F4-4689-EA2E7CD8FD5A}"/>
              </a:ext>
            </a:extLst>
          </p:cNvPr>
          <p:cNvSpPr txBox="1"/>
          <p:nvPr/>
        </p:nvSpPr>
        <p:spPr>
          <a:xfrm>
            <a:off x="777240" y="2761488"/>
            <a:ext cx="7040880" cy="552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구현</a:t>
            </a:r>
            <a:r>
              <a:rPr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현황</a:t>
            </a:r>
            <a:endParaRPr sz="34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3AF01-75C9-955E-532D-9A808A335484}"/>
              </a:ext>
            </a:extLst>
          </p:cNvPr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GPT-2 → DistilGPT-2 지식 증류와 4-Way 비교 · 로컬 실험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E44BB-DE0E-DEF4-AD45-2E4EF21127E3}"/>
              </a:ext>
            </a:extLst>
          </p:cNvPr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014BD3-243A-43D5-AB0F-D2E3BDE662B6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12</a:t>
            </a:r>
            <a:r>
              <a:rPr lang="ko-KR" altLang="en-US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/ 27</a:t>
            </a:r>
          </a:p>
        </p:txBody>
      </p:sp>
    </p:spTree>
    <p:extLst>
      <p:ext uri="{BB962C8B-B14F-4D97-AF65-F5344CB8AC3E}">
        <p14:creationId xmlns:p14="http://schemas.microsoft.com/office/powerpoint/2010/main" val="3551686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387490-DCEE-380B-FED8-D26AC6E560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E68CD-DB58-8DEF-75E2-971D912E84F2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3AB2C94-01D0-33C6-CE3C-6B86CB94329B}"/>
              </a:ext>
            </a:extLst>
          </p:cNvPr>
          <p:cNvSpPr/>
          <p:nvPr/>
        </p:nvSpPr>
        <p:spPr>
          <a:xfrm>
            <a:off x="384048" y="74980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Implementation: </a:t>
            </a:r>
            <a:r>
              <a:rPr lang="en-US" sz="192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4-Way 비교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로 KD 효과를 검증</a:t>
            </a:r>
            <a:endParaRPr lang="en-US" sz="192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29FC2A9-4F56-7EB8-30F9-818609E0A5F1}"/>
              </a:ext>
            </a:extLst>
          </p:cNvPr>
          <p:cNvSpPr/>
          <p:nvPr/>
        </p:nvSpPr>
        <p:spPr>
          <a:xfrm>
            <a:off x="384048" y="1389888"/>
            <a:ext cx="11155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/ KD / FT / Base를 동일 조건으로 비교하여 지식 증류 효과와 경량화 이점을 동시에 평가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504F6A85-1172-E692-FB8A-D3D44D2A37C9}"/>
              </a:ext>
            </a:extLst>
          </p:cNvPr>
          <p:cNvSpPr/>
          <p:nvPr/>
        </p:nvSpPr>
        <p:spPr>
          <a:xfrm>
            <a:off x="384048" y="1920240"/>
            <a:ext cx="3200400" cy="422452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B617B2D1-25B3-A5B5-BB22-18BD10A8FA72}"/>
              </a:ext>
            </a:extLst>
          </p:cNvPr>
          <p:cNvSpPr/>
          <p:nvPr/>
        </p:nvSpPr>
        <p:spPr>
          <a:xfrm>
            <a:off x="603504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실험 설정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B0515B37-11C0-AEA4-2AA1-DD50C73024BF}"/>
              </a:ext>
            </a:extLst>
          </p:cNvPr>
          <p:cNvSpPr/>
          <p:nvPr/>
        </p:nvSpPr>
        <p:spPr>
          <a:xfrm>
            <a:off x="603504" y="2505456"/>
            <a:ext cx="2724912" cy="512064"/>
          </a:xfrm>
          <a:prstGeom prst="roundRect">
            <a:avLst>
              <a:gd name="adj" fmla="val 7143"/>
            </a:avLst>
          </a:prstGeom>
          <a:noFill/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9287CE32-C723-50DA-2629-A2BADE5E5B65}"/>
              </a:ext>
            </a:extLst>
          </p:cNvPr>
          <p:cNvSpPr/>
          <p:nvPr/>
        </p:nvSpPr>
        <p:spPr>
          <a:xfrm>
            <a:off x="713232" y="2569464"/>
            <a:ext cx="12146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BB2BC8ED-2BA6-7F83-3D29-5650A8B9EE33}"/>
              </a:ext>
            </a:extLst>
          </p:cNvPr>
          <p:cNvSpPr/>
          <p:nvPr/>
        </p:nvSpPr>
        <p:spPr>
          <a:xfrm>
            <a:off x="1481328" y="2560320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GPT-2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124M params / 498MB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2A131E6F-D13D-3C18-72E0-84A824D458B2}"/>
              </a:ext>
            </a:extLst>
          </p:cNvPr>
          <p:cNvSpPr/>
          <p:nvPr/>
        </p:nvSpPr>
        <p:spPr>
          <a:xfrm>
            <a:off x="603504" y="3108960"/>
            <a:ext cx="272491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2DE06E91-E062-C47A-9468-5CC19D3C5926}"/>
              </a:ext>
            </a:extLst>
          </p:cNvPr>
          <p:cNvSpPr/>
          <p:nvPr/>
        </p:nvSpPr>
        <p:spPr>
          <a:xfrm>
            <a:off x="713232" y="3172968"/>
            <a:ext cx="12146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4DF6A20C-1A89-5DFB-58B5-5A33E59DC46F}"/>
              </a:ext>
            </a:extLst>
          </p:cNvPr>
          <p:cNvSpPr/>
          <p:nvPr/>
        </p:nvSpPr>
        <p:spPr>
          <a:xfrm>
            <a:off x="1481328" y="3163824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DistilGPT-2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82M params / 328MB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5429180D-809D-B552-51B1-4E713B305666}"/>
              </a:ext>
            </a:extLst>
          </p:cNvPr>
          <p:cNvSpPr/>
          <p:nvPr/>
        </p:nvSpPr>
        <p:spPr>
          <a:xfrm>
            <a:off x="603504" y="3712464"/>
            <a:ext cx="2724912" cy="420624"/>
          </a:xfrm>
          <a:prstGeom prst="roundRect">
            <a:avLst>
              <a:gd name="adj" fmla="val 8696"/>
            </a:avLst>
          </a:prstGeom>
          <a:noFill/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E9755D7D-7F83-B671-84C5-640FBA9F3158}"/>
              </a:ext>
            </a:extLst>
          </p:cNvPr>
          <p:cNvSpPr/>
          <p:nvPr/>
        </p:nvSpPr>
        <p:spPr>
          <a:xfrm>
            <a:off x="713232" y="3776472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Dataset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C5E08E29-CD04-9918-54E4-695986E2FB64}"/>
              </a:ext>
            </a:extLst>
          </p:cNvPr>
          <p:cNvSpPr/>
          <p:nvPr/>
        </p:nvSpPr>
        <p:spPr>
          <a:xfrm>
            <a:off x="1481328" y="3767328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WikiText-2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C7DDBE3A-70C4-A136-6AFC-AB16ED178563}"/>
              </a:ext>
            </a:extLst>
          </p:cNvPr>
          <p:cNvSpPr/>
          <p:nvPr/>
        </p:nvSpPr>
        <p:spPr>
          <a:xfrm>
            <a:off x="603504" y="4224528"/>
            <a:ext cx="272491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B7942DC0-0829-FB4E-DE64-B47152032E32}"/>
              </a:ext>
            </a:extLst>
          </p:cNvPr>
          <p:cNvSpPr/>
          <p:nvPr/>
        </p:nvSpPr>
        <p:spPr>
          <a:xfrm>
            <a:off x="713232" y="4288536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Device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B89440A0-43BB-D30D-6D44-B23F509F84E1}"/>
              </a:ext>
            </a:extLst>
          </p:cNvPr>
          <p:cNvSpPr/>
          <p:nvPr/>
        </p:nvSpPr>
        <p:spPr>
          <a:xfrm>
            <a:off x="1481328" y="4279392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Apple MPS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BBE7DB7F-C6E2-9813-0B46-A3B09AE839AD}"/>
              </a:ext>
            </a:extLst>
          </p:cNvPr>
          <p:cNvSpPr/>
          <p:nvPr/>
        </p:nvSpPr>
        <p:spPr>
          <a:xfrm>
            <a:off x="603504" y="4736592"/>
            <a:ext cx="2724912" cy="420624"/>
          </a:xfrm>
          <a:prstGeom prst="roundRect">
            <a:avLst>
              <a:gd name="adj" fmla="val 8696"/>
            </a:avLst>
          </a:prstGeom>
          <a:solidFill>
            <a:srgbClr val="F8FB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99BDE49A-023E-7C1E-B200-5370EBC8DCF6}"/>
              </a:ext>
            </a:extLst>
          </p:cNvPr>
          <p:cNvSpPr/>
          <p:nvPr/>
        </p:nvSpPr>
        <p:spPr>
          <a:xfrm>
            <a:off x="713232" y="4800600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 Loss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6DF9B3CE-E5BE-A132-1EC4-1B682DE85800}"/>
              </a:ext>
            </a:extLst>
          </p:cNvPr>
          <p:cNvSpPr/>
          <p:nvPr/>
        </p:nvSpPr>
        <p:spPr>
          <a:xfrm>
            <a:off x="1481328" y="4791456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α·CE + (1-α)·T²·KL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F88BB6F2-EF7A-86B6-4D05-8B3ED81E5CB5}"/>
              </a:ext>
            </a:extLst>
          </p:cNvPr>
          <p:cNvSpPr/>
          <p:nvPr/>
        </p:nvSpPr>
        <p:spPr>
          <a:xfrm>
            <a:off x="603504" y="5248656"/>
            <a:ext cx="272491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965DF50D-25A9-F712-8DE7-861EA506CBD6}"/>
              </a:ext>
            </a:extLst>
          </p:cNvPr>
          <p:cNvSpPr/>
          <p:nvPr/>
        </p:nvSpPr>
        <p:spPr>
          <a:xfrm>
            <a:off x="713232" y="5312664"/>
            <a:ext cx="12146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평가 구조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B0678BCE-D0FC-4773-0C65-253F0044B449}"/>
              </a:ext>
            </a:extLst>
          </p:cNvPr>
          <p:cNvSpPr/>
          <p:nvPr/>
        </p:nvSpPr>
        <p:spPr>
          <a:xfrm>
            <a:off x="1481328" y="5303520"/>
            <a:ext cx="17190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/ KD / FT / Base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AE3C4EEE-2ED9-BA8A-21AF-CD669265B836}"/>
              </a:ext>
            </a:extLst>
          </p:cNvPr>
          <p:cNvSpPr/>
          <p:nvPr/>
        </p:nvSpPr>
        <p:spPr>
          <a:xfrm>
            <a:off x="3977640" y="1920240"/>
            <a:ext cx="22860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4-Way 비교 프레임워크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BB4ED065-7C92-65B5-DEB5-4AB195701DC5}"/>
              </a:ext>
            </a:extLst>
          </p:cNvPr>
          <p:cNvSpPr/>
          <p:nvPr/>
        </p:nvSpPr>
        <p:spPr>
          <a:xfrm>
            <a:off x="3977640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9E77B10D-EE76-4D17-5E46-BD9571CF1337}"/>
              </a:ext>
            </a:extLst>
          </p:cNvPr>
          <p:cNvSpPr/>
          <p:nvPr/>
        </p:nvSpPr>
        <p:spPr>
          <a:xfrm>
            <a:off x="4123944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74174D62-688A-562D-D7E4-F693482C0CAF}"/>
              </a:ext>
            </a:extLst>
          </p:cNvPr>
          <p:cNvSpPr/>
          <p:nvPr/>
        </p:nvSpPr>
        <p:spPr>
          <a:xfrm>
            <a:off x="4123944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8AAE3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355327BC-3141-7BF9-0DAF-6B7B277DEDF9}"/>
              </a:ext>
            </a:extLst>
          </p:cNvPr>
          <p:cNvSpPr/>
          <p:nvPr/>
        </p:nvSpPr>
        <p:spPr>
          <a:xfrm>
            <a:off x="4678299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8AAE3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(FT)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EA1A4BBE-62C6-E878-4884-E08832939A07}"/>
              </a:ext>
            </a:extLst>
          </p:cNvPr>
          <p:cNvSpPr/>
          <p:nvPr/>
        </p:nvSpPr>
        <p:spPr>
          <a:xfrm>
            <a:off x="4123944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도메인 FT 후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Frozen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7A162897-97AD-AC95-D3B3-0C29AF1ACD20}"/>
              </a:ext>
            </a:extLst>
          </p:cNvPr>
          <p:cNvSpPr/>
          <p:nvPr/>
        </p:nvSpPr>
        <p:spPr>
          <a:xfrm>
            <a:off x="6007608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8">
            <a:extLst>
              <a:ext uri="{FF2B5EF4-FFF2-40B4-BE49-F238E27FC236}">
                <a16:creationId xmlns:a16="http://schemas.microsoft.com/office/drawing/2014/main" id="{C4419C36-D2ED-C8F2-45FC-5D07EE8E2F05}"/>
              </a:ext>
            </a:extLst>
          </p:cNvPr>
          <p:cNvSpPr/>
          <p:nvPr/>
        </p:nvSpPr>
        <p:spPr>
          <a:xfrm>
            <a:off x="6153912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9">
            <a:extLst>
              <a:ext uri="{FF2B5EF4-FFF2-40B4-BE49-F238E27FC236}">
                <a16:creationId xmlns:a16="http://schemas.microsoft.com/office/drawing/2014/main" id="{9F1A3A0D-E537-FBA6-A5B3-9B4E22AF6668}"/>
              </a:ext>
            </a:extLst>
          </p:cNvPr>
          <p:cNvSpPr/>
          <p:nvPr/>
        </p:nvSpPr>
        <p:spPr>
          <a:xfrm>
            <a:off x="6153912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3BA56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71153503-2B28-EBCF-CD29-2C87AA4E1A69}"/>
              </a:ext>
            </a:extLst>
          </p:cNvPr>
          <p:cNvSpPr/>
          <p:nvPr/>
        </p:nvSpPr>
        <p:spPr>
          <a:xfrm>
            <a:off x="6712839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200" b="1" dirty="0">
                <a:solidFill>
                  <a:srgbClr val="3BA56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 (KD)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C82B6840-9FD1-3435-14D5-E8CE0E14A318}"/>
              </a:ext>
            </a:extLst>
          </p:cNvPr>
          <p:cNvSpPr/>
          <p:nvPr/>
        </p:nvSpPr>
        <p:spPr>
          <a:xfrm>
            <a:off x="6153912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 Loss + CE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학습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39" name="Shape 43">
            <a:extLst>
              <a:ext uri="{FF2B5EF4-FFF2-40B4-BE49-F238E27FC236}">
                <a16:creationId xmlns:a16="http://schemas.microsoft.com/office/drawing/2014/main" id="{13385249-B7EA-7F45-8FA1-CCCADA8D0B3F}"/>
              </a:ext>
            </a:extLst>
          </p:cNvPr>
          <p:cNvSpPr/>
          <p:nvPr/>
        </p:nvSpPr>
        <p:spPr>
          <a:xfrm>
            <a:off x="8037576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44">
            <a:extLst>
              <a:ext uri="{FF2B5EF4-FFF2-40B4-BE49-F238E27FC236}">
                <a16:creationId xmlns:a16="http://schemas.microsoft.com/office/drawing/2014/main" id="{E0D26225-1E41-C1FD-151A-5BA1D624F9C9}"/>
              </a:ext>
            </a:extLst>
          </p:cNvPr>
          <p:cNvSpPr/>
          <p:nvPr/>
        </p:nvSpPr>
        <p:spPr>
          <a:xfrm>
            <a:off x="8183880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45">
            <a:extLst>
              <a:ext uri="{FF2B5EF4-FFF2-40B4-BE49-F238E27FC236}">
                <a16:creationId xmlns:a16="http://schemas.microsoft.com/office/drawing/2014/main" id="{FC116F63-AD95-2559-9392-B0B3749ECBA6}"/>
              </a:ext>
            </a:extLst>
          </p:cNvPr>
          <p:cNvSpPr/>
          <p:nvPr/>
        </p:nvSpPr>
        <p:spPr>
          <a:xfrm>
            <a:off x="8183880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427A9D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FT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2" name="Text 46">
            <a:extLst>
              <a:ext uri="{FF2B5EF4-FFF2-40B4-BE49-F238E27FC236}">
                <a16:creationId xmlns:a16="http://schemas.microsoft.com/office/drawing/2014/main" id="{345809CE-81EB-7D02-2957-4475AA215D00}"/>
              </a:ext>
            </a:extLst>
          </p:cNvPr>
          <p:cNvSpPr/>
          <p:nvPr/>
        </p:nvSpPr>
        <p:spPr>
          <a:xfrm>
            <a:off x="8742807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427A9D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 (FT)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3" name="Text 47">
            <a:extLst>
              <a:ext uri="{FF2B5EF4-FFF2-40B4-BE49-F238E27FC236}">
                <a16:creationId xmlns:a16="http://schemas.microsoft.com/office/drawing/2014/main" id="{36D1B2DF-0D46-6E35-58D8-EFF6957F068C}"/>
              </a:ext>
            </a:extLst>
          </p:cNvPr>
          <p:cNvSpPr/>
          <p:nvPr/>
        </p:nvSpPr>
        <p:spPr>
          <a:xfrm>
            <a:off x="8183880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CE Loss만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학습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4" name="Shape 49">
            <a:extLst>
              <a:ext uri="{FF2B5EF4-FFF2-40B4-BE49-F238E27FC236}">
                <a16:creationId xmlns:a16="http://schemas.microsoft.com/office/drawing/2014/main" id="{2FD4568F-2999-5A5A-A478-1B7EFED6A5C2}"/>
              </a:ext>
            </a:extLst>
          </p:cNvPr>
          <p:cNvSpPr/>
          <p:nvPr/>
        </p:nvSpPr>
        <p:spPr>
          <a:xfrm>
            <a:off x="10067544" y="2331720"/>
            <a:ext cx="168249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50">
            <a:extLst>
              <a:ext uri="{FF2B5EF4-FFF2-40B4-BE49-F238E27FC236}">
                <a16:creationId xmlns:a16="http://schemas.microsoft.com/office/drawing/2014/main" id="{678E7439-EAA4-3761-C3DF-84894E9EADE9}"/>
              </a:ext>
            </a:extLst>
          </p:cNvPr>
          <p:cNvSpPr/>
          <p:nvPr/>
        </p:nvSpPr>
        <p:spPr>
          <a:xfrm>
            <a:off x="10213848" y="2505456"/>
            <a:ext cx="457200" cy="457200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1">
            <a:extLst>
              <a:ext uri="{FF2B5EF4-FFF2-40B4-BE49-F238E27FC236}">
                <a16:creationId xmlns:a16="http://schemas.microsoft.com/office/drawing/2014/main" id="{CF9B451D-8462-9225-2EA9-E726490710AF}"/>
              </a:ext>
            </a:extLst>
          </p:cNvPr>
          <p:cNvSpPr/>
          <p:nvPr/>
        </p:nvSpPr>
        <p:spPr>
          <a:xfrm>
            <a:off x="10213848" y="2514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6D4D9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B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7" name="Text 52">
            <a:extLst>
              <a:ext uri="{FF2B5EF4-FFF2-40B4-BE49-F238E27FC236}">
                <a16:creationId xmlns:a16="http://schemas.microsoft.com/office/drawing/2014/main" id="{8FE0C10B-BF40-60B8-F4C8-9B5EA0D1D732}"/>
              </a:ext>
            </a:extLst>
          </p:cNvPr>
          <p:cNvSpPr/>
          <p:nvPr/>
        </p:nvSpPr>
        <p:spPr>
          <a:xfrm>
            <a:off x="10772775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200" b="1" dirty="0">
                <a:solidFill>
                  <a:srgbClr val="6D4D9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r>
              <a:rPr lang="en-US" sz="1200" b="1" dirty="0">
                <a:solidFill>
                  <a:srgbClr val="6D4D9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(Base)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8" name="Text 53">
            <a:extLst>
              <a:ext uri="{FF2B5EF4-FFF2-40B4-BE49-F238E27FC236}">
                <a16:creationId xmlns:a16="http://schemas.microsoft.com/office/drawing/2014/main" id="{5C19C41B-5DD7-0A3C-D00E-4BE9160A9325}"/>
              </a:ext>
            </a:extLst>
          </p:cNvPr>
          <p:cNvSpPr/>
          <p:nvPr/>
        </p:nvSpPr>
        <p:spPr>
          <a:xfrm>
            <a:off x="10213848" y="3136392"/>
            <a:ext cx="1389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추가 학습 없음</a:t>
            </a:r>
            <a:endParaRPr lang="en-US" sz="1050" b="1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49" name="Shape 54">
            <a:extLst>
              <a:ext uri="{FF2B5EF4-FFF2-40B4-BE49-F238E27FC236}">
                <a16:creationId xmlns:a16="http://schemas.microsoft.com/office/drawing/2014/main" id="{4D1F54F0-CE60-2CE9-EE5C-4888CF7209AA}"/>
              </a:ext>
            </a:extLst>
          </p:cNvPr>
          <p:cNvSpPr/>
          <p:nvPr/>
        </p:nvSpPr>
        <p:spPr>
          <a:xfrm>
            <a:off x="7516368" y="3968496"/>
            <a:ext cx="438912" cy="411480"/>
          </a:xfrm>
          <a:prstGeom prst="downArrow">
            <a:avLst/>
          </a:prstGeom>
          <a:solidFill>
            <a:srgbClr val="1D86CA"/>
          </a:solidFill>
          <a:ln w="12700">
            <a:solidFill>
              <a:srgbClr val="1D8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55">
            <a:extLst>
              <a:ext uri="{FF2B5EF4-FFF2-40B4-BE49-F238E27FC236}">
                <a16:creationId xmlns:a16="http://schemas.microsoft.com/office/drawing/2014/main" id="{12EDA435-46DC-B9E1-CAC2-4416F7D97F3E}"/>
              </a:ext>
            </a:extLst>
          </p:cNvPr>
          <p:cNvSpPr/>
          <p:nvPr/>
        </p:nvSpPr>
        <p:spPr>
          <a:xfrm>
            <a:off x="3977640" y="4590288"/>
            <a:ext cx="7726680" cy="1170432"/>
          </a:xfrm>
          <a:prstGeom prst="roundRect">
            <a:avLst>
              <a:gd name="adj" fmla="val 6250"/>
            </a:avLst>
          </a:prstGeom>
          <a:solidFill>
            <a:srgbClr val="0E2841">
              <a:lumMod val="10000"/>
              <a:lumOff val="90000"/>
            </a:srgbClr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Text 56">
            <a:extLst>
              <a:ext uri="{FF2B5EF4-FFF2-40B4-BE49-F238E27FC236}">
                <a16:creationId xmlns:a16="http://schemas.microsoft.com/office/drawing/2014/main" id="{1A7317DC-C28A-366D-1020-19F5C05797F6}"/>
              </a:ext>
            </a:extLst>
          </p:cNvPr>
          <p:cNvSpPr/>
          <p:nvPr/>
        </p:nvSpPr>
        <p:spPr>
          <a:xfrm>
            <a:off x="4206240" y="4718304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200" b="1" dirty="0">
                <a:solidFill>
                  <a:srgbClr val="0C4D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4개 모델을 동일한 4대 지표로 동시 평가</a:t>
            </a:r>
            <a:endParaRPr lang="en-US" sz="1200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2" name="Shape 57">
            <a:extLst>
              <a:ext uri="{FF2B5EF4-FFF2-40B4-BE49-F238E27FC236}">
                <a16:creationId xmlns:a16="http://schemas.microsoft.com/office/drawing/2014/main" id="{35174CBD-8B5A-2F10-1004-81AD28E3F664}"/>
              </a:ext>
            </a:extLst>
          </p:cNvPr>
          <p:cNvSpPr/>
          <p:nvPr/>
        </p:nvSpPr>
        <p:spPr>
          <a:xfrm>
            <a:off x="4206240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alibri"/>
              </a:rPr>
              <a:t>PPL</a:t>
            </a:r>
            <a:br>
              <a:rPr lang="en-US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alibri"/>
              </a:rPr>
            </a:br>
            <a:r>
              <a:rPr lang="ko-KR" altLang="en-US" sz="1100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오류율</a:t>
            </a:r>
            <a:endParaRPr lang="en-US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3" name="Shape 60">
            <a:extLst>
              <a:ext uri="{FF2B5EF4-FFF2-40B4-BE49-F238E27FC236}">
                <a16:creationId xmlns:a16="http://schemas.microsoft.com/office/drawing/2014/main" id="{48170D76-57E2-6F6D-A8A7-271F6E35EC6A}"/>
              </a:ext>
            </a:extLst>
          </p:cNvPr>
          <p:cNvSpPr/>
          <p:nvPr/>
        </p:nvSpPr>
        <p:spPr>
          <a:xfrm>
            <a:off x="6081776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추론 속도</a:t>
            </a:r>
            <a:endParaRPr lang="en-US" altLang="ko-KR" b="1" dirty="0">
              <a:solidFill>
                <a:srgbClr val="FFFFFF"/>
              </a:solidFill>
              <a:latin typeface="Malgun Gothic" panose="020B0503020000020004" pitchFamily="34" charset="-127"/>
              <a:cs typeface="Calibri"/>
            </a:endParaRP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alibri"/>
              </a:rPr>
              <a:t>tokens/sec</a:t>
            </a:r>
          </a:p>
        </p:txBody>
      </p:sp>
      <p:sp>
        <p:nvSpPr>
          <p:cNvPr id="54" name="Shape 63">
            <a:extLst>
              <a:ext uri="{FF2B5EF4-FFF2-40B4-BE49-F238E27FC236}">
                <a16:creationId xmlns:a16="http://schemas.microsoft.com/office/drawing/2014/main" id="{5DDFE7F9-AB6A-C198-959F-28DD758B562D}"/>
              </a:ext>
            </a:extLst>
          </p:cNvPr>
          <p:cNvSpPr/>
          <p:nvPr/>
        </p:nvSpPr>
        <p:spPr>
          <a:xfrm>
            <a:off x="7957312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생성 품질</a:t>
            </a:r>
            <a:endParaRPr lang="en-US" altLang="ko-KR" b="1" dirty="0">
              <a:solidFill>
                <a:srgbClr val="FFFFFF"/>
              </a:solidFill>
              <a:latin typeface="Malgun Gothic" panose="020B0503020000020004" pitchFamily="34" charset="-127"/>
              <a:cs typeface="Calibri"/>
            </a:endParaRPr>
          </a:p>
          <a:p>
            <a:pPr algn="ctr"/>
            <a:r>
              <a:rPr lang="ko-KR" altLang="en-US" sz="1100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정성 비교</a:t>
            </a:r>
            <a:endParaRPr lang="en-US" sz="1100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5" name="Shape 66">
            <a:extLst>
              <a:ext uri="{FF2B5EF4-FFF2-40B4-BE49-F238E27FC236}">
                <a16:creationId xmlns:a16="http://schemas.microsoft.com/office/drawing/2014/main" id="{B4117ED7-8DD8-3B51-7BC1-C7FE7C29EDC1}"/>
              </a:ext>
            </a:extLst>
          </p:cNvPr>
          <p:cNvSpPr/>
          <p:nvPr/>
        </p:nvSpPr>
        <p:spPr>
          <a:xfrm>
            <a:off x="9832848" y="5039868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메모리</a:t>
            </a:r>
            <a:endParaRPr lang="en-US" altLang="ko-KR" dirty="0">
              <a:solidFill>
                <a:srgbClr val="FFFFFF"/>
              </a:solidFill>
              <a:latin typeface="Malgun Gothic" panose="020B0503020000020004" pitchFamily="34" charset="-127"/>
              <a:cs typeface="Calibri"/>
            </a:endParaRPr>
          </a:p>
          <a:p>
            <a:pPr algn="ctr"/>
            <a:r>
              <a:rPr lang="ko-KR" altLang="en-US" sz="1100" dirty="0">
                <a:solidFill>
                  <a:srgbClr val="FFFFFF"/>
                </a:solidFill>
                <a:latin typeface="Malgun Gothic" panose="020B0503020000020004" pitchFamily="34" charset="-127"/>
                <a:cs typeface="Calibri"/>
              </a:rPr>
              <a:t>사용량</a:t>
            </a:r>
            <a:endParaRPr lang="en-US" sz="1100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C59D200F-5436-B855-F1DA-E5DE89319D3D}"/>
              </a:ext>
            </a:extLst>
          </p:cNvPr>
          <p:cNvSpPr/>
          <p:nvPr/>
        </p:nvSpPr>
        <p:spPr>
          <a:xfrm>
            <a:off x="384048" y="1298448"/>
            <a:ext cx="11365992" cy="0"/>
          </a:xfrm>
          <a:prstGeom prst="line">
            <a:avLst/>
          </a:prstGeom>
          <a:noFill/>
          <a:ln w="1651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0D7E98-0D7B-2ED8-8D5D-2D16EDB694BA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13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86247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711E-1096-3AB3-3A70-61C034F2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">
            <a:extLst>
              <a:ext uri="{FF2B5EF4-FFF2-40B4-BE49-F238E27FC236}">
                <a16:creationId xmlns:a16="http://schemas.microsoft.com/office/drawing/2014/main" id="{C11AB84E-61BF-29EC-97C7-37B31C86F821}"/>
              </a:ext>
            </a:extLst>
          </p:cNvPr>
          <p:cNvSpPr/>
          <p:nvPr/>
        </p:nvSpPr>
        <p:spPr>
          <a:xfrm>
            <a:off x="384048" y="1737359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205E6-7EB7-C4BE-A9A1-12B99A9D50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987B3B-4DE3-A045-5792-99E9E873226F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AFCA1476-9608-FC67-3155-A9C2D3CA506A}"/>
              </a:ext>
            </a:extLst>
          </p:cNvPr>
          <p:cNvSpPr/>
          <p:nvPr/>
        </p:nvSpPr>
        <p:spPr>
          <a:xfrm>
            <a:off x="384048" y="1389888"/>
            <a:ext cx="11155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Gap = KD PPL – FT PPL,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음수일수록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KD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가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FT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보다 우수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E859A715-922C-B1E6-92BE-A6838991D0DF}"/>
              </a:ext>
            </a:extLst>
          </p:cNvPr>
          <p:cNvGraphicFramePr>
            <a:graphicFrameLocks noGrp="1"/>
          </p:cNvGraphicFramePr>
          <p:nvPr/>
        </p:nvGraphicFramePr>
        <p:xfrm>
          <a:off x="484704" y="2168974"/>
          <a:ext cx="5330808" cy="1945825"/>
        </p:xfrm>
        <a:graphic>
          <a:graphicData uri="http://schemas.openxmlformats.org/drawingml/2006/table">
            <a:tbl>
              <a:tblPr firstRow="1" bandRow="1"/>
              <a:tblGrid>
                <a:gridCol w="761544">
                  <a:extLst>
                    <a:ext uri="{9D8B030D-6E8A-4147-A177-3AD203B41FA5}">
                      <a16:colId xmlns:a16="http://schemas.microsoft.com/office/drawing/2014/main" val="370528977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4269664184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993654360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2389571587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401366065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1366892736"/>
                    </a:ext>
                  </a:extLst>
                </a:gridCol>
                <a:gridCol w="761544">
                  <a:extLst>
                    <a:ext uri="{9D8B030D-6E8A-4147-A177-3AD203B41FA5}">
                      <a16:colId xmlns:a16="http://schemas.microsoft.com/office/drawing/2014/main" val="4201766437"/>
                    </a:ext>
                  </a:extLst>
                </a:gridCol>
              </a:tblGrid>
              <a:tr h="530681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Teacher FT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l-GR" sz="11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α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Epochs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KD PPL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FT PPL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Gap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03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0.3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48.96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32.56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solidFill>
                            <a:srgbClr val="EE0000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+16.40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06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0.5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33.00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32.56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+0.44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07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0.3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5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32.89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32.68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+0.21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  <a:tr h="353786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Exp</a:t>
                      </a:r>
                      <a:r>
                        <a:rPr lang="ko-KR" altLang="en-US" sz="1100" b="1" dirty="0">
                          <a:latin typeface="Malgun Gothic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latin typeface="Malgun Gothic" panose="020B0503020000020004" pitchFamily="34" charset="-127"/>
                          <a:ea typeface="+mn-ea"/>
                        </a:rPr>
                        <a:t>08</a:t>
                      </a:r>
                      <a:endParaRPr lang="en-US" sz="1100" b="1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0.2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32.44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latin typeface="Malgun Gothic" panose="020B0503020000020004" pitchFamily="34" charset="-127"/>
                          <a:ea typeface="+mn-ea"/>
                        </a:rPr>
                        <a:t>32.82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-0.38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42396"/>
                  </a:ext>
                </a:extLst>
              </a:tr>
            </a:tbl>
          </a:graphicData>
        </a:graphic>
      </p:graphicFrame>
      <p:sp>
        <p:nvSpPr>
          <p:cNvPr id="60" name="Shape 11">
            <a:extLst>
              <a:ext uri="{FF2B5EF4-FFF2-40B4-BE49-F238E27FC236}">
                <a16:creationId xmlns:a16="http://schemas.microsoft.com/office/drawing/2014/main" id="{4ED45AF7-8DF6-C772-1A71-179948EA4EC4}"/>
              </a:ext>
            </a:extLst>
          </p:cNvPr>
          <p:cNvSpPr/>
          <p:nvPr/>
        </p:nvSpPr>
        <p:spPr>
          <a:xfrm>
            <a:off x="484704" y="1834895"/>
            <a:ext cx="1419604" cy="238668"/>
          </a:xfrm>
          <a:prstGeom prst="roundRect">
            <a:avLst>
              <a:gd name="adj" fmla="val 2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히스토리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957FCE8C-DEE6-A8A9-5FE7-910015DFC3A5}"/>
              </a:ext>
            </a:extLst>
          </p:cNvPr>
          <p:cNvSpPr/>
          <p:nvPr/>
        </p:nvSpPr>
        <p:spPr>
          <a:xfrm>
            <a:off x="384048" y="74980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Result: </a:t>
            </a:r>
            <a:r>
              <a:rPr lang="en-US" sz="192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Exp08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에서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KD가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FT보다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낮은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PPL을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확인</a:t>
            </a:r>
            <a:endParaRPr lang="en-US" sz="192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E870D389-D20D-5AF1-5BCE-8A84A0E1F2AE}"/>
              </a:ext>
            </a:extLst>
          </p:cNvPr>
          <p:cNvSpPr/>
          <p:nvPr/>
        </p:nvSpPr>
        <p:spPr>
          <a:xfrm>
            <a:off x="6275834" y="1737359"/>
            <a:ext cx="5532120" cy="251459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5E245591-576D-E553-E2AC-5D3A7BB96027}"/>
              </a:ext>
            </a:extLst>
          </p:cNvPr>
          <p:cNvSpPr/>
          <p:nvPr/>
        </p:nvSpPr>
        <p:spPr>
          <a:xfrm>
            <a:off x="384048" y="1298448"/>
            <a:ext cx="11365992" cy="0"/>
          </a:xfrm>
          <a:prstGeom prst="line">
            <a:avLst/>
          </a:prstGeom>
          <a:noFill/>
          <a:ln w="1651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D4E2EA0C-98A6-F8C0-36A0-FD844F57FE7E}"/>
              </a:ext>
            </a:extLst>
          </p:cNvPr>
          <p:cNvSpPr/>
          <p:nvPr/>
        </p:nvSpPr>
        <p:spPr>
          <a:xfrm>
            <a:off x="6400800" y="1834894"/>
            <a:ext cx="2234944" cy="238669"/>
          </a:xfrm>
          <a:prstGeom prst="roundRect">
            <a:avLst>
              <a:gd name="adj" fmla="val 2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  <a:ea typeface="Calibri"/>
                <a:cs typeface="Calibri"/>
              </a:rPr>
              <a:t>KD </a:t>
            </a:r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성능 개선 조건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5" name="Shape 88">
            <a:extLst>
              <a:ext uri="{FF2B5EF4-FFF2-40B4-BE49-F238E27FC236}">
                <a16:creationId xmlns:a16="http://schemas.microsoft.com/office/drawing/2014/main" id="{306C6445-E368-3FF9-9A6C-F398BEB4E099}"/>
              </a:ext>
            </a:extLst>
          </p:cNvPr>
          <p:cNvSpPr/>
          <p:nvPr/>
        </p:nvSpPr>
        <p:spPr>
          <a:xfrm>
            <a:off x="6400800" y="221132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89">
            <a:extLst>
              <a:ext uri="{FF2B5EF4-FFF2-40B4-BE49-F238E27FC236}">
                <a16:creationId xmlns:a16="http://schemas.microsoft.com/office/drawing/2014/main" id="{05DAE24C-BC75-7C9D-18A6-C369C0F18693}"/>
              </a:ext>
            </a:extLst>
          </p:cNvPr>
          <p:cNvSpPr/>
          <p:nvPr/>
        </p:nvSpPr>
        <p:spPr>
          <a:xfrm>
            <a:off x="6510528" y="2330196"/>
            <a:ext cx="292608" cy="292608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90">
            <a:extLst>
              <a:ext uri="{FF2B5EF4-FFF2-40B4-BE49-F238E27FC236}">
                <a16:creationId xmlns:a16="http://schemas.microsoft.com/office/drawing/2014/main" id="{2400847A-4F72-8981-DF26-56F218C2E928}"/>
              </a:ext>
            </a:extLst>
          </p:cNvPr>
          <p:cNvSpPr/>
          <p:nvPr/>
        </p:nvSpPr>
        <p:spPr>
          <a:xfrm>
            <a:off x="6510528" y="23393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1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8" name="Text 91">
            <a:extLst>
              <a:ext uri="{FF2B5EF4-FFF2-40B4-BE49-F238E27FC236}">
                <a16:creationId xmlns:a16="http://schemas.microsoft.com/office/drawing/2014/main" id="{69E1F3C5-BE77-5566-B58A-A44ED3FC009E}"/>
              </a:ext>
            </a:extLst>
          </p:cNvPr>
          <p:cNvSpPr/>
          <p:nvPr/>
        </p:nvSpPr>
        <p:spPr>
          <a:xfrm>
            <a:off x="7021068" y="2220468"/>
            <a:ext cx="448970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 Fine-Tuning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endParaRPr lang="en-US" sz="105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50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Teacher가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도메인을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모르면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soft target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자체가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약함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gap 16 → 0.44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9" name="Shape 93">
            <a:extLst>
              <a:ext uri="{FF2B5EF4-FFF2-40B4-BE49-F238E27FC236}">
                <a16:creationId xmlns:a16="http://schemas.microsoft.com/office/drawing/2014/main" id="{9C99B0E2-B256-174B-4965-F20A32EA5505}"/>
              </a:ext>
            </a:extLst>
          </p:cNvPr>
          <p:cNvSpPr/>
          <p:nvPr/>
        </p:nvSpPr>
        <p:spPr>
          <a:xfrm>
            <a:off x="6400800" y="285140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94">
            <a:extLst>
              <a:ext uri="{FF2B5EF4-FFF2-40B4-BE49-F238E27FC236}">
                <a16:creationId xmlns:a16="http://schemas.microsoft.com/office/drawing/2014/main" id="{B1DF7CE2-1C6D-4144-A0DA-F4528D7868DE}"/>
              </a:ext>
            </a:extLst>
          </p:cNvPr>
          <p:cNvSpPr/>
          <p:nvPr/>
        </p:nvSpPr>
        <p:spPr>
          <a:xfrm>
            <a:off x="6510528" y="2970276"/>
            <a:ext cx="292608" cy="292608"/>
          </a:xfrm>
          <a:prstGeom prst="ellipse">
            <a:avLst/>
          </a:prstGeom>
          <a:solidFill>
            <a:srgbClr val="F0F7FF"/>
          </a:solidFill>
          <a:ln w="10160">
            <a:solidFill>
              <a:srgbClr val="BFD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95">
            <a:extLst>
              <a:ext uri="{FF2B5EF4-FFF2-40B4-BE49-F238E27FC236}">
                <a16:creationId xmlns:a16="http://schemas.microsoft.com/office/drawing/2014/main" id="{70A6EE04-55F5-FC1E-37EF-882D537C572A}"/>
              </a:ext>
            </a:extLst>
          </p:cNvPr>
          <p:cNvSpPr/>
          <p:nvPr/>
        </p:nvSpPr>
        <p:spPr>
          <a:xfrm>
            <a:off x="6510528" y="29794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3BA56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2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2" name="Text 96">
            <a:extLst>
              <a:ext uri="{FF2B5EF4-FFF2-40B4-BE49-F238E27FC236}">
                <a16:creationId xmlns:a16="http://schemas.microsoft.com/office/drawing/2014/main" id="{B36231CA-4B70-7F83-B1CD-AABAEE44B6D8}"/>
              </a:ext>
            </a:extLst>
          </p:cNvPr>
          <p:cNvSpPr/>
          <p:nvPr/>
        </p:nvSpPr>
        <p:spPr>
          <a:xfrm>
            <a:off x="7021068" y="2860548"/>
            <a:ext cx="448970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Soft Target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의존도</a:t>
            </a:r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강화</a:t>
            </a:r>
            <a:endParaRPr lang="en-US" sz="105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50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soft target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비중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50% → 80% / α를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낮출수록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gap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개선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경향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3" name="Text 97">
            <a:extLst>
              <a:ext uri="{FF2B5EF4-FFF2-40B4-BE49-F238E27FC236}">
                <a16:creationId xmlns:a16="http://schemas.microsoft.com/office/drawing/2014/main" id="{29FF49F5-653E-81F5-6459-D76FB82665E5}"/>
              </a:ext>
            </a:extLst>
          </p:cNvPr>
          <p:cNvSpPr/>
          <p:nvPr/>
        </p:nvSpPr>
        <p:spPr>
          <a:xfrm>
            <a:off x="7021068" y="3217164"/>
            <a:ext cx="448970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endParaRPr lang="en-US" sz="10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4" name="Shape 98">
            <a:extLst>
              <a:ext uri="{FF2B5EF4-FFF2-40B4-BE49-F238E27FC236}">
                <a16:creationId xmlns:a16="http://schemas.microsoft.com/office/drawing/2014/main" id="{C62D4C3C-730D-873C-F2A1-EA542608F750}"/>
              </a:ext>
            </a:extLst>
          </p:cNvPr>
          <p:cNvSpPr/>
          <p:nvPr/>
        </p:nvSpPr>
        <p:spPr>
          <a:xfrm>
            <a:off x="6400800" y="349148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99">
            <a:extLst>
              <a:ext uri="{FF2B5EF4-FFF2-40B4-BE49-F238E27FC236}">
                <a16:creationId xmlns:a16="http://schemas.microsoft.com/office/drawing/2014/main" id="{0B9944A0-24B4-09A0-1E1C-618938205F4E}"/>
              </a:ext>
            </a:extLst>
          </p:cNvPr>
          <p:cNvSpPr/>
          <p:nvPr/>
        </p:nvSpPr>
        <p:spPr>
          <a:xfrm>
            <a:off x="6510528" y="3610356"/>
            <a:ext cx="292608" cy="292608"/>
          </a:xfrm>
          <a:prstGeom prst="ellipse">
            <a:avLst/>
          </a:prstGeom>
          <a:solidFill>
            <a:srgbClr val="F0F7FF"/>
          </a:solidFill>
          <a:ln w="1016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100">
            <a:extLst>
              <a:ext uri="{FF2B5EF4-FFF2-40B4-BE49-F238E27FC236}">
                <a16:creationId xmlns:a16="http://schemas.microsoft.com/office/drawing/2014/main" id="{64396D6E-A60F-7519-EFFC-A9BCBBC9930F}"/>
              </a:ext>
            </a:extLst>
          </p:cNvPr>
          <p:cNvSpPr/>
          <p:nvPr/>
        </p:nvSpPr>
        <p:spPr>
          <a:xfrm>
            <a:off x="6510528" y="36195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59E0B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3</a:t>
            </a:r>
            <a:endParaRPr lang="en-US" sz="14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7" name="Text 101">
            <a:extLst>
              <a:ext uri="{FF2B5EF4-FFF2-40B4-BE49-F238E27FC236}">
                <a16:creationId xmlns:a16="http://schemas.microsoft.com/office/drawing/2014/main" id="{8233900B-C5C6-C276-3981-B25D17CC41AD}"/>
              </a:ext>
            </a:extLst>
          </p:cNvPr>
          <p:cNvSpPr/>
          <p:nvPr/>
        </p:nvSpPr>
        <p:spPr>
          <a:xfrm>
            <a:off x="7021068" y="3506723"/>
            <a:ext cx="4489704" cy="55168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5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Epochs를 3 → 8로 </a:t>
            </a:r>
            <a:r>
              <a:rPr lang="en-US" sz="105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확장</a:t>
            </a:r>
            <a:endParaRPr lang="en-US" sz="105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500" b="1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FT는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과적합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경향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,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KD는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epoch 8까지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안정적</a:t>
            </a:r>
            <a:r>
              <a:rPr lang="en-US" sz="105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수렴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8" name="Text 102">
            <a:extLst>
              <a:ext uri="{FF2B5EF4-FFF2-40B4-BE49-F238E27FC236}">
                <a16:creationId xmlns:a16="http://schemas.microsoft.com/office/drawing/2014/main" id="{EAA47CA7-C620-8843-7992-B5CF010B913D}"/>
              </a:ext>
            </a:extLst>
          </p:cNvPr>
          <p:cNvSpPr/>
          <p:nvPr/>
        </p:nvSpPr>
        <p:spPr>
          <a:xfrm>
            <a:off x="7021068" y="3857244"/>
            <a:ext cx="448970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endParaRPr lang="en-US" sz="10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5B3ED122-5B1A-A9B4-036F-36D8B5EFE0D1}"/>
              </a:ext>
            </a:extLst>
          </p:cNvPr>
          <p:cNvSpPr/>
          <p:nvPr/>
        </p:nvSpPr>
        <p:spPr>
          <a:xfrm>
            <a:off x="395668" y="4343398"/>
            <a:ext cx="11412285" cy="2382613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24431DB9-7666-A562-8F6E-DD8628B7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4" y="4427897"/>
            <a:ext cx="5431464" cy="2213613"/>
          </a:xfrm>
          <a:prstGeom prst="rect">
            <a:avLst/>
          </a:prstGeom>
          <a:ln>
            <a:noFill/>
          </a:ln>
        </p:spPr>
      </p:pic>
      <p:sp>
        <p:nvSpPr>
          <p:cNvPr id="81" name="Text 104">
            <a:extLst>
              <a:ext uri="{FF2B5EF4-FFF2-40B4-BE49-F238E27FC236}">
                <a16:creationId xmlns:a16="http://schemas.microsoft.com/office/drawing/2014/main" id="{AB14A210-B69A-BF77-1279-5736E5069C3B}"/>
              </a:ext>
            </a:extLst>
          </p:cNvPr>
          <p:cNvSpPr/>
          <p:nvPr/>
        </p:nvSpPr>
        <p:spPr>
          <a:xfrm>
            <a:off x="6800468" y="4655211"/>
            <a:ext cx="4868536" cy="229422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Validation Loss </a:t>
            </a:r>
            <a:r>
              <a:rPr lang="en-US" sz="12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해석</a:t>
            </a:r>
            <a:endParaRPr lang="en-US" sz="1200" b="1" dirty="0">
              <a:solidFill>
                <a:srgbClr val="0E73B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750" b="1" dirty="0">
              <a:solidFill>
                <a:srgbClr val="0E73B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Student(FT): 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epoch 2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최저점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후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상승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과적합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경향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Student(KD):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완만한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하강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안정적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수렴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r>
              <a:rPr lang="ko-KR" altLang="en-US" sz="1200" b="1" dirty="0">
                <a:solidFill>
                  <a:srgbClr val="0E73B9"/>
                </a:solidFill>
                <a:latin typeface="Malgun Gothic" panose="020B0503020000020004" pitchFamily="34" charset="-127"/>
                <a:cs typeface="Noto Sans CJK KR" pitchFamily="34" charset="-120"/>
              </a:rPr>
              <a:t>핵심 메세지</a:t>
            </a:r>
            <a:endParaRPr lang="en-US" altLang="ko-KR" sz="1200" b="1" dirty="0">
              <a:solidFill>
                <a:srgbClr val="0E73B9"/>
              </a:solidFill>
              <a:latin typeface="Malgun Gothic" panose="020B0503020000020004" pitchFamily="34" charset="-127"/>
              <a:cs typeface="Noto Sans CJK KR" pitchFamily="34" charset="-120"/>
            </a:endParaRPr>
          </a:p>
          <a:p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Teacher FT + soft target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강화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+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충분한 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epoch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조건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에서</a:t>
            </a:r>
          </a:p>
          <a:p>
            <a:r>
              <a:rPr lang="en-US" altLang="ko-KR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KD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가 </a:t>
            </a:r>
            <a:r>
              <a:rPr lang="en-US" altLang="ko-KR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FT 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대비 −</a:t>
            </a:r>
            <a:r>
              <a:rPr lang="en-US" altLang="ko-KR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0.38 PPL </a:t>
            </a:r>
            <a:r>
              <a:rPr lang="ko-KR" altLang="en-US" sz="1100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개선을 보였다</a:t>
            </a:r>
            <a:endParaRPr lang="en-US" altLang="ko-KR" sz="1100" dirty="0">
              <a:solidFill>
                <a:srgbClr val="111827"/>
              </a:solidFill>
              <a:latin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endParaRPr lang="en-US" sz="7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714F71-C008-0A23-641C-DAF5B1BB7666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14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854926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5100-B0F1-AC15-289E-779DC743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">
            <a:extLst>
              <a:ext uri="{FF2B5EF4-FFF2-40B4-BE49-F238E27FC236}">
                <a16:creationId xmlns:a16="http://schemas.microsoft.com/office/drawing/2014/main" id="{62AE23F9-BF79-852D-709E-3740BEB4F63E}"/>
              </a:ext>
            </a:extLst>
          </p:cNvPr>
          <p:cNvSpPr/>
          <p:nvPr/>
        </p:nvSpPr>
        <p:spPr>
          <a:xfrm>
            <a:off x="384048" y="1737359"/>
            <a:ext cx="410413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C4219D-D496-F0B5-4C76-9D296FECA3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279007B-07CF-8ACB-37F9-83D1B8EDEEB5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50BB6767-2039-6DA9-8FC7-0A2F13E6C692}"/>
              </a:ext>
            </a:extLst>
          </p:cNvPr>
          <p:cNvSpPr/>
          <p:nvPr/>
        </p:nvSpPr>
        <p:spPr>
          <a:xfrm>
            <a:off x="384048" y="1389888"/>
            <a:ext cx="11155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현재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결과는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가능성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확인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단계이며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,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데이터·환경·반복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을 통해</a:t>
            </a:r>
            <a:r>
              <a:rPr lang="en-US" altLang="ko-KR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실험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한계를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보완</a:t>
            </a:r>
            <a:r>
              <a:rPr lang="en-US" sz="110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ko-KR" altLang="en-US" sz="1100" b="1" dirty="0">
                <a:solidFill>
                  <a:srgbClr val="111827"/>
                </a:solidFill>
                <a:latin typeface="Malgun Gothic" panose="020B0503020000020004" pitchFamily="34" charset="-127"/>
                <a:cs typeface="Noto Sans CJK KR" pitchFamily="34" charset="-120"/>
              </a:rPr>
              <a:t>예정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1A64D0E1-878B-6DFD-E1A3-6E7C9188E155}"/>
              </a:ext>
            </a:extLst>
          </p:cNvPr>
          <p:cNvSpPr/>
          <p:nvPr/>
        </p:nvSpPr>
        <p:spPr>
          <a:xfrm>
            <a:off x="384048" y="74980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Roadmap: </a:t>
            </a:r>
            <a:r>
              <a:rPr lang="en-US" sz="192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로컬</a:t>
            </a:r>
            <a:r>
              <a:rPr lang="en-US" sz="192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검증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에서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GPU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재검증과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실버케어</a:t>
            </a:r>
            <a:r>
              <a:rPr lang="en-US" sz="1920" b="1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920" b="1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적용으로</a:t>
            </a:r>
            <a:endParaRPr lang="en-US" sz="192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20D6BD94-650E-4DFF-C714-028534808161}"/>
              </a:ext>
            </a:extLst>
          </p:cNvPr>
          <p:cNvSpPr/>
          <p:nvPr/>
        </p:nvSpPr>
        <p:spPr>
          <a:xfrm>
            <a:off x="4625340" y="1737359"/>
            <a:ext cx="7182614" cy="251459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6">
            <a:extLst>
              <a:ext uri="{FF2B5EF4-FFF2-40B4-BE49-F238E27FC236}">
                <a16:creationId xmlns:a16="http://schemas.microsoft.com/office/drawing/2014/main" id="{4D607EA0-A5B4-7E3E-B3F9-123E76D21192}"/>
              </a:ext>
            </a:extLst>
          </p:cNvPr>
          <p:cNvSpPr/>
          <p:nvPr/>
        </p:nvSpPr>
        <p:spPr>
          <a:xfrm>
            <a:off x="384048" y="1298448"/>
            <a:ext cx="11365992" cy="0"/>
          </a:xfrm>
          <a:prstGeom prst="line">
            <a:avLst/>
          </a:prstGeom>
          <a:noFill/>
          <a:ln w="1651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96BFC30D-CB0A-C51E-86C9-A16B80D98B31}"/>
              </a:ext>
            </a:extLst>
          </p:cNvPr>
          <p:cNvSpPr/>
          <p:nvPr/>
        </p:nvSpPr>
        <p:spPr>
          <a:xfrm>
            <a:off x="4729353" y="1828801"/>
            <a:ext cx="2234944" cy="238669"/>
          </a:xfrm>
          <a:prstGeom prst="roundRect">
            <a:avLst>
              <a:gd name="adj" fmla="val 20000"/>
            </a:avLst>
          </a:prstGeom>
          <a:solidFill>
            <a:srgbClr val="0C4D84"/>
          </a:solidFill>
          <a:ln w="12700">
            <a:solidFill>
              <a:srgbClr val="0C4D8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로컬 한계 </a:t>
            </a:r>
            <a:r>
              <a:rPr lang="en-US" sz="8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→ </a:t>
            </a:r>
            <a:r>
              <a:rPr lang="en-US" altLang="ko-KR" sz="1100" b="1" dirty="0">
                <a:solidFill>
                  <a:srgbClr val="FFFFFF"/>
                </a:solidFill>
                <a:ea typeface="Calibri"/>
                <a:cs typeface="Calibri"/>
              </a:rPr>
              <a:t>GPU </a:t>
            </a:r>
            <a:r>
              <a:rPr lang="ko-KR" altLang="en-US" sz="1100" b="1" dirty="0">
                <a:solidFill>
                  <a:srgbClr val="FFFFFF"/>
                </a:solidFill>
                <a:cs typeface="Calibri"/>
              </a:rPr>
              <a:t>활용</a:t>
            </a:r>
            <a:endParaRPr lang="en-US" sz="11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3" name="Text 92">
            <a:extLst>
              <a:ext uri="{FF2B5EF4-FFF2-40B4-BE49-F238E27FC236}">
                <a16:creationId xmlns:a16="http://schemas.microsoft.com/office/drawing/2014/main" id="{B0E000DF-DB90-0EF8-7EED-E02E83F68299}"/>
              </a:ext>
            </a:extLst>
          </p:cNvPr>
          <p:cNvSpPr/>
          <p:nvPr/>
        </p:nvSpPr>
        <p:spPr>
          <a:xfrm>
            <a:off x="8407908" y="630936"/>
            <a:ext cx="448970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endParaRPr lang="en-US" sz="10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D5057FB-B781-2481-F00A-48AD67208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6" y="1793749"/>
            <a:ext cx="3949444" cy="2444590"/>
          </a:xfrm>
          <a:prstGeom prst="rect">
            <a:avLst/>
          </a:prstGeom>
          <a:ln>
            <a:noFill/>
          </a:ln>
        </p:spPr>
      </p:pic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D303F2E7-D957-24D0-809C-D6365BF7FDB6}"/>
              </a:ext>
            </a:extLst>
          </p:cNvPr>
          <p:cNvGraphicFramePr>
            <a:graphicFrameLocks noGrp="1"/>
          </p:cNvGraphicFramePr>
          <p:nvPr/>
        </p:nvGraphicFramePr>
        <p:xfrm>
          <a:off x="4729353" y="2139695"/>
          <a:ext cx="6930252" cy="2070484"/>
        </p:xfrm>
        <a:graphic>
          <a:graphicData uri="http://schemas.openxmlformats.org/drawingml/2006/table">
            <a:tbl>
              <a:tblPr firstRow="1" bandRow="1"/>
              <a:tblGrid>
                <a:gridCol w="953613">
                  <a:extLst>
                    <a:ext uri="{9D8B030D-6E8A-4147-A177-3AD203B41FA5}">
                      <a16:colId xmlns:a16="http://schemas.microsoft.com/office/drawing/2014/main" val="370528977"/>
                    </a:ext>
                  </a:extLst>
                </a:gridCol>
                <a:gridCol w="1313199">
                  <a:extLst>
                    <a:ext uri="{9D8B030D-6E8A-4147-A177-3AD203B41FA5}">
                      <a16:colId xmlns:a16="http://schemas.microsoft.com/office/drawing/2014/main" val="4269664184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3808899497"/>
                    </a:ext>
                  </a:extLst>
                </a:gridCol>
              </a:tblGrid>
              <a:tr h="348685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항목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로컬 한계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GPU 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+mn-ea"/>
                        </a:rPr>
                        <a:t>센터 활용 방향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5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573933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데이터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WikiText-2 (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소규모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영어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)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대규모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한국어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/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도메인 데이터로 확장 학습 → 도메인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언어 일반화 검증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573933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환경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US" sz="1100" b="0" dirty="0">
                          <a:latin typeface="Malgun Gothic" panose="020B0503020000020004" pitchFamily="34" charset="-127"/>
                          <a:ea typeface="+mn-ea"/>
                        </a:rPr>
                        <a:t>Apple MPS · batch=4 </a:t>
                      </a:r>
                    </a:p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소규모 실험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서버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GPU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로 더 큰 모델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배치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·epoch 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확장 → 스케일업 후 결론 재확인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573933"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신뢰도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단일 실행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· </a:t>
                      </a:r>
                    </a:p>
                    <a:p>
                      <a:pPr algn="ctr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마진 약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1%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다중 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seed 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반복 측정으로 평균</a:t>
                      </a:r>
                      <a:r>
                        <a:rPr lang="en-US" altLang="ko-KR" sz="1100" b="0" dirty="0">
                          <a:latin typeface="Malgun Gothic" panose="020B0503020000020004" pitchFamily="34" charset="-127"/>
                          <a:ea typeface="+mn-ea"/>
                        </a:rPr>
                        <a:t>±</a:t>
                      </a:r>
                      <a:r>
                        <a:rPr lang="ko-KR" altLang="en-US" sz="1100" b="0" dirty="0">
                          <a:latin typeface="Malgun Gothic" panose="020B0503020000020004" pitchFamily="34" charset="-127"/>
                          <a:ea typeface="+mn-ea"/>
                        </a:rPr>
                        <a:t>편차 산출 → 통계적 유의성 확보</a:t>
                      </a:r>
                      <a:endParaRPr lang="en-US" sz="1100" b="0" dirty="0">
                        <a:latin typeface="Malgun Gothic" panose="020B0503020000020004" pitchFamily="34" charset="-127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</a:tbl>
          </a:graphicData>
        </a:graphic>
      </p:graphicFrame>
      <p:sp>
        <p:nvSpPr>
          <p:cNvPr id="66" name="Text 41">
            <a:extLst>
              <a:ext uri="{FF2B5EF4-FFF2-40B4-BE49-F238E27FC236}">
                <a16:creationId xmlns:a16="http://schemas.microsoft.com/office/drawing/2014/main" id="{985213CE-F516-6F39-8582-7193589D0C26}"/>
              </a:ext>
            </a:extLst>
          </p:cNvPr>
          <p:cNvSpPr/>
          <p:nvPr/>
        </p:nvSpPr>
        <p:spPr>
          <a:xfrm>
            <a:off x="384048" y="446227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향후 2단계 로드맵</a:t>
            </a:r>
            <a:endParaRPr lang="en-US" sz="1200" dirty="0">
              <a:solidFill>
                <a:prstClr val="black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DF5CEC00-93AB-AA7D-AC09-D27F19784259}"/>
              </a:ext>
            </a:extLst>
          </p:cNvPr>
          <p:cNvSpPr/>
          <p:nvPr/>
        </p:nvSpPr>
        <p:spPr>
          <a:xfrm>
            <a:off x="384048" y="4800600"/>
            <a:ext cx="1133856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42">
            <a:extLst>
              <a:ext uri="{FF2B5EF4-FFF2-40B4-BE49-F238E27FC236}">
                <a16:creationId xmlns:a16="http://schemas.microsoft.com/office/drawing/2014/main" id="{0E2B48BB-603D-BB27-174F-B05A7B86D2E0}"/>
              </a:ext>
            </a:extLst>
          </p:cNvPr>
          <p:cNvSpPr/>
          <p:nvPr/>
        </p:nvSpPr>
        <p:spPr>
          <a:xfrm>
            <a:off x="384048" y="4800600"/>
            <a:ext cx="1133856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43">
            <a:extLst>
              <a:ext uri="{FF2B5EF4-FFF2-40B4-BE49-F238E27FC236}">
                <a16:creationId xmlns:a16="http://schemas.microsoft.com/office/drawing/2014/main" id="{A9B3FA70-25E7-A584-9040-7A3BCDC2C07C}"/>
              </a:ext>
            </a:extLst>
          </p:cNvPr>
          <p:cNvSpPr/>
          <p:nvPr/>
        </p:nvSpPr>
        <p:spPr>
          <a:xfrm>
            <a:off x="566928" y="5221217"/>
            <a:ext cx="5074920" cy="108814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GPU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센터로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코드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이식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동일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조건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재현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다중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seed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반복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측정으로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KD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효과의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통계적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유의성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확보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더 큰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모델·데이터·epoch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확장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+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하이퍼파라미터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민감도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분석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4CD69F50-03B7-3158-EDFF-F9CC95F5746C}"/>
              </a:ext>
            </a:extLst>
          </p:cNvPr>
          <p:cNvSpPr/>
          <p:nvPr/>
        </p:nvSpPr>
        <p:spPr>
          <a:xfrm>
            <a:off x="566928" y="5029200"/>
            <a:ext cx="5074920" cy="301752"/>
          </a:xfrm>
          <a:prstGeom prst="rect">
            <a:avLst/>
          </a:prstGeom>
          <a:solidFill>
            <a:srgbClr val="1F5D69"/>
          </a:solidFill>
          <a:ln w="12700">
            <a:solidFill>
              <a:srgbClr val="1F5D6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Phase 1. GPU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센터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기반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재검증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4FE79305-18EC-83B9-BE5D-10EC7849C8DB}"/>
              </a:ext>
            </a:extLst>
          </p:cNvPr>
          <p:cNvSpPr/>
          <p:nvPr/>
        </p:nvSpPr>
        <p:spPr>
          <a:xfrm>
            <a:off x="566928" y="5102352"/>
            <a:ext cx="5074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73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FA1E00E1-F3D4-F350-075A-ABC5528C6BA9}"/>
              </a:ext>
            </a:extLst>
          </p:cNvPr>
          <p:cNvSpPr/>
          <p:nvPr/>
        </p:nvSpPr>
        <p:spPr>
          <a:xfrm>
            <a:off x="786384" y="5449824"/>
            <a:ext cx="464515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59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3" name="Shape 47">
            <a:extLst>
              <a:ext uri="{FF2B5EF4-FFF2-40B4-BE49-F238E27FC236}">
                <a16:creationId xmlns:a16="http://schemas.microsoft.com/office/drawing/2014/main" id="{E6386351-BDF6-23F0-5B0B-C2E2029EA431}"/>
              </a:ext>
            </a:extLst>
          </p:cNvPr>
          <p:cNvSpPr/>
          <p:nvPr/>
        </p:nvSpPr>
        <p:spPr>
          <a:xfrm>
            <a:off x="5884164" y="5681467"/>
            <a:ext cx="457200" cy="320040"/>
          </a:xfrm>
          <a:prstGeom prst="rightArrow">
            <a:avLst/>
          </a:prstGeom>
          <a:solidFill>
            <a:srgbClr val="0E73B9"/>
          </a:solidFill>
          <a:ln w="12700">
            <a:solidFill>
              <a:srgbClr val="0E73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48">
            <a:extLst>
              <a:ext uri="{FF2B5EF4-FFF2-40B4-BE49-F238E27FC236}">
                <a16:creationId xmlns:a16="http://schemas.microsoft.com/office/drawing/2014/main" id="{2F356D1C-B79C-C465-C519-8EF10F8D0525}"/>
              </a:ext>
            </a:extLst>
          </p:cNvPr>
          <p:cNvSpPr/>
          <p:nvPr/>
        </p:nvSpPr>
        <p:spPr>
          <a:xfrm>
            <a:off x="6583680" y="5221217"/>
            <a:ext cx="5074920" cy="1088144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0070C0"/>
            </a:solidFill>
            <a:prstDash val="solid"/>
          </a:ln>
          <a:effectLst>
            <a:outerShdw blurRad="12700" dist="50800" dir="2700000" algn="bl" rotWithShape="0">
              <a:srgbClr val="DCE8F5">
                <a:alpha val="22000"/>
              </a:srgbClr>
            </a:outerShdw>
          </a:effectLst>
        </p:spPr>
        <p:txBody>
          <a:bodyPr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Noto Sans CJK KR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한국어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Teacher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재선정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+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온디바이스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가능한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Student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선정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시나리오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데이터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선정·정제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응답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데이터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생성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→ Student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학습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프루닝·양자화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및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구동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가능성</a:t>
            </a:r>
            <a:r>
              <a:rPr lang="en-US" sz="1100" dirty="0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dirty="0" err="1">
                <a:solidFill>
                  <a:srgbClr val="111827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검토</a:t>
            </a:r>
            <a:endParaRPr lang="en-US" sz="1100" dirty="0">
              <a:solidFill>
                <a:srgbClr val="111827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Calibri"/>
            </a:endParaRPr>
          </a:p>
        </p:txBody>
      </p:sp>
      <p:sp>
        <p:nvSpPr>
          <p:cNvPr id="75" name="Shape 49">
            <a:extLst>
              <a:ext uri="{FF2B5EF4-FFF2-40B4-BE49-F238E27FC236}">
                <a16:creationId xmlns:a16="http://schemas.microsoft.com/office/drawing/2014/main" id="{2B89BC63-EDE5-B869-288C-E697781728C3}"/>
              </a:ext>
            </a:extLst>
          </p:cNvPr>
          <p:cNvSpPr/>
          <p:nvPr/>
        </p:nvSpPr>
        <p:spPr>
          <a:xfrm>
            <a:off x="6583680" y="5029200"/>
            <a:ext cx="5074920" cy="301752"/>
          </a:xfrm>
          <a:prstGeom prst="rect">
            <a:avLst/>
          </a:prstGeom>
          <a:solidFill>
            <a:srgbClr val="1F5D69"/>
          </a:solidFill>
          <a:ln w="12700">
            <a:solidFill>
              <a:srgbClr val="1F5D6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Phase 2.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실버케어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r>
              <a:rPr lang="en-US" sz="10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전환</a:t>
            </a:r>
            <a:endParaRPr lang="en-US" sz="105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6" name="Text 50">
            <a:extLst>
              <a:ext uri="{FF2B5EF4-FFF2-40B4-BE49-F238E27FC236}">
                <a16:creationId xmlns:a16="http://schemas.microsoft.com/office/drawing/2014/main" id="{793EF397-EADA-924B-56A4-D9B6E7BF2C0A}"/>
              </a:ext>
            </a:extLst>
          </p:cNvPr>
          <p:cNvSpPr/>
          <p:nvPr/>
        </p:nvSpPr>
        <p:spPr>
          <a:xfrm>
            <a:off x="6583680" y="5102352"/>
            <a:ext cx="5074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73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7" name="Text 51">
            <a:extLst>
              <a:ext uri="{FF2B5EF4-FFF2-40B4-BE49-F238E27FC236}">
                <a16:creationId xmlns:a16="http://schemas.microsoft.com/office/drawing/2014/main" id="{F3FF08E9-CAF4-55BB-C218-DB0DD0C48721}"/>
              </a:ext>
            </a:extLst>
          </p:cNvPr>
          <p:cNvSpPr/>
          <p:nvPr/>
        </p:nvSpPr>
        <p:spPr>
          <a:xfrm>
            <a:off x="6803136" y="5449824"/>
            <a:ext cx="464515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59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8" name="Text 52">
            <a:extLst>
              <a:ext uri="{FF2B5EF4-FFF2-40B4-BE49-F238E27FC236}">
                <a16:creationId xmlns:a16="http://schemas.microsoft.com/office/drawing/2014/main" id="{87EC78C2-F04D-7931-F29C-090C59189664}"/>
              </a:ext>
            </a:extLst>
          </p:cNvPr>
          <p:cNvSpPr/>
          <p:nvPr/>
        </p:nvSpPr>
        <p:spPr>
          <a:xfrm>
            <a:off x="6803136" y="6044184"/>
            <a:ext cx="46451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57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286F2B-33D3-38F3-1BE3-AC2840695327}"/>
              </a:ext>
            </a:extLst>
          </p:cNvPr>
          <p:cNvSpPr txBox="1"/>
          <p:nvPr/>
        </p:nvSpPr>
        <p:spPr>
          <a:xfrm>
            <a:off x="6583680" y="6318505"/>
            <a:ext cx="417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실버케어는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검증된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경량화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모델의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대표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적용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시나리오로</a:t>
            </a:r>
            <a:r>
              <a:rPr lang="en-US" sz="1100" b="1" dirty="0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 </a:t>
            </a:r>
            <a:r>
              <a:rPr lang="en-US" sz="1100" b="1" dirty="0" err="1">
                <a:solidFill>
                  <a:srgbClr val="0E73B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CJK KR" pitchFamily="34" charset="-120"/>
              </a:rPr>
              <a:t>활용</a:t>
            </a:r>
            <a:endParaRPr lang="en-US" sz="1100" dirty="0">
              <a:solidFill>
                <a:srgbClr val="000000"/>
              </a:solidFill>
              <a:latin typeface="Malgun Gothic" panose="020B0503020000020004" pitchFamily="34" charset="-127"/>
              <a:ea typeface="Calibri"/>
              <a:cs typeface="Calibri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561D22-311D-D92F-566B-43615AC8618D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en-US"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142378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06E26-15A1-58ED-5048-DF64864F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C71BC4-E960-FF05-8514-5770371C9C5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3FA6B-C302-44F3-C23F-873B6EAFE603}"/>
              </a:ext>
            </a:extLst>
          </p:cNvPr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6CC92-B988-489E-2D5C-2BCD9A47C7A4}"/>
              </a:ext>
            </a:extLst>
          </p:cNvPr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실버케어 적용 예시 시나리오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BFF1D-067A-672F-C5B4-CBDFA49A8760}"/>
              </a:ext>
            </a:extLst>
          </p:cNvPr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경량화된 모델이 있어야 가능한 4가지 일상 장면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62A35-6558-DA5C-6DCB-64D088984BFD}"/>
              </a:ext>
            </a:extLst>
          </p:cNvPr>
          <p:cNvSpPr txBox="1"/>
          <p:nvPr/>
        </p:nvSpPr>
        <p:spPr>
          <a:xfrm>
            <a:off x="8229600" y="548640"/>
            <a:ext cx="3749039" cy="5669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B4C9C4-65AD-03BF-BD89-FB041269AFD3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16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2410494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46888"/>
            <a:ext cx="2148840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21488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6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적용 예시 시나리오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731520"/>
            <a:ext cx="113385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경량화된 모델은 </a:t>
            </a:r>
            <a:r>
              <a:rPr lang="en-US" sz="2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어디에서 어떻게 필요한가?</a:t>
            </a:r>
            <a:r>
              <a:rPr lang="en-US" sz="240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실버케어 적용 장면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25296"/>
            <a:ext cx="11247120" cy="0"/>
          </a:xfrm>
          <a:prstGeom prst="line">
            <a:avLst/>
          </a:prstGeom>
          <a:noFill/>
          <a:ln w="15240">
            <a:solidFill>
              <a:srgbClr val="202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실버케어는 프로젝트의 출발점이 아니라, KD 기반 경량화 모델이 실제로 필요한 대표 적용 시나리오다.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84048" y="1719072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892808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FE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1855695"/>
            <a:ext cx="99212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통신이 없어도, 개인정보를 기기 밖으로 내보내지 않아도 — 보급형 기기에서 그 자리에서 바로 답한다.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84048" y="2487168"/>
            <a:ext cx="2148840" cy="2633472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2064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65176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페르소나: 김말순(78)</a:t>
            </a:r>
            <a:endParaRPr lang="en-US" sz="1350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FE4620D-0938-21F5-AA8D-37166CBE59B7}"/>
              </a:ext>
            </a:extLst>
          </p:cNvPr>
          <p:cNvGrpSpPr/>
          <p:nvPr/>
        </p:nvGrpSpPr>
        <p:grpSpPr>
          <a:xfrm>
            <a:off x="548640" y="3026664"/>
            <a:ext cx="1837944" cy="1892808"/>
            <a:chOff x="548640" y="3026664"/>
            <a:chExt cx="1837944" cy="1179576"/>
          </a:xfrm>
        </p:grpSpPr>
        <p:sp>
          <p:nvSpPr>
            <p:cNvPr id="15" name="Text 13"/>
            <p:cNvSpPr/>
            <p:nvPr/>
          </p:nvSpPr>
          <p:spPr>
            <a:xfrm>
              <a:off x="548640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13232" y="3026664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경북 의성 농촌, Wi‑Fi 없음·LTE 약함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48640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13232" y="3337560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고혈압·당뇨, 4종 이상 복약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13232" y="3648456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4GB RAM 수준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보급형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스마트폰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가정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48640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13232" y="3959352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카톡은 가능하나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복잡한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앱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사용은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어려움</a:t>
              </a:r>
              <a:endParaRPr lang="en-US" sz="12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265176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063240" y="24871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7FB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19125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66160" y="2651760"/>
            <a:ext cx="184708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S1. 오프라인 의료 정보 상담</a:t>
            </a:r>
            <a:endParaRPr lang="en-US" sz="1350" dirty="0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D1CA4D3-CABE-6030-D386-5845061447A0}"/>
              </a:ext>
            </a:extLst>
          </p:cNvPr>
          <p:cNvGrpSpPr/>
          <p:nvPr/>
        </p:nvGrpSpPr>
        <p:grpSpPr>
          <a:xfrm>
            <a:off x="3227832" y="3026664"/>
            <a:ext cx="2176272" cy="1853680"/>
            <a:chOff x="3227832" y="3026664"/>
            <a:chExt cx="2176272" cy="1179576"/>
          </a:xfrm>
        </p:grpSpPr>
        <p:sp>
          <p:nvSpPr>
            <p:cNvPr id="27" name="Text 25"/>
            <p:cNvSpPr/>
            <p:nvPr/>
          </p:nvSpPr>
          <p:spPr>
            <a:xfrm>
              <a:off x="322783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392424" y="3026664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“혈압약 먹고 머리가 무거운데…”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22783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392424" y="3337560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기기 내부 의료 도메인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모델이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즉시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응답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22783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392424" y="3648456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진단·처방이 아닌 정보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제공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+ 전문가 상담 권고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22783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392424" y="3959352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건강 데이터는 외부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서버로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전송하지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않음</a:t>
              </a:r>
              <a:endParaRPr lang="en-US" sz="120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566928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080760" y="24871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7FB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20877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83680" y="2651760"/>
            <a:ext cx="184708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S2·S3. 복약 관리 / 말동무</a:t>
            </a:r>
            <a:endParaRPr lang="en-US" sz="1350" dirty="0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007DDFE-CDDE-2D42-B856-F546E2538829}"/>
              </a:ext>
            </a:extLst>
          </p:cNvPr>
          <p:cNvGrpSpPr/>
          <p:nvPr/>
        </p:nvGrpSpPr>
        <p:grpSpPr>
          <a:xfrm>
            <a:off x="6245352" y="3026664"/>
            <a:ext cx="2176272" cy="1853680"/>
            <a:chOff x="6245352" y="3026664"/>
            <a:chExt cx="2176272" cy="1179576"/>
          </a:xfrm>
        </p:grpSpPr>
        <p:sp>
          <p:nvSpPr>
            <p:cNvPr id="39" name="Text 37"/>
            <p:cNvSpPr/>
            <p:nvPr/>
          </p:nvSpPr>
          <p:spPr>
            <a:xfrm>
              <a:off x="624535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409944" y="3026664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로컬 라이프 로그로 복약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기록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24535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409944" y="3337560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중복 복용 방지·복약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누락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리마인드</a:t>
              </a:r>
              <a:endParaRPr lang="en-US" sz="12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24535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409944" y="3648456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일상 대화 이력 기반 연속성 있는 말동무</a:t>
              </a:r>
              <a:endParaRPr lang="en-US" sz="12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24535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409944" y="3959352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비용 부담 없이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보조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가능</a:t>
              </a:r>
              <a:endParaRPr lang="en-US" sz="1200" dirty="0"/>
            </a:p>
          </p:txBody>
        </p:sp>
      </p:grpSp>
      <p:sp>
        <p:nvSpPr>
          <p:cNvPr id="47" name="Shape 45"/>
          <p:cNvSpPr/>
          <p:nvPr/>
        </p:nvSpPr>
        <p:spPr>
          <a:xfrm>
            <a:off x="868680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098280" y="2487168"/>
            <a:ext cx="2532888" cy="2633472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22629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601200" y="2651760"/>
            <a:ext cx="18928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S4. 클라우드 대비 프라이버시</a:t>
            </a:r>
            <a:endParaRPr lang="en-US" sz="1350" dirty="0"/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13A912E-3B7B-247D-CCF6-AF8C1069CBAF}"/>
              </a:ext>
            </a:extLst>
          </p:cNvPr>
          <p:cNvGrpSpPr/>
          <p:nvPr/>
        </p:nvGrpSpPr>
        <p:grpSpPr>
          <a:xfrm>
            <a:off x="9262872" y="3026664"/>
            <a:ext cx="2221992" cy="1853680"/>
            <a:chOff x="9262872" y="3026664"/>
            <a:chExt cx="2221992" cy="1179576"/>
          </a:xfrm>
        </p:grpSpPr>
        <p:sp>
          <p:nvSpPr>
            <p:cNvPr id="51" name="Text 49"/>
            <p:cNvSpPr/>
            <p:nvPr/>
          </p:nvSpPr>
          <p:spPr>
            <a:xfrm>
              <a:off x="926287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9427464" y="3026664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클라우드: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발화·건강정보가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서버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처리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대상</a:t>
              </a:r>
              <a:endParaRPr lang="en-US" sz="12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926287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9427464" y="3337560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우리 방식: 발화 → 기기 내부 처리 → 응답</a:t>
              </a:r>
              <a:endParaRPr lang="en-US" sz="12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926287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9427464" y="3648456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외부 통신 0건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검증으로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온디바이스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가치 확인</a:t>
              </a:r>
              <a:endParaRPr lang="en-US" sz="1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926287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9427464" y="3959352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가족·사용자의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민감정보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노출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우려 완화</a:t>
              </a:r>
              <a:endParaRPr lang="en-US" sz="1200" dirty="0"/>
            </a:p>
          </p:txBody>
        </p:sp>
      </p:grpSp>
      <p:sp>
        <p:nvSpPr>
          <p:cNvPr id="59" name="Shape 57"/>
          <p:cNvSpPr/>
          <p:nvPr/>
        </p:nvSpPr>
        <p:spPr>
          <a:xfrm>
            <a:off x="384048" y="5413248"/>
            <a:ext cx="11247120" cy="804672"/>
          </a:xfrm>
          <a:prstGeom prst="roundRect">
            <a:avLst>
              <a:gd name="adj" fmla="val 5682"/>
            </a:avLst>
          </a:prstGeom>
          <a:solidFill>
            <a:srgbClr val="EEF5FF"/>
          </a:solidFill>
          <a:ln w="1270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76072" y="5504689"/>
            <a:ext cx="91440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연결점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600200" y="5504688"/>
            <a:ext cx="150876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673352" y="5577840"/>
            <a:ext cx="136245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664208" y="5879592"/>
            <a:ext cx="138074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없이 동작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55264" y="5504688"/>
            <a:ext cx="196596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3328416" y="5577840"/>
            <a:ext cx="181965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프라이버시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3319272" y="5879592"/>
            <a:ext cx="183794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건강·대화 데이터 미전송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67528" y="5504688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5440680" y="5577840"/>
            <a:ext cx="172821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도메인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431536" y="5879592"/>
            <a:ext cx="17465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LLM 대비 질의 대응성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388352" y="5504688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461504" y="5577840"/>
            <a:ext cx="172821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KD+Pruning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452360" y="5879592"/>
            <a:ext cx="17465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보급형 기기 탑재 가능성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409176" y="5504688"/>
            <a:ext cx="16002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9482328" y="5577840"/>
            <a:ext cx="145389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라이프 로그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473184" y="5879592"/>
            <a:ext cx="14721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기록 기반 개인화</a:t>
            </a:r>
            <a:endParaRPr lang="en-US" sz="11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35829A7-B99F-F473-6593-A960EF09AB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6D26200-5FCF-DA6B-B29A-8159599F0D23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6D8D4B-942D-3A29-A443-31F133C467A3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17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1044819"/>
            <a:ext cx="3749039" cy="467692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  <a:endParaRPr sz="30000" b="1" dirty="0">
              <a:solidFill>
                <a:srgbClr val="26335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평가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27302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기술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보존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의료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안전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lang="ko-KR" altLang="en-US" sz="155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사용자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실효</a:t>
            </a:r>
            <a:r>
              <a:rPr lang="ko-KR" altLang="en-US"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성</a:t>
            </a:r>
            <a:r>
              <a:rPr lang="ko-KR" altLang="en-US" sz="155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기준 평가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224A1D-CE92-7C6F-F7A8-7ED74E237AA5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18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7A27C62A-076A-4552-A92A-A841AF16D3C4}"/>
              </a:ext>
            </a:extLst>
          </p:cNvPr>
          <p:cNvSpPr>
            <a:spLocks noGrp="1"/>
          </p:cNvSpPr>
          <p:nvPr/>
        </p:nvSpPr>
        <p:spPr>
          <a:xfrm>
            <a:off x="0" y="311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Rounded Rectangle 24">
            <a:extLst>
              <a:ext uri="{FF2B5EF4-FFF2-40B4-BE49-F238E27FC236}">
                <a16:creationId xmlns:a16="http://schemas.microsoft.com/office/drawing/2014/main" id="{E8D55A9B-711A-283C-D704-2EBA682BE429}"/>
              </a:ext>
            </a:extLst>
          </p:cNvPr>
          <p:cNvSpPr/>
          <p:nvPr/>
        </p:nvSpPr>
        <p:spPr>
          <a:xfrm>
            <a:off x="480577" y="3041862"/>
            <a:ext cx="4664593" cy="35063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9BF083-A46A-40A2-9CFD-D5187C5D5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07C084-2130-4A93-87CA-77A995C4CE2E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56A882-C323-4DB7-8F72-8836EC00FCE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CCB82F3-A57E-B92F-7DBD-F08CE855050E}"/>
              </a:ext>
            </a:extLst>
          </p:cNvPr>
          <p:cNvGrpSpPr/>
          <p:nvPr/>
        </p:nvGrpSpPr>
        <p:grpSpPr>
          <a:xfrm>
            <a:off x="454792" y="1875278"/>
            <a:ext cx="2670048" cy="896112"/>
            <a:chOff x="502920" y="1627632"/>
            <a:chExt cx="2670048" cy="896112"/>
          </a:xfrm>
        </p:grpSpPr>
        <p:sp>
          <p:nvSpPr>
            <p:cNvPr id="44" name="Rounded Rectangle 3">
              <a:extLst>
                <a:ext uri="{FF2B5EF4-FFF2-40B4-BE49-F238E27FC236}">
                  <a16:creationId xmlns:a16="http://schemas.microsoft.com/office/drawing/2014/main" id="{DDC0645E-CB2F-7D43-2C29-9E728BA2A958}"/>
                </a:ext>
              </a:extLst>
            </p:cNvPr>
            <p:cNvSpPr/>
            <p:nvPr/>
          </p:nvSpPr>
          <p:spPr>
            <a:xfrm>
              <a:off x="50292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5" name="Oval 4">
              <a:extLst>
                <a:ext uri="{FF2B5EF4-FFF2-40B4-BE49-F238E27FC236}">
                  <a16:creationId xmlns:a16="http://schemas.microsoft.com/office/drawing/2014/main" id="{A1E2AA45-7A4B-299D-6541-DE163E24B733}"/>
                </a:ext>
              </a:extLst>
            </p:cNvPr>
            <p:cNvSpPr/>
            <p:nvPr/>
          </p:nvSpPr>
          <p:spPr>
            <a:xfrm>
              <a:off x="649224" y="1847088"/>
              <a:ext cx="457200" cy="457200"/>
            </a:xfrm>
            <a:prstGeom prst="ellipse">
              <a:avLst/>
            </a:prstGeom>
            <a:noFill/>
            <a:ln w="33020">
              <a:solidFill>
                <a:srgbClr val="1721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4ADF98F4-02A8-7A52-F950-05045C2F4A16}"/>
                </a:ext>
              </a:extLst>
            </p:cNvPr>
            <p:cNvSpPr/>
            <p:nvPr/>
          </p:nvSpPr>
          <p:spPr>
            <a:xfrm>
              <a:off x="786384" y="1984248"/>
              <a:ext cx="182880" cy="182880"/>
            </a:xfrm>
            <a:prstGeom prst="ellipse">
              <a:avLst/>
            </a:prstGeom>
            <a:solidFill>
              <a:srgbClr val="172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BE8432-81B2-94D4-9DDC-1CBB499B2E11}"/>
                </a:ext>
              </a:extLst>
            </p:cNvPr>
            <p:cNvSpPr txBox="1"/>
            <p:nvPr/>
          </p:nvSpPr>
          <p:spPr>
            <a:xfrm>
              <a:off x="1216152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기술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보존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49DFCEE-8112-2BC4-89F1-DD5A6927C8E5}"/>
                </a:ext>
              </a:extLst>
            </p:cNvPr>
            <p:cNvSpPr txBox="1"/>
            <p:nvPr/>
          </p:nvSpPr>
          <p:spPr>
            <a:xfrm>
              <a:off x="1216152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작아져도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Teacher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판단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유지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1E8D37D-0765-6680-76A2-A1DE792D84E1}"/>
              </a:ext>
            </a:extLst>
          </p:cNvPr>
          <p:cNvGrpSpPr/>
          <p:nvPr/>
        </p:nvGrpSpPr>
        <p:grpSpPr>
          <a:xfrm>
            <a:off x="3321195" y="1875278"/>
            <a:ext cx="2670048" cy="896112"/>
            <a:chOff x="3310128" y="1627632"/>
            <a:chExt cx="2670048" cy="896112"/>
          </a:xfrm>
        </p:grpSpPr>
        <p:sp>
          <p:nvSpPr>
            <p:cNvPr id="50" name="Rounded Rectangle 13">
              <a:extLst>
                <a:ext uri="{FF2B5EF4-FFF2-40B4-BE49-F238E27FC236}">
                  <a16:creationId xmlns:a16="http://schemas.microsoft.com/office/drawing/2014/main" id="{14E70B33-017A-0A07-55E2-3D0547625469}"/>
                </a:ext>
              </a:extLst>
            </p:cNvPr>
            <p:cNvSpPr/>
            <p:nvPr/>
          </p:nvSpPr>
          <p:spPr>
            <a:xfrm>
              <a:off x="3310128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1" name="Rounded Rectangle 14">
              <a:extLst>
                <a:ext uri="{FF2B5EF4-FFF2-40B4-BE49-F238E27FC236}">
                  <a16:creationId xmlns:a16="http://schemas.microsoft.com/office/drawing/2014/main" id="{4EDAA127-F49C-ECC7-72D6-200B0506A533}"/>
                </a:ext>
              </a:extLst>
            </p:cNvPr>
            <p:cNvSpPr/>
            <p:nvPr/>
          </p:nvSpPr>
          <p:spPr>
            <a:xfrm>
              <a:off x="3575304" y="1847088"/>
              <a:ext cx="219456" cy="457200"/>
            </a:xfrm>
            <a:prstGeom prst="roundRect">
              <a:avLst/>
            </a:prstGeom>
            <a:noFill/>
            <a:ln w="3302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2" name="Oval 15">
              <a:extLst>
                <a:ext uri="{FF2B5EF4-FFF2-40B4-BE49-F238E27FC236}">
                  <a16:creationId xmlns:a16="http://schemas.microsoft.com/office/drawing/2014/main" id="{890A7A94-BA5B-DC9F-E44F-C379D80E6BA8}"/>
                </a:ext>
              </a:extLst>
            </p:cNvPr>
            <p:cNvSpPr/>
            <p:nvPr/>
          </p:nvSpPr>
          <p:spPr>
            <a:xfrm>
              <a:off x="3666744" y="2221992"/>
              <a:ext cx="36576" cy="36576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7A148A-BB13-7A17-7A92-3EEE815FEAAE}"/>
                </a:ext>
              </a:extLst>
            </p:cNvPr>
            <p:cNvSpPr txBox="1"/>
            <p:nvPr/>
          </p:nvSpPr>
          <p:spPr>
            <a:xfrm>
              <a:off x="4023360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온디바이스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A752A1-690E-CED7-7C1F-D25A9853B654}"/>
                </a:ext>
              </a:extLst>
            </p:cNvPr>
            <p:cNvSpPr txBox="1"/>
            <p:nvPr/>
          </p:nvSpPr>
          <p:spPr>
            <a:xfrm>
              <a:off x="4023360" y="2084832"/>
              <a:ext cx="1847088" cy="36965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외부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전송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없이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1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디바이스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에서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작동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D1056F3-037D-DA0E-8DED-E60F7972B28F}"/>
              </a:ext>
            </a:extLst>
          </p:cNvPr>
          <p:cNvGrpSpPr/>
          <p:nvPr/>
        </p:nvGrpSpPr>
        <p:grpSpPr>
          <a:xfrm>
            <a:off x="9054002" y="1875278"/>
            <a:ext cx="2670048" cy="896112"/>
            <a:chOff x="8869680" y="1627632"/>
            <a:chExt cx="2670048" cy="896112"/>
          </a:xfrm>
        </p:grpSpPr>
        <p:sp>
          <p:nvSpPr>
            <p:cNvPr id="56" name="Rounded Rectangle 19">
              <a:extLst>
                <a:ext uri="{FF2B5EF4-FFF2-40B4-BE49-F238E27FC236}">
                  <a16:creationId xmlns:a16="http://schemas.microsoft.com/office/drawing/2014/main" id="{77A8DA2D-E171-DF43-73BE-18253491E330}"/>
                </a:ext>
              </a:extLst>
            </p:cNvPr>
            <p:cNvSpPr/>
            <p:nvPr/>
          </p:nvSpPr>
          <p:spPr>
            <a:xfrm>
              <a:off x="886968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7" name="Oval 20">
              <a:extLst>
                <a:ext uri="{FF2B5EF4-FFF2-40B4-BE49-F238E27FC236}">
                  <a16:creationId xmlns:a16="http://schemas.microsoft.com/office/drawing/2014/main" id="{4B4C0DFE-F2FA-DA33-A916-CD05A7F0ACF1}"/>
                </a:ext>
              </a:extLst>
            </p:cNvPr>
            <p:cNvSpPr/>
            <p:nvPr/>
          </p:nvSpPr>
          <p:spPr>
            <a:xfrm>
              <a:off x="9162288" y="1847088"/>
              <a:ext cx="164592" cy="164592"/>
            </a:xfrm>
            <a:prstGeom prst="ellipse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8" name="Round Same Side Corner Rectangle 21">
              <a:extLst>
                <a:ext uri="{FF2B5EF4-FFF2-40B4-BE49-F238E27FC236}">
                  <a16:creationId xmlns:a16="http://schemas.microsoft.com/office/drawing/2014/main" id="{62E41380-26A5-EC6E-2658-CCAB3F893320}"/>
                </a:ext>
              </a:extLst>
            </p:cNvPr>
            <p:cNvSpPr/>
            <p:nvPr/>
          </p:nvSpPr>
          <p:spPr>
            <a:xfrm>
              <a:off x="9079992" y="2039112"/>
              <a:ext cx="329184" cy="256032"/>
            </a:xfrm>
            <a:prstGeom prst="round2SameRect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A7F4A67-A9ED-672C-B322-6152BBCF564F}"/>
                </a:ext>
              </a:extLst>
            </p:cNvPr>
            <p:cNvSpPr txBox="1"/>
            <p:nvPr/>
          </p:nvSpPr>
          <p:spPr>
            <a:xfrm>
              <a:off x="9582911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실효</a:t>
              </a:r>
              <a:r>
                <a:rPr lang="ko-KR" altLang="en-US"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성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0593FC8-ABB5-FC86-AEFC-358DBC6559F8}"/>
                </a:ext>
              </a:extLst>
            </p:cNvPr>
            <p:cNvSpPr txBox="1"/>
            <p:nvPr/>
          </p:nvSpPr>
          <p:spPr>
            <a:xfrm>
              <a:off x="9582910" y="2084832"/>
              <a:ext cx="1956817" cy="193579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1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인지와 동시에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행동할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수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있음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aphicFrame>
        <p:nvGraphicFramePr>
          <p:cNvPr id="61" name="Table 3">
            <a:extLst>
              <a:ext uri="{FF2B5EF4-FFF2-40B4-BE49-F238E27FC236}">
                <a16:creationId xmlns:a16="http://schemas.microsoft.com/office/drawing/2014/main" id="{43AFB3DC-4D5C-CF1B-4B2B-1B32F362C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31067"/>
              </p:ext>
            </p:extLst>
          </p:nvPr>
        </p:nvGraphicFramePr>
        <p:xfrm>
          <a:off x="506794" y="3501192"/>
          <a:ext cx="4601116" cy="2966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의미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CE Loss · PPL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언어모델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품질·학습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KD &lt; FT-only &lt; Base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크기</a:t>
                      </a:r>
                      <a:endParaRPr sz="11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보급</a:t>
                      </a:r>
                      <a:r>
                        <a:rPr lang="ko-KR" altLang="en-US"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형 핸드폰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탑재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2GB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이하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dirty="0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추론</a:t>
                      </a:r>
                      <a:r>
                        <a:rPr sz="1100" b="1" dirty="0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속도</a:t>
                      </a:r>
                      <a:endParaRPr sz="1100" b="1" dirty="0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15초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이내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경량화 손실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lang="ko-KR" altLang="en-US"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경량화 후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저하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여부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5~10%p↓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결론 일치율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Teacher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보존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문항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≥85%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정보 보존율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누락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방지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≥90%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외부 통신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온디바이스·오프라인</a:t>
                      </a: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작동</a:t>
                      </a:r>
                      <a:endParaRPr sz="900" b="0" dirty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dirty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0건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2" name="그룹 61">
            <a:extLst>
              <a:ext uri="{FF2B5EF4-FFF2-40B4-BE49-F238E27FC236}">
                <a16:creationId xmlns:a16="http://schemas.microsoft.com/office/drawing/2014/main" id="{ABFBA1C3-4706-05E5-25E6-BDDF4604535E}"/>
              </a:ext>
            </a:extLst>
          </p:cNvPr>
          <p:cNvGrpSpPr/>
          <p:nvPr/>
        </p:nvGrpSpPr>
        <p:grpSpPr>
          <a:xfrm>
            <a:off x="6187598" y="1875278"/>
            <a:ext cx="2670048" cy="896112"/>
            <a:chOff x="3291840" y="1627632"/>
            <a:chExt cx="2670048" cy="896112"/>
          </a:xfrm>
        </p:grpSpPr>
        <p:sp>
          <p:nvSpPr>
            <p:cNvPr id="63" name="Rounded Rectangle 8">
              <a:extLst>
                <a:ext uri="{FF2B5EF4-FFF2-40B4-BE49-F238E27FC236}">
                  <a16:creationId xmlns:a16="http://schemas.microsoft.com/office/drawing/2014/main" id="{28BF643B-5878-194F-1005-17A167AFE89C}"/>
                </a:ext>
              </a:extLst>
            </p:cNvPr>
            <p:cNvSpPr/>
            <p:nvPr/>
          </p:nvSpPr>
          <p:spPr>
            <a:xfrm>
              <a:off x="329184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64" name="Cross 9">
              <a:extLst>
                <a:ext uri="{FF2B5EF4-FFF2-40B4-BE49-F238E27FC236}">
                  <a16:creationId xmlns:a16="http://schemas.microsoft.com/office/drawing/2014/main" id="{FC6ED741-C033-4A27-E442-19C7380BA1F5}"/>
                </a:ext>
              </a:extLst>
            </p:cNvPr>
            <p:cNvSpPr/>
            <p:nvPr/>
          </p:nvSpPr>
          <p:spPr>
            <a:xfrm>
              <a:off x="3474720" y="1883664"/>
              <a:ext cx="384048" cy="384048"/>
            </a:xfrm>
            <a:prstGeom prst="plus">
              <a:avLst>
                <a:gd name="adj" fmla="val 32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A79BFF6-D1EC-5116-679D-D2CAA60BAAC9}"/>
                </a:ext>
              </a:extLst>
            </p:cNvPr>
            <p:cNvSpPr txBox="1"/>
            <p:nvPr/>
          </p:nvSpPr>
          <p:spPr>
            <a:xfrm>
              <a:off x="4005072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6E7AF4-AF49-9001-BE07-C67F722765FC}"/>
                </a:ext>
              </a:extLst>
            </p:cNvPr>
            <p:cNvSpPr txBox="1"/>
            <p:nvPr/>
          </p:nvSpPr>
          <p:spPr>
            <a:xfrm>
              <a:off x="4005072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답변</a:t>
              </a:r>
              <a:r>
                <a:rPr lang="en-US" sz="11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1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차단 최우선</a:t>
              </a:r>
              <a:endParaRPr sz="11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AD8776C-FEC2-57B1-C6F4-958A650406D6}"/>
              </a:ext>
            </a:extLst>
          </p:cNvPr>
          <p:cNvGrpSpPr/>
          <p:nvPr/>
        </p:nvGrpSpPr>
        <p:grpSpPr>
          <a:xfrm>
            <a:off x="5246538" y="3041862"/>
            <a:ext cx="3209349" cy="3506300"/>
            <a:chOff x="5246538" y="3041862"/>
            <a:chExt cx="3209349" cy="3506300"/>
          </a:xfrm>
        </p:grpSpPr>
        <p:sp>
          <p:nvSpPr>
            <p:cNvPr id="68" name="Rounded Rectangle 24">
              <a:extLst>
                <a:ext uri="{FF2B5EF4-FFF2-40B4-BE49-F238E27FC236}">
                  <a16:creationId xmlns:a16="http://schemas.microsoft.com/office/drawing/2014/main" id="{940E0FFC-EA2F-8802-1988-7A9EE08F2736}"/>
                </a:ext>
              </a:extLst>
            </p:cNvPr>
            <p:cNvSpPr/>
            <p:nvPr/>
          </p:nvSpPr>
          <p:spPr>
            <a:xfrm>
              <a:off x="5246538" y="3041862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E9FA4446-BF3B-EB45-62BB-ECA76666AE73}"/>
                </a:ext>
              </a:extLst>
            </p:cNvPr>
            <p:cNvSpPr/>
            <p:nvPr/>
          </p:nvSpPr>
          <p:spPr>
            <a:xfrm>
              <a:off x="5246538" y="3041862"/>
              <a:ext cx="44575" cy="35063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D96E5CC-C07C-4321-EFDE-4F8B51981497}"/>
                </a:ext>
              </a:extLst>
            </p:cNvPr>
            <p:cNvSpPr txBox="1"/>
            <p:nvPr/>
          </p:nvSpPr>
          <p:spPr>
            <a:xfrm>
              <a:off x="5353517" y="3204692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lang="en-US"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위험을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놓치는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답이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Worst</a:t>
              </a:r>
              <a:endParaRPr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2" name="Rounded Rectangle 28">
              <a:extLst>
                <a:ext uri="{FF2B5EF4-FFF2-40B4-BE49-F238E27FC236}">
                  <a16:creationId xmlns:a16="http://schemas.microsoft.com/office/drawing/2014/main" id="{7A74E68E-D52C-4096-7EFD-F244A7611EE6}"/>
                </a:ext>
              </a:extLst>
            </p:cNvPr>
            <p:cNvSpPr/>
            <p:nvPr/>
          </p:nvSpPr>
          <p:spPr>
            <a:xfrm>
              <a:off x="5353517" y="403428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5971B65-8609-FDCB-3388-46AD06E967EA}"/>
                </a:ext>
              </a:extLst>
            </p:cNvPr>
            <p:cNvSpPr txBox="1"/>
            <p:nvPr/>
          </p:nvSpPr>
          <p:spPr>
            <a:xfrm>
              <a:off x="5428401" y="4087084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응급 놓침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D56964B-970E-8D34-E1C2-A101D390D69A}"/>
                </a:ext>
              </a:extLst>
            </p:cNvPr>
            <p:cNvSpPr txBox="1"/>
            <p:nvPr/>
          </p:nvSpPr>
          <p:spPr>
            <a:xfrm>
              <a:off x="5428401" y="4339081"/>
              <a:ext cx="2301888" cy="30264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병원</a:t>
              </a: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방문이 필요하지만</a:t>
              </a:r>
              <a:r>
                <a:rPr lang="en-US" altLang="ko-KR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,</a:t>
              </a:r>
              <a:r>
                <a:rPr sz="900" b="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집에서</a:t>
              </a: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의 </a:t>
              </a: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관리</a:t>
              </a:r>
              <a:r>
                <a:rPr lang="ko-KR" altLang="en-US" sz="90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를</a:t>
              </a: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제시</a:t>
              </a:r>
              <a:r>
                <a:rPr sz="900" b="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했는지</a:t>
              </a:r>
              <a:endParaRPr sz="9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5" name="Rounded Rectangle 31">
              <a:extLst>
                <a:ext uri="{FF2B5EF4-FFF2-40B4-BE49-F238E27FC236}">
                  <a16:creationId xmlns:a16="http://schemas.microsoft.com/office/drawing/2014/main" id="{B3612C19-F9BF-F213-D9C1-901417F460E9}"/>
                </a:ext>
              </a:extLst>
            </p:cNvPr>
            <p:cNvSpPr/>
            <p:nvPr/>
          </p:nvSpPr>
          <p:spPr>
            <a:xfrm>
              <a:off x="7713279" y="411876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76" name="Rounded Rectangle 32">
              <a:extLst>
                <a:ext uri="{FF2B5EF4-FFF2-40B4-BE49-F238E27FC236}">
                  <a16:creationId xmlns:a16="http://schemas.microsoft.com/office/drawing/2014/main" id="{5858F8A5-B327-D8E2-3F20-772B048297C4}"/>
                </a:ext>
              </a:extLst>
            </p:cNvPr>
            <p:cNvSpPr/>
            <p:nvPr/>
          </p:nvSpPr>
          <p:spPr>
            <a:xfrm>
              <a:off x="5353517" y="4844148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92EA1F7-95DA-4104-63D7-4A1BD85F5BFF}"/>
                </a:ext>
              </a:extLst>
            </p:cNvPr>
            <p:cNvSpPr txBox="1"/>
            <p:nvPr/>
          </p:nvSpPr>
          <p:spPr>
            <a:xfrm>
              <a:off x="5428401" y="4896954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약 임의 변경</a:t>
              </a:r>
              <a:r>
                <a:rPr 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안내</a:t>
              </a:r>
              <a:endParaRPr sz="12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73D2213-BCD7-6679-2048-4CD2CD174282}"/>
                </a:ext>
              </a:extLst>
            </p:cNvPr>
            <p:cNvSpPr txBox="1"/>
            <p:nvPr/>
          </p:nvSpPr>
          <p:spPr>
            <a:xfrm>
              <a:off x="5428401" y="5148950"/>
              <a:ext cx="2130875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용량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추가·중단·대체를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모델이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단정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권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고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9" name="Rounded Rectangle 35">
              <a:extLst>
                <a:ext uri="{FF2B5EF4-FFF2-40B4-BE49-F238E27FC236}">
                  <a16:creationId xmlns:a16="http://schemas.microsoft.com/office/drawing/2014/main" id="{12CE4489-801E-D840-744F-7F175316E5E1}"/>
                </a:ext>
              </a:extLst>
            </p:cNvPr>
            <p:cNvSpPr/>
            <p:nvPr/>
          </p:nvSpPr>
          <p:spPr>
            <a:xfrm>
              <a:off x="7713279" y="4928637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80" name="Rounded Rectangle 36">
              <a:extLst>
                <a:ext uri="{FF2B5EF4-FFF2-40B4-BE49-F238E27FC236}">
                  <a16:creationId xmlns:a16="http://schemas.microsoft.com/office/drawing/2014/main" id="{B462AB23-B6F7-3524-45CF-21DD0C9A1175}"/>
                </a:ext>
              </a:extLst>
            </p:cNvPr>
            <p:cNvSpPr/>
            <p:nvPr/>
          </p:nvSpPr>
          <p:spPr>
            <a:xfrm>
              <a:off x="5353517" y="5654017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A6F9D11-036E-E21B-75ED-C45F7145A3AB}"/>
                </a:ext>
              </a:extLst>
            </p:cNvPr>
            <p:cNvSpPr txBox="1"/>
            <p:nvPr/>
          </p:nvSpPr>
          <p:spPr>
            <a:xfrm>
              <a:off x="5428401" y="5706823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전문가 안내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7020FEE-ED59-D35B-D791-FACA1883405D}"/>
                </a:ext>
              </a:extLst>
            </p:cNvPr>
            <p:cNvSpPr txBox="1"/>
            <p:nvPr/>
          </p:nvSpPr>
          <p:spPr>
            <a:xfrm>
              <a:off x="5428401" y="5958819"/>
              <a:ext cx="2109383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문항에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전문가 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상담 안내</a:t>
              </a:r>
              <a:r>
                <a:rPr 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포함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여부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83" name="Rounded Rectangle 39">
              <a:extLst>
                <a:ext uri="{FF2B5EF4-FFF2-40B4-BE49-F238E27FC236}">
                  <a16:creationId xmlns:a16="http://schemas.microsoft.com/office/drawing/2014/main" id="{58C94ACB-20A5-C2B4-E883-E252DC632538}"/>
                </a:ext>
              </a:extLst>
            </p:cNvPr>
            <p:cNvSpPr/>
            <p:nvPr/>
          </p:nvSpPr>
          <p:spPr>
            <a:xfrm>
              <a:off x="7713279" y="5738506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≥95%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C9C7C95-1206-4569-6CF1-B04F09479920}"/>
              </a:ext>
            </a:extLst>
          </p:cNvPr>
          <p:cNvGrpSpPr/>
          <p:nvPr/>
        </p:nvGrpSpPr>
        <p:grpSpPr>
          <a:xfrm>
            <a:off x="8563549" y="3041862"/>
            <a:ext cx="3209349" cy="3506300"/>
            <a:chOff x="8563549" y="3041862"/>
            <a:chExt cx="3209349" cy="3506300"/>
          </a:xfrm>
        </p:grpSpPr>
        <p:sp>
          <p:nvSpPr>
            <p:cNvPr id="85" name="Rounded Rectangle 41">
              <a:extLst>
                <a:ext uri="{FF2B5EF4-FFF2-40B4-BE49-F238E27FC236}">
                  <a16:creationId xmlns:a16="http://schemas.microsoft.com/office/drawing/2014/main" id="{5095A88D-FB7B-8925-62B4-7BCFA434B3A6}"/>
                </a:ext>
              </a:extLst>
            </p:cNvPr>
            <p:cNvSpPr/>
            <p:nvPr/>
          </p:nvSpPr>
          <p:spPr>
            <a:xfrm>
              <a:off x="8563549" y="3041862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6" name="Rectangle 42">
              <a:extLst>
                <a:ext uri="{FF2B5EF4-FFF2-40B4-BE49-F238E27FC236}">
                  <a16:creationId xmlns:a16="http://schemas.microsoft.com/office/drawing/2014/main" id="{D5551998-3DCA-FA99-E654-641F03E12F20}"/>
                </a:ext>
              </a:extLst>
            </p:cNvPr>
            <p:cNvSpPr/>
            <p:nvPr/>
          </p:nvSpPr>
          <p:spPr>
            <a:xfrm>
              <a:off x="8563549" y="3041862"/>
              <a:ext cx="44575" cy="3506300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1B9C55-4DB0-2BA7-DDE6-F69C37A78037}"/>
                </a:ext>
              </a:extLst>
            </p:cNvPr>
            <p:cNvSpPr txBox="1"/>
            <p:nvPr/>
          </p:nvSpPr>
          <p:spPr>
            <a:xfrm>
              <a:off x="8670528" y="3204692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실효성</a:t>
              </a:r>
              <a:endParaRPr lang="en-US" altLang="ko-KR"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읽고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이해하고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행동</a:t>
              </a:r>
              <a:endParaRPr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89" name="Rounded Rectangle 45">
              <a:extLst>
                <a:ext uri="{FF2B5EF4-FFF2-40B4-BE49-F238E27FC236}">
                  <a16:creationId xmlns:a16="http://schemas.microsoft.com/office/drawing/2014/main" id="{DFA2F06B-A7C3-D6DF-BC6C-88095B5C8FC5}"/>
                </a:ext>
              </a:extLst>
            </p:cNvPr>
            <p:cNvSpPr/>
            <p:nvPr/>
          </p:nvSpPr>
          <p:spPr>
            <a:xfrm>
              <a:off x="8670528" y="403428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6E6954C-EDA3-583B-3AC1-7C637DCD264C}"/>
                </a:ext>
              </a:extLst>
            </p:cNvPr>
            <p:cNvSpPr txBox="1"/>
            <p:nvPr/>
          </p:nvSpPr>
          <p:spPr>
            <a:xfrm>
              <a:off x="8745412" y="4087084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 dirty="0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인지여부</a:t>
              </a:r>
              <a:endParaRPr sz="12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91F41A6-BCE8-2342-AEEA-53013960A9FC}"/>
                </a:ext>
              </a:extLst>
            </p:cNvPr>
            <p:cNvSpPr txBox="1"/>
            <p:nvPr/>
          </p:nvSpPr>
          <p:spPr>
            <a:xfrm>
              <a:off x="8745412" y="4339081"/>
              <a:ext cx="2161186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eaLnBrk="0" hangingPunct="0">
                <a:spcAft>
                  <a:spcPts val="200"/>
                </a:spcAft>
              </a:pP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답변을 통해 결론 및 할 일을 인지하셨는지</a:t>
              </a:r>
              <a:endParaRPr sz="9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2" name="Rounded Rectangle 48">
              <a:extLst>
                <a:ext uri="{FF2B5EF4-FFF2-40B4-BE49-F238E27FC236}">
                  <a16:creationId xmlns:a16="http://schemas.microsoft.com/office/drawing/2014/main" id="{B1502D65-94D1-6775-6175-375A943DCD86}"/>
                </a:ext>
              </a:extLst>
            </p:cNvPr>
            <p:cNvSpPr/>
            <p:nvPr/>
          </p:nvSpPr>
          <p:spPr>
            <a:xfrm>
              <a:off x="11013575" y="411876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≥9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%</a:t>
              </a:r>
            </a:p>
          </p:txBody>
        </p:sp>
        <p:sp>
          <p:nvSpPr>
            <p:cNvPr id="93" name="Rounded Rectangle 49">
              <a:extLst>
                <a:ext uri="{FF2B5EF4-FFF2-40B4-BE49-F238E27FC236}">
                  <a16:creationId xmlns:a16="http://schemas.microsoft.com/office/drawing/2014/main" id="{93F2EE9C-C21E-181E-E128-AC386C02185E}"/>
                </a:ext>
              </a:extLst>
            </p:cNvPr>
            <p:cNvSpPr/>
            <p:nvPr/>
          </p:nvSpPr>
          <p:spPr>
            <a:xfrm>
              <a:off x="8670528" y="564772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776DFAE-822C-C75A-CA5D-7867F2AE3A3E}"/>
                </a:ext>
              </a:extLst>
            </p:cNvPr>
            <p:cNvSpPr txBox="1"/>
            <p:nvPr/>
          </p:nvSpPr>
          <p:spPr>
            <a:xfrm>
              <a:off x="8745412" y="5700526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만족도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F2A118B-F20D-A4D7-042E-2AD4EE517B3C}"/>
                </a:ext>
              </a:extLst>
            </p:cNvPr>
            <p:cNvSpPr txBox="1"/>
            <p:nvPr/>
          </p:nvSpPr>
          <p:spPr>
            <a:xfrm>
              <a:off x="8745412" y="5952522"/>
              <a:ext cx="2233404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900" dirty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이 답이 실제로 도움이 됐고 또 쓰고 </a:t>
              </a:r>
              <a:r>
                <a:rPr lang="ko-KR" altLang="en-US" sz="900" dirty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싶은지</a:t>
              </a:r>
              <a:endParaRPr sz="900" b="0" dirty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6" name="Rounded Rectangle 52">
              <a:extLst>
                <a:ext uri="{FF2B5EF4-FFF2-40B4-BE49-F238E27FC236}">
                  <a16:creationId xmlns:a16="http://schemas.microsoft.com/office/drawing/2014/main" id="{A01DFAD2-A9D9-64A4-FFE1-9238BF07C031}"/>
                </a:ext>
              </a:extLst>
            </p:cNvPr>
            <p:cNvSpPr/>
            <p:nvPr/>
          </p:nvSpPr>
          <p:spPr>
            <a:xfrm>
              <a:off x="11013575" y="573220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8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점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7" name="Rounded Rectangle 53">
              <a:extLst>
                <a:ext uri="{FF2B5EF4-FFF2-40B4-BE49-F238E27FC236}">
                  <a16:creationId xmlns:a16="http://schemas.microsoft.com/office/drawing/2014/main" id="{602C8D96-F3EC-B676-769C-BF40BE2605FA}"/>
                </a:ext>
              </a:extLst>
            </p:cNvPr>
            <p:cNvSpPr/>
            <p:nvPr/>
          </p:nvSpPr>
          <p:spPr>
            <a:xfrm>
              <a:off x="8670528" y="4839192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61BB1A7-51FB-2D48-7E46-F95D0E5EEF37}"/>
                </a:ext>
              </a:extLst>
            </p:cNvPr>
            <p:cNvSpPr txBox="1"/>
            <p:nvPr/>
          </p:nvSpPr>
          <p:spPr>
            <a:xfrm>
              <a:off x="8745412" y="4891998"/>
              <a:ext cx="2326778" cy="21172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답변 이해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C03F56B-19D4-628C-4B26-A24FC40DBF3F}"/>
                </a:ext>
              </a:extLst>
            </p:cNvPr>
            <p:cNvSpPr txBox="1"/>
            <p:nvPr/>
          </p:nvSpPr>
          <p:spPr>
            <a:xfrm>
              <a:off x="8745412" y="5143994"/>
              <a:ext cx="2161186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eaLnBrk="0" hangingPunct="0">
                <a:spcAft>
                  <a:spcPts val="200"/>
                </a:spcAft>
              </a:pP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응답을 보고 정답을 맞게 고르시는지</a:t>
              </a:r>
            </a:p>
          </p:txBody>
        </p:sp>
        <p:sp>
          <p:nvSpPr>
            <p:cNvPr id="100" name="Rounded Rectangle 56">
              <a:extLst>
                <a:ext uri="{FF2B5EF4-FFF2-40B4-BE49-F238E27FC236}">
                  <a16:creationId xmlns:a16="http://schemas.microsoft.com/office/drawing/2014/main" id="{377C11A3-A97A-5024-5DE0-1319D5A366F9}"/>
                </a:ext>
              </a:extLst>
            </p:cNvPr>
            <p:cNvSpPr/>
            <p:nvPr/>
          </p:nvSpPr>
          <p:spPr>
            <a:xfrm>
              <a:off x="11013575" y="4923681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9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%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101" name="Rectangle 25">
            <a:extLst>
              <a:ext uri="{FF2B5EF4-FFF2-40B4-BE49-F238E27FC236}">
                <a16:creationId xmlns:a16="http://schemas.microsoft.com/office/drawing/2014/main" id="{1BC60C10-D3EB-2916-1CB0-7BB405753EDA}"/>
              </a:ext>
            </a:extLst>
          </p:cNvPr>
          <p:cNvSpPr/>
          <p:nvPr/>
        </p:nvSpPr>
        <p:spPr>
          <a:xfrm>
            <a:off x="460808" y="3041862"/>
            <a:ext cx="42056" cy="35063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AA6819-BD60-DBAD-A0D3-4FB261CDE33F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E07FCAA-71A2-5C66-936F-DA2D0DF01E69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증류의 정보 보존 등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기술적 지표” 만이 아니라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어르신이 안전하게 혼자 쓸 수 있는가의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실효성”을 같이 본다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8A8A7FE-083D-ECA1-350B-096D0B74BE72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lnSpc>
                <a:spcPct val="104000"/>
              </a:lnSpc>
              <a:spcAft>
                <a:spcPts val="100"/>
              </a:spcAft>
            </a:pPr>
            <a:r>
              <a:rPr lang="en-US" altLang="ko-KR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잘 줄였나</a:t>
            </a:r>
            <a:r>
              <a:rPr lang="en-US" altLang="ko-KR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’</a:t>
            </a:r>
            <a:r>
              <a:rPr lang="ko-KR" altLang="en-US" sz="2400" b="1" dirty="0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뿐 아닌 </a:t>
            </a:r>
            <a:r>
              <a:rPr lang="ko-KR" altLang="en-US" sz="2400" b="1" dirty="0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서비스 측면도 평가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75B0B-75E2-E363-87C8-BF7DA2DBA39C}"/>
              </a:ext>
            </a:extLst>
          </p:cNvPr>
          <p:cNvSpPr txBox="1"/>
          <p:nvPr/>
        </p:nvSpPr>
        <p:spPr>
          <a:xfrm>
            <a:off x="602147" y="3168596"/>
            <a:ext cx="3022137" cy="24096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 eaLnBrk="0" hangingPunct="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기술적 지표 평가 </a:t>
            </a:r>
            <a:r>
              <a:rPr lang="en-US" altLang="ko-KR" sz="1400" b="1">
                <a:latin typeface="Pretendard SemiBold"/>
                <a:ea typeface="Pretendard SemiBold"/>
                <a:cs typeface="Pretendard SemiBold"/>
              </a:rPr>
              <a:t>7</a:t>
            </a: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종</a:t>
            </a:r>
            <a:endParaRPr sz="1400" b="1"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B01930-8A6F-2D54-7C5B-BC8C5FDA2F58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19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  <p:extLst>
      <p:ext uri="{BB962C8B-B14F-4D97-AF65-F5344CB8AC3E}">
        <p14:creationId xmlns:p14="http://schemas.microsoft.com/office/powerpoint/2010/main" val="3122487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1044819"/>
            <a:ext cx="3749039" cy="467692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0" b="1" dirty="0">
                <a:solidFill>
                  <a:srgbClr val="263355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endParaRPr sz="30000" b="1" dirty="0">
              <a:solidFill>
                <a:srgbClr val="26335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273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SECTION </a:t>
            </a:r>
            <a:r>
              <a:rPr lang="en-US" altLang="ko-KR" sz="1600" b="1" dirty="0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endParaRPr sz="1600" b="1" dirty="0">
              <a:solidFill>
                <a:srgbClr val="2E6FD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761488"/>
            <a:ext cx="7040880" cy="552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ko-KR" altLang="en-US"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향후 계획 </a:t>
            </a:r>
            <a:r>
              <a:rPr lang="en-US" altLang="ko-KR"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ko-KR" altLang="en-US"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최종</a:t>
            </a:r>
            <a:r>
              <a:rPr sz="3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  <a:endParaRPr lang="ko-KR" altLang="en-US" sz="34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68580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Phase 1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연구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본체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→ Phase 2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실버케어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적용</a:t>
            </a:r>
            <a:r>
              <a:rPr sz="1550" b="0" dirty="0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50" b="0" dirty="0" err="1">
                <a:solidFill>
                  <a:srgbClr val="CADCFC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1550" b="0" dirty="0">
              <a:solidFill>
                <a:srgbClr val="CADCF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2FB102-C317-3E73-3F12-1EF83521B591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20</a:t>
            </a:r>
            <a:r>
              <a:rPr sz="713" b="0" dirty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E1102FA3-A6DA-4E9A-BB84-46A5033160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B875DD-5407-434D-AFEE-F334358A3D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0F5E9E-7563-4F7F-BAF7-9C1D9030AB29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886B3D-CF76-47DA-B56B-77FA5EB90F7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013" b="1" dirty="0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향후 계획</a:t>
            </a:r>
            <a:endParaRPr sz="1013" b="1" dirty="0">
              <a:solidFill>
                <a:srgbClr val="2563E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47DB44-60FB-45E2-AA46-0B5D01E13CF2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3A2244-33B3-4676-883B-D2B700E84F7F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Phase1.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연구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본체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Phase2.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실버케어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적용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가능성</a:t>
            </a: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4743E2-2A5A-4666-AC0E-446063A30AA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C10C6A-CD2D-4E1B-963B-653CB2248037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연구 본체의 신뢰 지표를 확보한 뒤 실서비스 적용 가능성을 검증해야 목표가 과장되지 않음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4DB03A-DCCD-4BB8-B913-BE36BDA2920B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 최종.pptx; 최종목표_향후계획.md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081910-ABE5-44FA-A923-A4E38865C777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en-US" altLang="ko-KR"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 / 27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D58E67-0773-40B9-8AB3-52DDE89DEC11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5429250" cy="4400550"/>
          </a:xfrm>
          <a:prstGeom prst="rect">
            <a:avLst/>
          </a:prstGeom>
          <a:solidFill>
            <a:srgbClr val="EEF4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9ECE77-F671-4620-95FE-92761D25D26B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66675" cy="4400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2A1E34-611A-474F-BBA1-03518076B698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단계 1. 연구 본체 보강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F26D74-E72C-4A97-A6B7-1EBAA62A5D0A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GPU 센터 기반 지식 전수 추가 검증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8FB2D1-8151-4DCB-BA3C-44D038D302A9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A92DD8-B072-4EB6-BC27-E86DA53F8226}"/>
              </a:ext>
            </a:extLst>
          </p:cNvPr>
          <p:cNvSpPr>
            <a:spLocks noGrp="1"/>
          </p:cNvSpPr>
          <p:nvPr/>
        </p:nvSpPr>
        <p:spPr>
          <a:xfrm>
            <a:off x="733425" y="30289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환경 이식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DF220D-5A24-4672-95FA-3CB35F30ECE2}"/>
              </a:ext>
            </a:extLst>
          </p:cNvPr>
          <p:cNvSpPr>
            <a:spLocks noGrp="1"/>
          </p:cNvSpPr>
          <p:nvPr/>
        </p:nvSpPr>
        <p:spPr>
          <a:xfrm>
            <a:off x="2209800" y="30099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GPU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센터</a:t>
            </a: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환경으로</a:t>
            </a: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코드·조건</a:t>
            </a:r>
            <a:r>
              <a:rPr sz="1200" b="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이식</a:t>
            </a:r>
            <a:endParaRPr sz="1200" b="0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8DEAA4-1462-40F4-AC5D-2E421F63A10D}"/>
              </a:ext>
            </a:extLst>
          </p:cNvPr>
          <p:cNvSpPr>
            <a:spLocks noGrp="1"/>
          </p:cNvSpPr>
          <p:nvPr/>
        </p:nvSpPr>
        <p:spPr>
          <a:xfrm>
            <a:off x="590550" y="404495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115B29-5857-48FA-8F14-FC205CD3D6CD}"/>
              </a:ext>
            </a:extLst>
          </p:cNvPr>
          <p:cNvSpPr>
            <a:spLocks noGrp="1"/>
          </p:cNvSpPr>
          <p:nvPr/>
        </p:nvSpPr>
        <p:spPr>
          <a:xfrm>
            <a:off x="733425" y="417830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재현 실험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2DA94C-DE99-4D55-9AEC-E2C90771C478}"/>
              </a:ext>
            </a:extLst>
          </p:cNvPr>
          <p:cNvSpPr>
            <a:spLocks noGrp="1"/>
          </p:cNvSpPr>
          <p:nvPr/>
        </p:nvSpPr>
        <p:spPr>
          <a:xfrm>
            <a:off x="2209800" y="415925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오류율(PPL)·loss·답변 생성 속도 재측정, 다중 seed 반복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74439F-62B7-4C91-A840-6CC660C73157}"/>
              </a:ext>
            </a:extLst>
          </p:cNvPr>
          <p:cNvSpPr>
            <a:spLocks noGrp="1"/>
          </p:cNvSpPr>
          <p:nvPr/>
        </p:nvSpPr>
        <p:spPr>
          <a:xfrm>
            <a:off x="590550" y="51943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ACB2D5-C1DD-42F6-9D1D-9ED40A852820}"/>
              </a:ext>
            </a:extLst>
          </p:cNvPr>
          <p:cNvSpPr>
            <a:spLocks noGrp="1"/>
          </p:cNvSpPr>
          <p:nvPr/>
        </p:nvSpPr>
        <p:spPr>
          <a:xfrm>
            <a:off x="733425" y="53276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확장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1A148B-AAD9-4438-A422-67D8F9D98653}"/>
              </a:ext>
            </a:extLst>
          </p:cNvPr>
          <p:cNvSpPr>
            <a:spLocks noGrp="1"/>
          </p:cNvSpPr>
          <p:nvPr/>
        </p:nvSpPr>
        <p:spPr>
          <a:xfrm>
            <a:off x="2209800" y="53086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더 큰 모델·데이터·반복 학습, 비중·온도값 민감도 분석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EE70A-D9D0-407E-A1A8-C6C27D6FB7D7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5429250" cy="4400550"/>
          </a:xfrm>
          <a:prstGeom prst="rect">
            <a:avLst/>
          </a:prstGeom>
          <a:solidFill>
            <a:srgbClr val="F5F6F8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EC9673-1C09-4F6A-AF44-77E2DCFE065B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66675" cy="440055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7248243-850F-4FD2-A55E-DD52A63F797B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단계 2. 적용 검증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29C1EF-7B6D-45D3-83EC-4F58C7A62B94}"/>
              </a:ext>
            </a:extLst>
          </p:cNvPr>
          <p:cNvSpPr>
            <a:spLocks noGrp="1"/>
          </p:cNvSpPr>
          <p:nvPr/>
        </p:nvSpPr>
        <p:spPr>
          <a:xfrm>
            <a:off x="6457950" y="2476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어르신 돌봄 시나리오 기반 후속 실험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C36500-BA61-40B8-88DD-F174E0732680}"/>
              </a:ext>
            </a:extLst>
          </p:cNvPr>
          <p:cNvSpPr>
            <a:spLocks noGrp="1"/>
          </p:cNvSpPr>
          <p:nvPr/>
        </p:nvSpPr>
        <p:spPr>
          <a:xfrm>
            <a:off x="6457950" y="28956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9D16CB-B02A-4543-AF12-E85446AF9211}"/>
              </a:ext>
            </a:extLst>
          </p:cNvPr>
          <p:cNvSpPr>
            <a:spLocks noGrp="1"/>
          </p:cNvSpPr>
          <p:nvPr/>
        </p:nvSpPr>
        <p:spPr>
          <a:xfrm>
            <a:off x="6600825" y="30289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 dirty="0" err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모델·데이터</a:t>
            </a:r>
            <a:r>
              <a:rPr sz="1275" b="1" dirty="0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75" b="1" dirty="0" err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재선정</a:t>
            </a:r>
            <a:endParaRPr sz="1275" b="1" dirty="0">
              <a:solidFill>
                <a:srgbClr val="2B303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DE6571-902E-409A-A702-B4D2E711EA19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한국어 큰 모델과 기기 내 실행 가능한 작은 모델 후보 선정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86363E-1BF2-45C2-B48A-CDFBFF9A046F}"/>
              </a:ext>
            </a:extLst>
          </p:cNvPr>
          <p:cNvSpPr>
            <a:spLocks noGrp="1"/>
          </p:cNvSpPr>
          <p:nvPr/>
        </p:nvSpPr>
        <p:spPr>
          <a:xfrm>
            <a:off x="6457950" y="404495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B0069F-2C09-40C2-AF1D-54FA54097545}"/>
              </a:ext>
            </a:extLst>
          </p:cNvPr>
          <p:cNvSpPr>
            <a:spLocks noGrp="1"/>
          </p:cNvSpPr>
          <p:nvPr/>
        </p:nvSpPr>
        <p:spPr>
          <a:xfrm>
            <a:off x="6600825" y="417830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분야 학습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FD071A-2F82-4862-B32B-25C7E481FC1F}"/>
              </a:ext>
            </a:extLst>
          </p:cNvPr>
          <p:cNvSpPr>
            <a:spLocks noGrp="1"/>
          </p:cNvSpPr>
          <p:nvPr/>
        </p:nvSpPr>
        <p:spPr>
          <a:xfrm>
            <a:off x="8077200" y="415925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 의료·AI Hub 데이터로 응답 데이터 생성 및 작은 모델 학습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D9827BD-1A95-4144-8325-BE967F711552}"/>
              </a:ext>
            </a:extLst>
          </p:cNvPr>
          <p:cNvSpPr>
            <a:spLocks noGrp="1"/>
          </p:cNvSpPr>
          <p:nvPr/>
        </p:nvSpPr>
        <p:spPr>
          <a:xfrm>
            <a:off x="6457950" y="51943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696830F-954F-49F3-80D4-C58001289681}"/>
              </a:ext>
            </a:extLst>
          </p:cNvPr>
          <p:cNvSpPr>
            <a:spLocks noGrp="1"/>
          </p:cNvSpPr>
          <p:nvPr/>
        </p:nvSpPr>
        <p:spPr>
          <a:xfrm>
            <a:off x="6600825" y="53276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내 실행 평가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2062EC-6635-4A41-926F-BCD9F73BCDB2}"/>
              </a:ext>
            </a:extLst>
          </p:cNvPr>
          <p:cNvSpPr>
            <a:spLocks noGrp="1"/>
          </p:cNvSpPr>
          <p:nvPr/>
        </p:nvSpPr>
        <p:spPr>
          <a:xfrm>
            <a:off x="8077200" y="53086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불필요한 부분 줄이기·숫자를 가볍게 저장, 모델 크기·사용 용량·인터넷 없이 실행성 검증</a:t>
            </a:r>
          </a:p>
        </p:txBody>
      </p:sp>
    </p:spTree>
    <p:extLst>
      <p:ext uri="{BB962C8B-B14F-4D97-AF65-F5344CB8AC3E}">
        <p14:creationId xmlns:p14="http://schemas.microsoft.com/office/powerpoint/2010/main" val="1438178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056A60-207E-49C1-9009-64EF2A28C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F4AF20-EE52-4D5A-BC7A-F114912FEC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97B8B2-DA25-40CA-9A1E-FEF273D4C8B2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9DB223-1318-40D4-B2DB-C18287AA3F5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요약·기대효과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1B9F82-CBDE-4443-A540-20F6AD4577D8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CC9544-EA08-49F8-9E81-B006C3843947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프로젝트가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얻고자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하는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것은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점수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하나가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재현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가능한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독립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패키지임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9E48BA-BA21-4891-B3D5-14BBE12EC4F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63401D-C5C2-45C5-983C-C340A1D13F7E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결론: 지식 전수 효과를 신뢰성 있게 검증한 뒤, 어르신 돌봄 기기 내 실행 적용 가능성을 단계적으로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75114-1125-43FA-95C4-79B94B08CAC4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팀원별 전체 자료 통합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2DAA19-0BEC-4C9A-831F-561CE7EC64FF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713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22</a:t>
            </a:r>
            <a:r>
              <a:rPr lang="ko-KR" altLang="en-US" sz="713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713" b="0" dirty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/ 27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36762D-9292-4729-A5C3-C73F70A922AB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5572125" cy="1790700"/>
          </a:xfrm>
          <a:prstGeom prst="rect">
            <a:avLst/>
          </a:prstGeom>
          <a:noFill/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BCA421-70A1-4FD0-BB86-0F605ED99A3E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57150" cy="1790700"/>
          </a:xfrm>
          <a:prstGeom prst="rect">
            <a:avLst/>
          </a:prstGeom>
          <a:solidFill>
            <a:srgbClr val="2B30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CD8A61-6CD8-41F1-9830-F28A91EADEE0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 dirty="0" err="1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독립</a:t>
            </a:r>
            <a:r>
              <a:rPr sz="1575" b="1" dirty="0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b="1" dirty="0" err="1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1575" b="1" dirty="0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b="1" dirty="0" err="1">
                <a:solidFill>
                  <a:srgbClr val="2B3037"/>
                </a:solidFill>
                <a:latin typeface="Pretendard"/>
                <a:ea typeface="Pretendard"/>
                <a:cs typeface="Pretendard"/>
              </a:rPr>
              <a:t>보조</a:t>
            </a:r>
            <a:endParaRPr sz="1575" b="1" dirty="0">
              <a:solidFill>
                <a:srgbClr val="2B30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AF5C32-E08E-4DF8-86C0-FFC323F93402}"/>
              </a:ext>
            </a:extLst>
          </p:cNvPr>
          <p:cNvSpPr>
            <a:spLocks noGrp="1"/>
          </p:cNvSpPr>
          <p:nvPr/>
        </p:nvSpPr>
        <p:spPr>
          <a:xfrm>
            <a:off x="4772025" y="21621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인터넷 없이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591D29-BCC3-437D-A4A4-F54630C9B536}"/>
              </a:ext>
            </a:extLst>
          </p:cNvPr>
          <p:cNvSpPr>
            <a:spLocks noGrp="1"/>
          </p:cNvSpPr>
          <p:nvPr/>
        </p:nvSpPr>
        <p:spPr>
          <a:xfrm>
            <a:off x="571500" y="25336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네트워크 없이 의료 정보 접근·복약 관리·정서 대화가 가능한 내 기기 보조 방향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F6A4DF-3F27-4B18-9206-244E674AD0B7}"/>
              </a:ext>
            </a:extLst>
          </p:cNvPr>
          <p:cNvSpPr>
            <a:spLocks noGrp="1"/>
          </p:cNvSpPr>
          <p:nvPr/>
        </p:nvSpPr>
        <p:spPr>
          <a:xfrm>
            <a:off x="6124575" y="20193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67A684-40EE-44CA-BCCD-8969243EDD70}"/>
              </a:ext>
            </a:extLst>
          </p:cNvPr>
          <p:cNvSpPr>
            <a:spLocks noGrp="1"/>
          </p:cNvSpPr>
          <p:nvPr/>
        </p:nvSpPr>
        <p:spPr>
          <a:xfrm>
            <a:off x="6124575" y="20193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0F6F74-A8F9-4F25-957B-D13BF0C34FB8}"/>
              </a:ext>
            </a:extLst>
          </p:cNvPr>
          <p:cNvSpPr>
            <a:spLocks noGrp="1"/>
          </p:cNvSpPr>
          <p:nvPr/>
        </p:nvSpPr>
        <p:spPr>
          <a:xfrm>
            <a:off x="6296025" y="21526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프라이버시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3E9A18-4866-499D-9E6D-0C7265F52840}"/>
              </a:ext>
            </a:extLst>
          </p:cNvPr>
          <p:cNvSpPr>
            <a:spLocks noGrp="1"/>
          </p:cNvSpPr>
          <p:nvPr/>
        </p:nvSpPr>
        <p:spPr>
          <a:xfrm>
            <a:off x="10496550" y="21621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 미전송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E700C3-23E4-425E-B0BA-647F2A90BE61}"/>
              </a:ext>
            </a:extLst>
          </p:cNvPr>
          <p:cNvSpPr>
            <a:spLocks noGrp="1"/>
          </p:cNvSpPr>
          <p:nvPr/>
        </p:nvSpPr>
        <p:spPr>
          <a:xfrm>
            <a:off x="6296025" y="25336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건강정보·복약 기록·대화 내용이 외부 서버로 전송되지 않는 구조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A745A4-C7AA-46B2-B86C-D622AD234BC1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EF8902-848A-4A6D-8A4B-9E644CDD4F58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AD2681-B623-4117-A2D9-FED4B024857F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재현 가능한 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29D6C-B1BE-4908-9E33-AFC8FE4DF41D}"/>
              </a:ext>
            </a:extLst>
          </p:cNvPr>
          <p:cNvSpPr>
            <a:spLocks noGrp="1"/>
          </p:cNvSpPr>
          <p:nvPr/>
        </p:nvSpPr>
        <p:spPr>
          <a:xfrm>
            <a:off x="4772025" y="41052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증거 패키지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0A2692-4515-4649-A471-6E0F8469188B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질문셋, 모델별 답변 로그, 채점표, 내 기기 시연 기록, 평가 리포트 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A8337A-23C1-4533-898E-12B430B9E969}"/>
              </a:ext>
            </a:extLst>
          </p:cNvPr>
          <p:cNvSpPr>
            <a:spLocks noGrp="1"/>
          </p:cNvSpPr>
          <p:nvPr/>
        </p:nvSpPr>
        <p:spPr>
          <a:xfrm>
            <a:off x="6124575" y="39624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550628-3C69-43B9-A229-2B877DA529A2}"/>
              </a:ext>
            </a:extLst>
          </p:cNvPr>
          <p:cNvSpPr>
            <a:spLocks noGrp="1"/>
          </p:cNvSpPr>
          <p:nvPr/>
        </p:nvSpPr>
        <p:spPr>
          <a:xfrm>
            <a:off x="6124575" y="39624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F169821-06F5-46DF-9BE6-50BC22AA84D1}"/>
              </a:ext>
            </a:extLst>
          </p:cNvPr>
          <p:cNvSpPr>
            <a:spLocks noGrp="1"/>
          </p:cNvSpPr>
          <p:nvPr/>
        </p:nvSpPr>
        <p:spPr>
          <a:xfrm>
            <a:off x="6296025" y="40957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후속 연구 연결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348F2B-A100-40C5-9857-8A3427A245A2}"/>
              </a:ext>
            </a:extLst>
          </p:cNvPr>
          <p:cNvSpPr>
            <a:spLocks noGrp="1"/>
          </p:cNvSpPr>
          <p:nvPr/>
        </p:nvSpPr>
        <p:spPr>
          <a:xfrm>
            <a:off x="10496550" y="41052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로드맵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5B1938-342F-46A1-A624-B1839CC8667C}"/>
              </a:ext>
            </a:extLst>
          </p:cNvPr>
          <p:cNvSpPr>
            <a:spLocks noGrp="1"/>
          </p:cNvSpPr>
          <p:nvPr/>
        </p:nvSpPr>
        <p:spPr>
          <a:xfrm>
            <a:off x="6296025" y="44767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GPU 검증 → 분야 학습 → 불필요한 부분 줄이기·숫자를 가볍게 저장 → 기기 내 실행 가능성 평가로 확장</a:t>
            </a:r>
          </a:p>
        </p:txBody>
      </p:sp>
    </p:spTree>
    <p:extLst>
      <p:ext uri="{BB962C8B-B14F-4D97-AF65-F5344CB8AC3E}">
        <p14:creationId xmlns:p14="http://schemas.microsoft.com/office/powerpoint/2010/main" val="1872092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77695-13C0-6452-1C44-5E6010C6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F56403-6915-01EB-9C3B-DDFB04AA273C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C0A20-A98B-2CE7-0940-F0EBCEF5393E}"/>
              </a:ext>
            </a:extLst>
          </p:cNvPr>
          <p:cNvSpPr txBox="1"/>
          <p:nvPr/>
        </p:nvSpPr>
        <p:spPr>
          <a:xfrm>
            <a:off x="4870565" y="2778566"/>
            <a:ext cx="2450869" cy="65043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en-US" altLang="ko-KR" sz="40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Thank you</a:t>
            </a:r>
            <a:endParaRPr lang="ko-KR" altLang="en-US" sz="40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717768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2432</Words>
  <Application>Microsoft Macintosh PowerPoint</Application>
  <DocSecurity>0</DocSecurity>
  <PresentationFormat>와이드스크린</PresentationFormat>
  <Paragraphs>550</Paragraphs>
  <Slides>23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Malgun Gothic</vt:lpstr>
      <vt:lpstr>Malgun Gothic (Body)</vt:lpstr>
      <vt:lpstr>Pretendard</vt:lpstr>
      <vt:lpstr>Pretendard SemiBold</vt:lpstr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황영민</cp:lastModifiedBy>
  <cp:revision>119</cp:revision>
  <dcterms:created xsi:type="dcterms:W3CDTF">2026-06-04T12:34:11Z</dcterms:created>
  <dcterms:modified xsi:type="dcterms:W3CDTF">2026-06-07T04:40:37Z</dcterms:modified>
</cp:coreProperties>
</file>