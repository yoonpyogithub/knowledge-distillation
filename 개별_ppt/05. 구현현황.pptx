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-34" y="10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pyo Hong" userId="0954e97c-29e5-4073-92b7-835ff620f192" providerId="ADAL" clId="{2100B5DF-C4BD-48B2-8583-B68488FE409B}"/>
    <pc:docChg chg="custSel addSld modSld">
      <pc:chgData name="Yoonpyo Hong" userId="0954e97c-29e5-4073-92b7-835ff620f192" providerId="ADAL" clId="{2100B5DF-C4BD-48B2-8583-B68488FE409B}" dt="2026-06-05T23:31:29.467" v="8"/>
      <pc:docMkLst>
        <pc:docMk/>
      </pc:docMkLst>
      <pc:sldChg chg="addSp delSp modSp new mod">
        <pc:chgData name="Yoonpyo Hong" userId="0954e97c-29e5-4073-92b7-835ff620f192" providerId="ADAL" clId="{2100B5DF-C4BD-48B2-8583-B68488FE409B}" dt="2026-06-05T23:31:06.205" v="2"/>
        <pc:sldMkLst>
          <pc:docMk/>
          <pc:sldMk cId="862473712" sldId="256"/>
        </pc:sldMkLst>
        <pc:spChg chg="del">
          <ac:chgData name="Yoonpyo Hong" userId="0954e97c-29e5-4073-92b7-835ff620f192" providerId="ADAL" clId="{2100B5DF-C4BD-48B2-8583-B68488FE409B}" dt="2026-06-05T23:30:50.528" v="1" actId="478"/>
          <ac:spMkLst>
            <pc:docMk/>
            <pc:sldMk cId="862473712" sldId="256"/>
            <ac:spMk id="2" creationId="{86A46055-8154-AA92-8B82-E700F66E5A31}"/>
          </ac:spMkLst>
        </pc:spChg>
        <pc:spChg chg="del">
          <ac:chgData name="Yoonpyo Hong" userId="0954e97c-29e5-4073-92b7-835ff620f192" providerId="ADAL" clId="{2100B5DF-C4BD-48B2-8583-B68488FE409B}" dt="2026-06-05T23:30:50.528" v="1" actId="478"/>
          <ac:spMkLst>
            <pc:docMk/>
            <pc:sldMk cId="862473712" sldId="256"/>
            <ac:spMk id="3" creationId="{D29A8C34-20BF-AE67-D732-27AAF36D3118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7" creationId="{629FC2A9-4F56-7EB8-30F9-818609E0A5F1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16" creationId="{5429180D-809D-B552-51B1-4E713B305666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24" creationId="{6DF9B3CE-E5BE-A132-1EC4-1B682DE85800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29" creationId="{BB4ED065-7C92-65B5-DEB5-4AB195701DC5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35" creationId="{C4419C36-D2ED-C8F2-45FC-5D07EE8E2F05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39" creationId="{13385249-B7EA-7F45-8FA1-CCCADA8D0B3F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44" creationId="{2FD4568F-2999-5A5A-A478-1B7EFED6A5C2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46" creationId="{CF9B451D-8462-9225-2EA9-E726490710AF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47" creationId="{8FE0C10B-BF40-60B8-F4C8-9B5EA0D1D732}"/>
          </ac:spMkLst>
        </pc:spChg>
        <pc:spChg chg="add mod">
          <ac:chgData name="Yoonpyo Hong" userId="0954e97c-29e5-4073-92b7-835ff620f192" providerId="ADAL" clId="{2100B5DF-C4BD-48B2-8583-B68488FE409B}" dt="2026-06-05T23:31:06.205" v="2"/>
          <ac:spMkLst>
            <pc:docMk/>
            <pc:sldMk cId="862473712" sldId="256"/>
            <ac:spMk id="51" creationId="{1A7317DC-C28A-366D-1020-19F5C05797F6}"/>
          </ac:spMkLst>
        </pc:spChg>
      </pc:sldChg>
      <pc:sldChg chg="addSp delSp modSp add mod">
        <pc:chgData name="Yoonpyo Hong" userId="0954e97c-29e5-4073-92b7-835ff620f192" providerId="ADAL" clId="{2100B5DF-C4BD-48B2-8583-B68488FE409B}" dt="2026-06-05T23:31:22.646" v="7"/>
        <pc:sldMkLst>
          <pc:docMk/>
          <pc:sldMk cId="854926668" sldId="257"/>
        </pc:sldMkLst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3" creationId="{DE7205E6-7EB7-C4BE-A9A1-12B99A9D502A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4" creationId="{CA1B9349-B4FB-2BF5-465D-D7CFC52E9726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10" creationId="{AE1AA962-E4E4-AF4C-DF61-FBAC50DB179A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18" creationId="{CB4762F4-1A95-26E1-1BD9-4F4B56AC7BD5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25" creationId="{66055211-1873-C481-BDF5-60100247A29B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35" creationId="{6F81F850-2FFB-2ED7-E2F5-18BC73F4CAAE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39" creationId="{C497F8FD-313F-9E47-343E-96214BE63A18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41" creationId="{F18D195F-54A8-A4CB-E4C9-52CDD630979E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46" creationId="{C2A40D69-4E7A-35FA-AC67-2D1F12F1D20E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47" creationId="{EDC74594-41FF-4A47-98C8-E74E1CAEAB40}"/>
          </ac:spMkLst>
        </pc:spChg>
        <pc:spChg chg="del">
          <ac:chgData name="Yoonpyo Hong" userId="0954e97c-29e5-4073-92b7-835ff620f192" providerId="ADAL" clId="{2100B5DF-C4BD-48B2-8583-B68488FE409B}" dt="2026-06-05T23:31:12.872" v="5" actId="478"/>
          <ac:spMkLst>
            <pc:docMk/>
            <pc:sldMk cId="854926668" sldId="257"/>
            <ac:spMk id="56" creationId="{8A768B19-BE56-09CC-00BA-1D5574C224ED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60" creationId="{4ED45AF7-8DF6-C772-1A71-179948EA4EC4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61" creationId="{957FCE8C-DEE6-A8A9-5FE7-910015DFC3A5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62" creationId="{E870D389-D20D-5AF1-5BCE-8A84A0E1F2AE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66" creationId="{05DAE24C-BC75-7C9D-18A6-C369C0F18693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69" creationId="{9C99B0E2-B256-174B-4965-F20A32EA5505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73" creationId="{29FF49F5-653E-81F5-6459-D76FB82665E5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74" creationId="{C62D4C3C-730D-873C-F2A1-EA542608F750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76" creationId="{64396D6E-A60F-7519-EFFC-A9BCBBC9930F}"/>
          </ac:spMkLst>
        </pc:spChg>
        <pc:spChg chg="add mod">
          <ac:chgData name="Yoonpyo Hong" userId="0954e97c-29e5-4073-92b7-835ff620f192" providerId="ADAL" clId="{2100B5DF-C4BD-48B2-8583-B68488FE409B}" dt="2026-06-05T23:31:22.646" v="7"/>
          <ac:spMkLst>
            <pc:docMk/>
            <pc:sldMk cId="854926668" sldId="257"/>
            <ac:spMk id="79" creationId="{5B3ED122-5B1A-A9B4-036F-36D8B5EFE0D1}"/>
          </ac:spMkLst>
        </pc:spChg>
      </pc:sldChg>
      <pc:sldChg chg="addSp delSp modSp add mod">
        <pc:chgData name="Yoonpyo Hong" userId="0954e97c-29e5-4073-92b7-835ff620f192" providerId="ADAL" clId="{2100B5DF-C4BD-48B2-8583-B68488FE409B}" dt="2026-06-05T23:31:29.467" v="8"/>
        <pc:sldMkLst>
          <pc:docMk/>
          <pc:sldMk cId="1423786631" sldId="258"/>
        </pc:sldMkLst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4" creationId="{EE29E482-92E1-93CE-A492-3EFC14A2B435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6" creationId="{DE620D75-30E7-ACE7-99F7-7AF05D4A77E3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13" creationId="{26944AAB-2DC7-12D9-829D-EF5E74B05EFE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16" creationId="{2D1806EA-B908-DBF7-1AA7-0027D34465B0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21" creationId="{138EEEBB-8D2C-FAD8-AF7E-B815A35A17B9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31" creationId="{C8266AA0-C244-9B3B-6E1B-82BED53D0C29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39" creationId="{682FA8DC-4A5E-8304-C4A7-906D995CCE27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45" creationId="{B05E302C-7093-909D-71B2-075A74515B58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48" creationId="{4A359896-1A1C-4CB9-3250-7E41105AB21D}"/>
          </ac:spMkLst>
        </pc:spChg>
        <pc:spChg chg="del">
          <ac:chgData name="Yoonpyo Hong" userId="0954e97c-29e5-4073-92b7-835ff620f192" providerId="ADAL" clId="{2100B5DF-C4BD-48B2-8583-B68488FE409B}" dt="2026-06-05T23:31:15.339" v="6" actId="478"/>
          <ac:spMkLst>
            <pc:docMk/>
            <pc:sldMk cId="1423786631" sldId="258"/>
            <ac:spMk id="50" creationId="{5B2AE962-1C8F-8B17-3CC5-7D04007E8979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59" creationId="{1A64D0E1-878B-6DFD-E1A3-6E7C9188E155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60" creationId="{20D6BD94-650E-4DFF-C714-028534808161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61" creationId="{4D607EA0-A5B4-7E3E-B3F9-123E76D21192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63" creationId="{B0E000DF-DB90-0EF8-7EED-E02E83F68299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66" creationId="{985213CE-F516-6F39-8582-7193589D0C26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72" creationId="{FA1E00E1-F3D4-F350-075A-ABC5528C6BA9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75" creationId="{2B89BC63-EDE5-B869-288C-E697781728C3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77" creationId="{F3FF08E9-CAF4-55BB-C218-DB0DD0C48721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78" creationId="{87EC78C2-F04D-7931-F29C-090C59189664}"/>
          </ac:spMkLst>
        </pc:spChg>
        <pc:spChg chg="add mod">
          <ac:chgData name="Yoonpyo Hong" userId="0954e97c-29e5-4073-92b7-835ff620f192" providerId="ADAL" clId="{2100B5DF-C4BD-48B2-8583-B68488FE409B}" dt="2026-06-05T23:31:29.467" v="8"/>
          <ac:spMkLst>
            <pc:docMk/>
            <pc:sldMk cId="1423786631" sldId="258"/>
            <ac:spMk id="79" creationId="{31286F2B-33D3-38F3-1BE3-AC284069532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984A1-0F9D-14E5-9F86-888B682D10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181E9-88DC-8591-3AD2-EB1C791CC4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59161-B1CC-35CA-F9A2-A139E498E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E6BCD-8FEC-944D-A819-86CEC2DD0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773C-78ED-FD50-DFAF-90BBB035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50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EA0D4-6A19-FD66-DB66-CDE152D77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5C3E-9D11-31A1-C5C3-551DEE314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2A126-3655-3831-5BBE-B2E457B07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1AACA-88FB-14F0-5475-C0AEE912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8D800C-BC01-15EC-F7C1-2EF7313D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631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C311B-A0C9-3512-23DF-A8358D3CD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26CFFF-18AC-47FF-1964-85068A3CB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EC7DD-B0F1-AD50-30B0-A3846B05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EDA23-3BD3-8109-25C4-08ACA683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7702F-7FA4-9363-847E-EB55991B5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98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DEAEA-9831-3031-DC0B-150EBA991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A6FE9-1DBA-EAE2-5D8B-A00BD93B52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A4954-4EA4-89EF-3D5C-F37E272E7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4416C8-FF76-A87A-82F0-6DE8B1888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576F1-1170-CB8F-F33F-E0374FCDA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2F703-AC67-191A-DA30-0B298DE22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3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4D65-51DF-EC1C-2A7C-8F3D205AB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3AD1C3-CFD1-681E-6836-0ABD7A8DF8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AE149B-4FD7-FDB9-194B-EE73B11949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0DDC72-829A-FFB9-F3EF-FB1510A82E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10F38F-F77C-1685-B8CA-BC37D00ABA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C9CA52-A3B4-0711-70DF-DDB8FADF3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A78DA2-FEBE-69AF-9A11-B7A564576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18AE11-29F0-C7F7-40D8-7DAC24B19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22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1A887-6E1D-FB9E-611D-CB4EC5848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4A4C3-415F-FF7F-F424-A68C1E00A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B4527B-6321-3AAE-5267-E157CE477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A93436-E6C7-FB66-61D0-1ECDDBCC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402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B551E0-B12C-0FB2-88EE-F392F97B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955E2C-EC55-C583-D6C4-5D76204F2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1F8D-A6E0-232F-03EF-D222DA506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52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C412-81BC-4EA1-A30C-5F52D5D3B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8495F-582D-65A6-8B34-DBFE3A90D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B6C04-0DA1-0F58-3C8C-804CE1B04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1CFAB7-3B97-6EE6-B513-B55E8151C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E72CCE-8CF3-E79B-D22C-1C4C31C12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B45F3-464C-28D9-EBAF-362A4F0B4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36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568CE-9128-AF73-EA48-9136FC5F5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1BC44-74ED-DEAB-D7AA-3A1E026EDB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68A194-3FC9-27D2-A988-25E49B0BB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0888AD-1964-8DC2-B655-35E84FC3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D2480-100C-C503-F169-8ADC5E8E0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1BDCCD-CF72-1AB5-47B7-E3E852A9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565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F2A1-001C-905E-D886-65BC4A63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51EAD7-39FA-2C27-9BC6-8E07EB59C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6BF1F-CA22-A0BA-4D6D-4A3B5E4E5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513C0-3AB7-8BA5-930E-C0C03AC7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A72D0-5891-B407-BB33-DA337DA9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214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C4D1A1-9691-2CA1-9035-A6C0BC673E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BFCE84-DE4B-CD04-828A-4F9803571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B33AD-06CF-217A-6B91-5741B9B4D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CE44E-0F9B-6323-6D90-6407E9760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4026F-2227-2C24-71E0-FEF9AB57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032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EFF2D4-F1DE-0E8A-6068-E242AA16B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7297FA-0BAA-688D-4535-B23601174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DA3EF-8890-D034-0AFD-2E77AEE15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478ACC-1910-4C5B-ABC4-B0A3D198528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2DE95-7F35-3A17-883C-392A0846F9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88033-15EB-5D1F-127F-634803E822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15106F-011B-4518-BF39-7FBC1FA637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930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387490-DCEE-380B-FED8-D26AC6E560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E68CD-DB58-8DEF-75E2-971D912E84F2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3AB2C94-01D0-33C6-CE3C-6B86CB94329B}"/>
              </a:ext>
            </a:extLst>
          </p:cNvPr>
          <p:cNvSpPr/>
          <p:nvPr/>
        </p:nvSpPr>
        <p:spPr>
          <a:xfrm>
            <a:off x="384048" y="749808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Implementation: </a:t>
            </a:r>
            <a:r>
              <a:rPr lang="en-US" sz="192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4-Way 비교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로 KD 효과를 검증</a:t>
            </a:r>
            <a:endParaRPr lang="en-US" sz="192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629FC2A9-4F56-7EB8-30F9-818609E0A5F1}"/>
              </a:ext>
            </a:extLst>
          </p:cNvPr>
          <p:cNvSpPr/>
          <p:nvPr/>
        </p:nvSpPr>
        <p:spPr>
          <a:xfrm>
            <a:off x="384048" y="1389888"/>
            <a:ext cx="11155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 / KD / FT / Base를 동일 조건으로 비교하여 지식 증류 효과와 경량화 이점을 동시에 평가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8" name="Shape 10">
            <a:extLst>
              <a:ext uri="{FF2B5EF4-FFF2-40B4-BE49-F238E27FC236}">
                <a16:creationId xmlns:a16="http://schemas.microsoft.com/office/drawing/2014/main" id="{504F6A85-1172-E692-FB8A-D3D44D2A37C9}"/>
              </a:ext>
            </a:extLst>
          </p:cNvPr>
          <p:cNvSpPr/>
          <p:nvPr/>
        </p:nvSpPr>
        <p:spPr>
          <a:xfrm>
            <a:off x="384048" y="1920240"/>
            <a:ext cx="3200400" cy="422452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B617B2D1-25B3-A5B5-BB22-18BD10A8FA72}"/>
              </a:ext>
            </a:extLst>
          </p:cNvPr>
          <p:cNvSpPr/>
          <p:nvPr/>
        </p:nvSpPr>
        <p:spPr>
          <a:xfrm>
            <a:off x="603504" y="2103120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실험 설정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B0515B37-11C0-AEA4-2AA1-DD50C73024BF}"/>
              </a:ext>
            </a:extLst>
          </p:cNvPr>
          <p:cNvSpPr/>
          <p:nvPr/>
        </p:nvSpPr>
        <p:spPr>
          <a:xfrm>
            <a:off x="603504" y="2505456"/>
            <a:ext cx="2724912" cy="512064"/>
          </a:xfrm>
          <a:prstGeom prst="roundRect">
            <a:avLst>
              <a:gd name="adj" fmla="val 7143"/>
            </a:avLst>
          </a:prstGeom>
          <a:noFill/>
          <a:ln w="6350">
            <a:solidFill>
              <a:srgbClr val="0070C0"/>
            </a:solidFill>
            <a:prstDash val="solid"/>
          </a:ln>
        </p:spPr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9287CE32-C723-50DA-2629-A2BADE5E5B65}"/>
              </a:ext>
            </a:extLst>
          </p:cNvPr>
          <p:cNvSpPr/>
          <p:nvPr/>
        </p:nvSpPr>
        <p:spPr>
          <a:xfrm>
            <a:off x="713232" y="2569464"/>
            <a:ext cx="121462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BB2BC8ED-2BA6-7F83-3D29-5650A8B9EE33}"/>
              </a:ext>
            </a:extLst>
          </p:cNvPr>
          <p:cNvSpPr/>
          <p:nvPr/>
        </p:nvSpPr>
        <p:spPr>
          <a:xfrm>
            <a:off x="1481328" y="2560320"/>
            <a:ext cx="1719072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GPT-2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124M params / 498MB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3" name="Shape 15">
            <a:extLst>
              <a:ext uri="{FF2B5EF4-FFF2-40B4-BE49-F238E27FC236}">
                <a16:creationId xmlns:a16="http://schemas.microsoft.com/office/drawing/2014/main" id="{2A131E6F-D13D-3C18-72E0-84A824D458B2}"/>
              </a:ext>
            </a:extLst>
          </p:cNvPr>
          <p:cNvSpPr/>
          <p:nvPr/>
        </p:nvSpPr>
        <p:spPr>
          <a:xfrm>
            <a:off x="603504" y="3108960"/>
            <a:ext cx="272491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0070C0"/>
            </a:solidFill>
            <a:prstDash val="solid"/>
          </a:ln>
        </p:spPr>
      </p:sp>
      <p:sp>
        <p:nvSpPr>
          <p:cNvPr id="14" name="Text 16">
            <a:extLst>
              <a:ext uri="{FF2B5EF4-FFF2-40B4-BE49-F238E27FC236}">
                <a16:creationId xmlns:a16="http://schemas.microsoft.com/office/drawing/2014/main" id="{2DE06E91-E062-C47A-9468-5CC19D3C5926}"/>
              </a:ext>
            </a:extLst>
          </p:cNvPr>
          <p:cNvSpPr/>
          <p:nvPr/>
        </p:nvSpPr>
        <p:spPr>
          <a:xfrm>
            <a:off x="713232" y="3172968"/>
            <a:ext cx="121462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4DF6A20C-1A89-5DFB-58B5-5A33E59DC46F}"/>
              </a:ext>
            </a:extLst>
          </p:cNvPr>
          <p:cNvSpPr/>
          <p:nvPr/>
        </p:nvSpPr>
        <p:spPr>
          <a:xfrm>
            <a:off x="1481328" y="3163824"/>
            <a:ext cx="1719072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DistilGPT-2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82M params / 328MB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5429180D-809D-B552-51B1-4E713B305666}"/>
              </a:ext>
            </a:extLst>
          </p:cNvPr>
          <p:cNvSpPr/>
          <p:nvPr/>
        </p:nvSpPr>
        <p:spPr>
          <a:xfrm>
            <a:off x="603504" y="3712464"/>
            <a:ext cx="2724912" cy="420624"/>
          </a:xfrm>
          <a:prstGeom prst="roundRect">
            <a:avLst>
              <a:gd name="adj" fmla="val 8696"/>
            </a:avLst>
          </a:prstGeom>
          <a:noFill/>
          <a:ln w="6350">
            <a:solidFill>
              <a:srgbClr val="0070C0"/>
            </a:solidFill>
            <a:prstDash val="solid"/>
          </a:ln>
        </p:spPr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E9755D7D-7F83-B671-84C5-640FBA9F3158}"/>
              </a:ext>
            </a:extLst>
          </p:cNvPr>
          <p:cNvSpPr/>
          <p:nvPr/>
        </p:nvSpPr>
        <p:spPr>
          <a:xfrm>
            <a:off x="713232" y="3776472"/>
            <a:ext cx="1214628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Dataset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C5E08E29-CD04-9918-54E4-695986E2FB64}"/>
              </a:ext>
            </a:extLst>
          </p:cNvPr>
          <p:cNvSpPr/>
          <p:nvPr/>
        </p:nvSpPr>
        <p:spPr>
          <a:xfrm>
            <a:off x="1481328" y="3767328"/>
            <a:ext cx="171907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WikiText-2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C7DDBE3A-70C4-A136-6AFC-AB16ED178563}"/>
              </a:ext>
            </a:extLst>
          </p:cNvPr>
          <p:cNvSpPr/>
          <p:nvPr/>
        </p:nvSpPr>
        <p:spPr>
          <a:xfrm>
            <a:off x="603504" y="4224528"/>
            <a:ext cx="272491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6350">
            <a:solidFill>
              <a:srgbClr val="0070C0"/>
            </a:solidFill>
            <a:prstDash val="solid"/>
          </a:ln>
        </p:spPr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B7942DC0-0829-FB4E-DE64-B47152032E32}"/>
              </a:ext>
            </a:extLst>
          </p:cNvPr>
          <p:cNvSpPr/>
          <p:nvPr/>
        </p:nvSpPr>
        <p:spPr>
          <a:xfrm>
            <a:off x="713232" y="4288536"/>
            <a:ext cx="1214628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Device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B89440A0-43BB-D30D-6D44-B23F509F84E1}"/>
              </a:ext>
            </a:extLst>
          </p:cNvPr>
          <p:cNvSpPr/>
          <p:nvPr/>
        </p:nvSpPr>
        <p:spPr>
          <a:xfrm>
            <a:off x="1481328" y="4279392"/>
            <a:ext cx="171907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Apple MPS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BBE7DB7F-C6E2-9813-0B46-A3B09AE839AD}"/>
              </a:ext>
            </a:extLst>
          </p:cNvPr>
          <p:cNvSpPr/>
          <p:nvPr/>
        </p:nvSpPr>
        <p:spPr>
          <a:xfrm>
            <a:off x="603504" y="4736592"/>
            <a:ext cx="2724912" cy="420624"/>
          </a:xfrm>
          <a:prstGeom prst="roundRect">
            <a:avLst>
              <a:gd name="adj" fmla="val 8696"/>
            </a:avLst>
          </a:prstGeom>
          <a:solidFill>
            <a:srgbClr val="F8FBFF"/>
          </a:solidFill>
          <a:ln w="6350">
            <a:solidFill>
              <a:srgbClr val="0070C0"/>
            </a:solidFill>
            <a:prstDash val="solid"/>
          </a:ln>
        </p:spPr>
      </p:sp>
      <p:sp>
        <p:nvSpPr>
          <p:cNvPr id="23" name="Text 25">
            <a:extLst>
              <a:ext uri="{FF2B5EF4-FFF2-40B4-BE49-F238E27FC236}">
                <a16:creationId xmlns:a16="http://schemas.microsoft.com/office/drawing/2014/main" id="{99BDE49A-023E-7C1E-B200-5370EBC8DCF6}"/>
              </a:ext>
            </a:extLst>
          </p:cNvPr>
          <p:cNvSpPr/>
          <p:nvPr/>
        </p:nvSpPr>
        <p:spPr>
          <a:xfrm>
            <a:off x="713232" y="4800600"/>
            <a:ext cx="1214628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KD Loss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6DF9B3CE-E5BE-A132-1EC4-1B682DE85800}"/>
              </a:ext>
            </a:extLst>
          </p:cNvPr>
          <p:cNvSpPr/>
          <p:nvPr/>
        </p:nvSpPr>
        <p:spPr>
          <a:xfrm>
            <a:off x="1481328" y="4791456"/>
            <a:ext cx="171907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α·CE + (1-α)·T²·KL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5" name="Shape 27">
            <a:extLst>
              <a:ext uri="{FF2B5EF4-FFF2-40B4-BE49-F238E27FC236}">
                <a16:creationId xmlns:a16="http://schemas.microsoft.com/office/drawing/2014/main" id="{F88BB6F2-EF7A-86B6-4D05-8B3ED81E5CB5}"/>
              </a:ext>
            </a:extLst>
          </p:cNvPr>
          <p:cNvSpPr/>
          <p:nvPr/>
        </p:nvSpPr>
        <p:spPr>
          <a:xfrm>
            <a:off x="603504" y="5248656"/>
            <a:ext cx="272491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6350">
            <a:solidFill>
              <a:srgbClr val="0070C0"/>
            </a:solidFill>
            <a:prstDash val="solid"/>
          </a:ln>
        </p:spPr>
      </p:sp>
      <p:sp>
        <p:nvSpPr>
          <p:cNvPr id="26" name="Text 28">
            <a:extLst>
              <a:ext uri="{FF2B5EF4-FFF2-40B4-BE49-F238E27FC236}">
                <a16:creationId xmlns:a16="http://schemas.microsoft.com/office/drawing/2014/main" id="{965DF50D-25A9-F712-8DE7-861EA506CBD6}"/>
              </a:ext>
            </a:extLst>
          </p:cNvPr>
          <p:cNvSpPr/>
          <p:nvPr/>
        </p:nvSpPr>
        <p:spPr>
          <a:xfrm>
            <a:off x="713232" y="5312664"/>
            <a:ext cx="1214628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4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평가 구조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B0678BCE-D0FC-4773-0C65-253F0044B449}"/>
              </a:ext>
            </a:extLst>
          </p:cNvPr>
          <p:cNvSpPr/>
          <p:nvPr/>
        </p:nvSpPr>
        <p:spPr>
          <a:xfrm>
            <a:off x="1481328" y="5303520"/>
            <a:ext cx="171907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 / KD / FT / Base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AE3C4EEE-2ED9-BA8A-21AF-CD669265B836}"/>
              </a:ext>
            </a:extLst>
          </p:cNvPr>
          <p:cNvSpPr/>
          <p:nvPr/>
        </p:nvSpPr>
        <p:spPr>
          <a:xfrm>
            <a:off x="3977640" y="1920240"/>
            <a:ext cx="228600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4-Way 비교 프레임워크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29" name="Shape 31">
            <a:extLst>
              <a:ext uri="{FF2B5EF4-FFF2-40B4-BE49-F238E27FC236}">
                <a16:creationId xmlns:a16="http://schemas.microsoft.com/office/drawing/2014/main" id="{BB4ED065-7C92-65B5-DEB5-4AB195701DC5}"/>
              </a:ext>
            </a:extLst>
          </p:cNvPr>
          <p:cNvSpPr/>
          <p:nvPr/>
        </p:nvSpPr>
        <p:spPr>
          <a:xfrm>
            <a:off x="3977640" y="2331720"/>
            <a:ext cx="168249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30" name="Shape 32">
            <a:extLst>
              <a:ext uri="{FF2B5EF4-FFF2-40B4-BE49-F238E27FC236}">
                <a16:creationId xmlns:a16="http://schemas.microsoft.com/office/drawing/2014/main" id="{9E77B10D-EE76-4D17-5E46-BD9571CF1337}"/>
              </a:ext>
            </a:extLst>
          </p:cNvPr>
          <p:cNvSpPr/>
          <p:nvPr/>
        </p:nvSpPr>
        <p:spPr>
          <a:xfrm>
            <a:off x="4123944" y="2505456"/>
            <a:ext cx="457200" cy="457200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74174D62-688A-562D-D7E4-F693482C0CAF}"/>
              </a:ext>
            </a:extLst>
          </p:cNvPr>
          <p:cNvSpPr/>
          <p:nvPr/>
        </p:nvSpPr>
        <p:spPr>
          <a:xfrm>
            <a:off x="4123944" y="25146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8AAE35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2" name="Text 34">
            <a:extLst>
              <a:ext uri="{FF2B5EF4-FFF2-40B4-BE49-F238E27FC236}">
                <a16:creationId xmlns:a16="http://schemas.microsoft.com/office/drawing/2014/main" id="{355327BC-3141-7BF9-0DAF-6B7B277DEDF9}"/>
              </a:ext>
            </a:extLst>
          </p:cNvPr>
          <p:cNvSpPr/>
          <p:nvPr/>
        </p:nvSpPr>
        <p:spPr>
          <a:xfrm>
            <a:off x="4678299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b="1" dirty="0">
                <a:solidFill>
                  <a:srgbClr val="8AAE35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 (FT)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EA1A4BBE-62C6-E878-4884-E08832939A07}"/>
              </a:ext>
            </a:extLst>
          </p:cNvPr>
          <p:cNvSpPr/>
          <p:nvPr/>
        </p:nvSpPr>
        <p:spPr>
          <a:xfrm>
            <a:off x="4123944" y="3136392"/>
            <a:ext cx="138988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도메인 FT 후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Frozen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A162897-97AD-AC95-D3B3-0C29AF1ACD20}"/>
              </a:ext>
            </a:extLst>
          </p:cNvPr>
          <p:cNvSpPr/>
          <p:nvPr/>
        </p:nvSpPr>
        <p:spPr>
          <a:xfrm>
            <a:off x="6007608" y="2331720"/>
            <a:ext cx="168249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35" name="Shape 38">
            <a:extLst>
              <a:ext uri="{FF2B5EF4-FFF2-40B4-BE49-F238E27FC236}">
                <a16:creationId xmlns:a16="http://schemas.microsoft.com/office/drawing/2014/main" id="{C4419C36-D2ED-C8F2-45FC-5D07EE8E2F05}"/>
              </a:ext>
            </a:extLst>
          </p:cNvPr>
          <p:cNvSpPr/>
          <p:nvPr/>
        </p:nvSpPr>
        <p:spPr>
          <a:xfrm>
            <a:off x="6153912" y="2505456"/>
            <a:ext cx="457200" cy="457200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9F1A3A0D-E537-FBA6-A5B3-9B4E22AF6668}"/>
              </a:ext>
            </a:extLst>
          </p:cNvPr>
          <p:cNvSpPr/>
          <p:nvPr/>
        </p:nvSpPr>
        <p:spPr>
          <a:xfrm>
            <a:off x="6153912" y="25146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3BA568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KD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7" name="Text 40">
            <a:extLst>
              <a:ext uri="{FF2B5EF4-FFF2-40B4-BE49-F238E27FC236}">
                <a16:creationId xmlns:a16="http://schemas.microsoft.com/office/drawing/2014/main" id="{71153503-2B28-EBCF-CD29-2C87AA4E1A69}"/>
              </a:ext>
            </a:extLst>
          </p:cNvPr>
          <p:cNvSpPr/>
          <p:nvPr/>
        </p:nvSpPr>
        <p:spPr>
          <a:xfrm>
            <a:off x="6712839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200" b="1" dirty="0">
                <a:solidFill>
                  <a:srgbClr val="3BA568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 (KD)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C82B6840-9FD1-3435-14D5-E8CE0E14A318}"/>
              </a:ext>
            </a:extLst>
          </p:cNvPr>
          <p:cNvSpPr/>
          <p:nvPr/>
        </p:nvSpPr>
        <p:spPr>
          <a:xfrm>
            <a:off x="6153912" y="3136392"/>
            <a:ext cx="138988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KD Loss + CE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학습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39" name="Shape 43">
            <a:extLst>
              <a:ext uri="{FF2B5EF4-FFF2-40B4-BE49-F238E27FC236}">
                <a16:creationId xmlns:a16="http://schemas.microsoft.com/office/drawing/2014/main" id="{13385249-B7EA-7F45-8FA1-CCCADA8D0B3F}"/>
              </a:ext>
            </a:extLst>
          </p:cNvPr>
          <p:cNvSpPr/>
          <p:nvPr/>
        </p:nvSpPr>
        <p:spPr>
          <a:xfrm>
            <a:off x="8037576" y="2331720"/>
            <a:ext cx="168249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40" name="Shape 44">
            <a:extLst>
              <a:ext uri="{FF2B5EF4-FFF2-40B4-BE49-F238E27FC236}">
                <a16:creationId xmlns:a16="http://schemas.microsoft.com/office/drawing/2014/main" id="{E0D26225-1E41-C1FD-151A-5BA1D624F9C9}"/>
              </a:ext>
            </a:extLst>
          </p:cNvPr>
          <p:cNvSpPr/>
          <p:nvPr/>
        </p:nvSpPr>
        <p:spPr>
          <a:xfrm>
            <a:off x="8183880" y="2505456"/>
            <a:ext cx="457200" cy="457200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41" name="Text 45">
            <a:extLst>
              <a:ext uri="{FF2B5EF4-FFF2-40B4-BE49-F238E27FC236}">
                <a16:creationId xmlns:a16="http://schemas.microsoft.com/office/drawing/2014/main" id="{FC116F63-AD95-2559-9392-B0B3749ECBA6}"/>
              </a:ext>
            </a:extLst>
          </p:cNvPr>
          <p:cNvSpPr/>
          <p:nvPr/>
        </p:nvSpPr>
        <p:spPr>
          <a:xfrm>
            <a:off x="8183880" y="25146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427A9D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FT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345809CE-81EB-7D02-2957-4475AA215D00}"/>
              </a:ext>
            </a:extLst>
          </p:cNvPr>
          <p:cNvSpPr/>
          <p:nvPr/>
        </p:nvSpPr>
        <p:spPr>
          <a:xfrm>
            <a:off x="8742807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b="1" dirty="0">
                <a:solidFill>
                  <a:srgbClr val="427A9D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 (FT)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3" name="Text 47">
            <a:extLst>
              <a:ext uri="{FF2B5EF4-FFF2-40B4-BE49-F238E27FC236}">
                <a16:creationId xmlns:a16="http://schemas.microsoft.com/office/drawing/2014/main" id="{36D1B2DF-0D46-6E35-58D8-EFF6957F068C}"/>
              </a:ext>
            </a:extLst>
          </p:cNvPr>
          <p:cNvSpPr/>
          <p:nvPr/>
        </p:nvSpPr>
        <p:spPr>
          <a:xfrm>
            <a:off x="8183880" y="3136392"/>
            <a:ext cx="138988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CE Loss만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학습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4" name="Shape 49">
            <a:extLst>
              <a:ext uri="{FF2B5EF4-FFF2-40B4-BE49-F238E27FC236}">
                <a16:creationId xmlns:a16="http://schemas.microsoft.com/office/drawing/2014/main" id="{2FD4568F-2999-5A5A-A478-1B7EFED6A5C2}"/>
              </a:ext>
            </a:extLst>
          </p:cNvPr>
          <p:cNvSpPr/>
          <p:nvPr/>
        </p:nvSpPr>
        <p:spPr>
          <a:xfrm>
            <a:off x="10067544" y="2331720"/>
            <a:ext cx="168249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45" name="Shape 50">
            <a:extLst>
              <a:ext uri="{FF2B5EF4-FFF2-40B4-BE49-F238E27FC236}">
                <a16:creationId xmlns:a16="http://schemas.microsoft.com/office/drawing/2014/main" id="{678E7439-EAA4-3761-C3DF-84894E9EADE9}"/>
              </a:ext>
            </a:extLst>
          </p:cNvPr>
          <p:cNvSpPr/>
          <p:nvPr/>
        </p:nvSpPr>
        <p:spPr>
          <a:xfrm>
            <a:off x="10213848" y="2505456"/>
            <a:ext cx="457200" cy="457200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46" name="Text 51">
            <a:extLst>
              <a:ext uri="{FF2B5EF4-FFF2-40B4-BE49-F238E27FC236}">
                <a16:creationId xmlns:a16="http://schemas.microsoft.com/office/drawing/2014/main" id="{CF9B451D-8462-9225-2EA9-E726490710AF}"/>
              </a:ext>
            </a:extLst>
          </p:cNvPr>
          <p:cNvSpPr/>
          <p:nvPr/>
        </p:nvSpPr>
        <p:spPr>
          <a:xfrm>
            <a:off x="10213848" y="25146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6D4D9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B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7" name="Text 52">
            <a:extLst>
              <a:ext uri="{FF2B5EF4-FFF2-40B4-BE49-F238E27FC236}">
                <a16:creationId xmlns:a16="http://schemas.microsoft.com/office/drawing/2014/main" id="{8FE0C10B-BF40-60B8-F4C8-9B5EA0D1D732}"/>
              </a:ext>
            </a:extLst>
          </p:cNvPr>
          <p:cNvSpPr/>
          <p:nvPr/>
        </p:nvSpPr>
        <p:spPr>
          <a:xfrm>
            <a:off x="10772775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200" b="1" dirty="0">
                <a:solidFill>
                  <a:srgbClr val="6D4D9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r>
              <a:rPr lang="en-US" sz="1200" b="1" dirty="0">
                <a:solidFill>
                  <a:srgbClr val="6D4D9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(Base)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8" name="Text 53">
            <a:extLst>
              <a:ext uri="{FF2B5EF4-FFF2-40B4-BE49-F238E27FC236}">
                <a16:creationId xmlns:a16="http://schemas.microsoft.com/office/drawing/2014/main" id="{5C19C41B-5DD7-0A3C-D00E-4BE9160A9325}"/>
              </a:ext>
            </a:extLst>
          </p:cNvPr>
          <p:cNvSpPr/>
          <p:nvPr/>
        </p:nvSpPr>
        <p:spPr>
          <a:xfrm>
            <a:off x="10213848" y="3136392"/>
            <a:ext cx="138988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추가 학습 없음</a:t>
            </a:r>
            <a:endParaRPr lang="en-US" sz="1050" b="1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49" name="Shape 54">
            <a:extLst>
              <a:ext uri="{FF2B5EF4-FFF2-40B4-BE49-F238E27FC236}">
                <a16:creationId xmlns:a16="http://schemas.microsoft.com/office/drawing/2014/main" id="{4D1F54F0-CE60-2CE9-EE5C-4888CF7209AA}"/>
              </a:ext>
            </a:extLst>
          </p:cNvPr>
          <p:cNvSpPr/>
          <p:nvPr/>
        </p:nvSpPr>
        <p:spPr>
          <a:xfrm>
            <a:off x="7516368" y="3968496"/>
            <a:ext cx="438912" cy="411480"/>
          </a:xfrm>
          <a:prstGeom prst="downArrow">
            <a:avLst/>
          </a:prstGeom>
          <a:solidFill>
            <a:srgbClr val="1D86CA"/>
          </a:solidFill>
          <a:ln w="12700">
            <a:solidFill>
              <a:srgbClr val="1D86CA"/>
            </a:solidFill>
            <a:prstDash val="solid"/>
          </a:ln>
        </p:spPr>
      </p:sp>
      <p:sp>
        <p:nvSpPr>
          <p:cNvPr id="50" name="Shape 55">
            <a:extLst>
              <a:ext uri="{FF2B5EF4-FFF2-40B4-BE49-F238E27FC236}">
                <a16:creationId xmlns:a16="http://schemas.microsoft.com/office/drawing/2014/main" id="{12EDA435-46DC-B9E1-CAC2-4416F7D97F3E}"/>
              </a:ext>
            </a:extLst>
          </p:cNvPr>
          <p:cNvSpPr/>
          <p:nvPr/>
        </p:nvSpPr>
        <p:spPr>
          <a:xfrm>
            <a:off x="3977640" y="4590288"/>
            <a:ext cx="7726680" cy="1170432"/>
          </a:xfrm>
          <a:prstGeom prst="roundRect">
            <a:avLst>
              <a:gd name="adj" fmla="val 6250"/>
            </a:avLst>
          </a:prstGeom>
          <a:solidFill>
            <a:srgbClr val="0E2841">
              <a:lumMod val="10000"/>
              <a:lumOff val="90000"/>
            </a:srgbClr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51" name="Text 56">
            <a:extLst>
              <a:ext uri="{FF2B5EF4-FFF2-40B4-BE49-F238E27FC236}">
                <a16:creationId xmlns:a16="http://schemas.microsoft.com/office/drawing/2014/main" id="{1A7317DC-C28A-366D-1020-19F5C05797F6}"/>
              </a:ext>
            </a:extLst>
          </p:cNvPr>
          <p:cNvSpPr/>
          <p:nvPr/>
        </p:nvSpPr>
        <p:spPr>
          <a:xfrm>
            <a:off x="4206240" y="4718304"/>
            <a:ext cx="43891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r>
              <a:rPr lang="en-US" sz="1200" b="1" dirty="0">
                <a:solidFill>
                  <a:srgbClr val="0C4D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4개 모델을 동일한 4대 지표로 동시 평가</a:t>
            </a:r>
            <a:endParaRPr lang="en-US" sz="1200" dirty="0">
              <a:solidFill>
                <a:srgbClr val="000000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52" name="Shape 57">
            <a:extLst>
              <a:ext uri="{FF2B5EF4-FFF2-40B4-BE49-F238E27FC236}">
                <a16:creationId xmlns:a16="http://schemas.microsoft.com/office/drawing/2014/main" id="{35174CBD-8B5A-2F10-1004-81AD28E3F664}"/>
              </a:ext>
            </a:extLst>
          </p:cNvPr>
          <p:cNvSpPr/>
          <p:nvPr/>
        </p:nvSpPr>
        <p:spPr>
          <a:xfrm>
            <a:off x="4206240" y="5039868"/>
            <a:ext cx="1645920" cy="548640"/>
          </a:xfrm>
          <a:prstGeom prst="roundRect">
            <a:avLst>
              <a:gd name="adj" fmla="val 1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/>
              </a:rPr>
              <a:t>PPL</a:t>
            </a:r>
            <a:br>
              <a:rPr lang="en-US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/>
              </a:rPr>
            </a:br>
            <a:r>
              <a:rPr lang="ko-KR" altLang="en-US" sz="1100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오류율</a:t>
            </a:r>
            <a:endParaRPr lang="en-US" dirty="0">
              <a:solidFill>
                <a:srgbClr val="FFFFFF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53" name="Shape 60">
            <a:extLst>
              <a:ext uri="{FF2B5EF4-FFF2-40B4-BE49-F238E27FC236}">
                <a16:creationId xmlns:a16="http://schemas.microsoft.com/office/drawing/2014/main" id="{48170D76-57E2-6F6D-A8A7-271F6E35EC6A}"/>
              </a:ext>
            </a:extLst>
          </p:cNvPr>
          <p:cNvSpPr/>
          <p:nvPr/>
        </p:nvSpPr>
        <p:spPr>
          <a:xfrm>
            <a:off x="6081776" y="5039868"/>
            <a:ext cx="1645920" cy="548640"/>
          </a:xfrm>
          <a:prstGeom prst="roundRect">
            <a:avLst>
              <a:gd name="adj" fmla="val 1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b="1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추론 속도</a:t>
            </a:r>
            <a:endParaRPr lang="en-US" altLang="ko-KR" b="1" dirty="0">
              <a:solidFill>
                <a:srgbClr val="FFFFFF"/>
              </a:solidFill>
              <a:latin typeface="Malgun Gothic" panose="020B0503020000020004" pitchFamily="34" charset="-127"/>
              <a:cs typeface="Calibri"/>
            </a:endParaRP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/>
              </a:rPr>
              <a:t>tokens/sec</a:t>
            </a:r>
          </a:p>
        </p:txBody>
      </p:sp>
      <p:sp>
        <p:nvSpPr>
          <p:cNvPr id="54" name="Shape 63">
            <a:extLst>
              <a:ext uri="{FF2B5EF4-FFF2-40B4-BE49-F238E27FC236}">
                <a16:creationId xmlns:a16="http://schemas.microsoft.com/office/drawing/2014/main" id="{5DDFE7F9-AB6A-C198-959F-28DD758B562D}"/>
              </a:ext>
            </a:extLst>
          </p:cNvPr>
          <p:cNvSpPr/>
          <p:nvPr/>
        </p:nvSpPr>
        <p:spPr>
          <a:xfrm>
            <a:off x="7957312" y="5039868"/>
            <a:ext cx="1645920" cy="548640"/>
          </a:xfrm>
          <a:prstGeom prst="roundRect">
            <a:avLst>
              <a:gd name="adj" fmla="val 1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b="1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생성 품질</a:t>
            </a:r>
            <a:endParaRPr lang="en-US" altLang="ko-KR" b="1" dirty="0">
              <a:solidFill>
                <a:srgbClr val="FFFFFF"/>
              </a:solidFill>
              <a:latin typeface="Malgun Gothic" panose="020B0503020000020004" pitchFamily="34" charset="-127"/>
              <a:cs typeface="Calibri"/>
            </a:endParaRPr>
          </a:p>
          <a:p>
            <a:pPr algn="ctr"/>
            <a:r>
              <a:rPr lang="ko-KR" altLang="en-US" sz="1100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정성 비교</a:t>
            </a:r>
            <a:endParaRPr lang="en-US" sz="1100" dirty="0">
              <a:solidFill>
                <a:srgbClr val="FFFFFF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55" name="Shape 66">
            <a:extLst>
              <a:ext uri="{FF2B5EF4-FFF2-40B4-BE49-F238E27FC236}">
                <a16:creationId xmlns:a16="http://schemas.microsoft.com/office/drawing/2014/main" id="{B4117ED7-8DD8-3B51-7BC1-C7FE7C29EDC1}"/>
              </a:ext>
            </a:extLst>
          </p:cNvPr>
          <p:cNvSpPr/>
          <p:nvPr/>
        </p:nvSpPr>
        <p:spPr>
          <a:xfrm>
            <a:off x="9832848" y="5039868"/>
            <a:ext cx="1645920" cy="548640"/>
          </a:xfrm>
          <a:prstGeom prst="roundRect">
            <a:avLst>
              <a:gd name="adj" fmla="val 1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메모리</a:t>
            </a:r>
            <a:endParaRPr lang="en-US" altLang="ko-KR" dirty="0">
              <a:solidFill>
                <a:srgbClr val="FFFFFF"/>
              </a:solidFill>
              <a:latin typeface="Malgun Gothic" panose="020B0503020000020004" pitchFamily="34" charset="-127"/>
              <a:cs typeface="Calibri"/>
            </a:endParaRPr>
          </a:p>
          <a:p>
            <a:pPr algn="ctr"/>
            <a:r>
              <a:rPr lang="ko-KR" altLang="en-US" sz="1100" dirty="0">
                <a:solidFill>
                  <a:srgbClr val="FFFFFF"/>
                </a:solidFill>
                <a:latin typeface="Malgun Gothic" panose="020B0503020000020004" pitchFamily="34" charset="-127"/>
                <a:cs typeface="Calibri"/>
              </a:rPr>
              <a:t>사용량</a:t>
            </a:r>
            <a:endParaRPr lang="en-US" sz="1100" dirty="0">
              <a:solidFill>
                <a:srgbClr val="FFFFFF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56" name="Shape 6">
            <a:extLst>
              <a:ext uri="{FF2B5EF4-FFF2-40B4-BE49-F238E27FC236}">
                <a16:creationId xmlns:a16="http://schemas.microsoft.com/office/drawing/2014/main" id="{C59D200F-5436-B855-F1DA-E5DE89319D3D}"/>
              </a:ext>
            </a:extLst>
          </p:cNvPr>
          <p:cNvSpPr/>
          <p:nvPr/>
        </p:nvSpPr>
        <p:spPr>
          <a:xfrm>
            <a:off x="384048" y="1298448"/>
            <a:ext cx="11365992" cy="0"/>
          </a:xfrm>
          <a:prstGeom prst="line">
            <a:avLst/>
          </a:prstGeom>
          <a:noFill/>
          <a:ln w="16510">
            <a:solidFill>
              <a:srgbClr val="11182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62473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D711E-1096-3AB3-3A70-61C034F2B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">
            <a:extLst>
              <a:ext uri="{FF2B5EF4-FFF2-40B4-BE49-F238E27FC236}">
                <a16:creationId xmlns:a16="http://schemas.microsoft.com/office/drawing/2014/main" id="{C11AB84E-61BF-29EC-97C7-37B31C86F821}"/>
              </a:ext>
            </a:extLst>
          </p:cNvPr>
          <p:cNvSpPr/>
          <p:nvPr/>
        </p:nvSpPr>
        <p:spPr>
          <a:xfrm>
            <a:off x="384048" y="1737359"/>
            <a:ext cx="5532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205E6-7EB7-C4BE-A9A1-12B99A9D50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987B3B-4DE3-A045-5792-99E9E873226F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58" name="Text 7">
            <a:extLst>
              <a:ext uri="{FF2B5EF4-FFF2-40B4-BE49-F238E27FC236}">
                <a16:creationId xmlns:a16="http://schemas.microsoft.com/office/drawing/2014/main" id="{AFCA1476-9608-FC67-3155-A9C2D3CA506A}"/>
              </a:ext>
            </a:extLst>
          </p:cNvPr>
          <p:cNvSpPr/>
          <p:nvPr/>
        </p:nvSpPr>
        <p:spPr>
          <a:xfrm>
            <a:off x="384048" y="1389888"/>
            <a:ext cx="11155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Gap = KD PPL – FT PPL, 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음수일수록 </a:t>
            </a:r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KD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가 </a:t>
            </a:r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FT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보다 우수</a:t>
            </a:r>
          </a:p>
        </p:txBody>
      </p:sp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E859A715-922C-B1E6-92BE-A6838991D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3166093"/>
              </p:ext>
            </p:extLst>
          </p:nvPr>
        </p:nvGraphicFramePr>
        <p:xfrm>
          <a:off x="484704" y="2168974"/>
          <a:ext cx="5330808" cy="1945825"/>
        </p:xfrm>
        <a:graphic>
          <a:graphicData uri="http://schemas.openxmlformats.org/drawingml/2006/table">
            <a:tbl>
              <a:tblPr firstRow="1" bandRow="1"/>
              <a:tblGrid>
                <a:gridCol w="761544">
                  <a:extLst>
                    <a:ext uri="{9D8B030D-6E8A-4147-A177-3AD203B41FA5}">
                      <a16:colId xmlns:a16="http://schemas.microsoft.com/office/drawing/2014/main" val="370528977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4269664184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993654360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2389571587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401366065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1366892736"/>
                    </a:ext>
                  </a:extLst>
                </a:gridCol>
                <a:gridCol w="761544">
                  <a:extLst>
                    <a:ext uri="{9D8B030D-6E8A-4147-A177-3AD203B41FA5}">
                      <a16:colId xmlns:a16="http://schemas.microsoft.com/office/drawing/2014/main" val="4201766437"/>
                    </a:ext>
                  </a:extLst>
                </a:gridCol>
              </a:tblGrid>
              <a:tr h="530681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Exp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Teacher FT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l-GR" sz="1100" b="1" dirty="0">
                          <a:solidFill>
                            <a:schemeClr val="bg1"/>
                          </a:solidFill>
                          <a:latin typeface="Malgun Gothic (Body)"/>
                          <a:ea typeface="+mn-ea"/>
                        </a:rPr>
                        <a:t>α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Epochs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KD PPL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FT PPL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Gap</a:t>
                      </a:r>
                    </a:p>
                  </a:txBody>
                  <a:tcPr marT="0" marB="0" anchor="ctr">
                    <a:lnL>
                      <a:noFill/>
                    </a:lnL>
                    <a:lnR w="12700" cmpd="sng"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386247"/>
                  </a:ext>
                </a:extLst>
              </a:tr>
              <a:tr h="353786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Exp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03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>
                      <a:noFill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X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0.3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48.96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32.56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solidFill>
                            <a:srgbClr val="EE0000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+16.40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8573996"/>
                  </a:ext>
                </a:extLst>
              </a:tr>
              <a:tr h="353786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Exp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06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>
                      <a:noFill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O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0.5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33.00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32.56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+0.44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475573"/>
                  </a:ext>
                </a:extLst>
              </a:tr>
              <a:tr h="353786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Exp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07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>
                      <a:noFill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O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0.3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5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32.89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32.68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+0.21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974385"/>
                  </a:ext>
                </a:extLst>
              </a:tr>
              <a:tr h="353786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latin typeface="Malgun Gothic" panose="020B0503020000020004" pitchFamily="34" charset="-127"/>
                          <a:ea typeface="+mn-ea"/>
                        </a:rPr>
                        <a:t>Exp</a:t>
                      </a:r>
                      <a:r>
                        <a:rPr lang="ko-KR" altLang="en-US" sz="1100" b="1" dirty="0">
                          <a:latin typeface="Malgun Gothic" panose="020B0503020000020004" pitchFamily="34" charset="-127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latin typeface="Malgun Gothic" panose="020B0503020000020004" pitchFamily="34" charset="-127"/>
                          <a:ea typeface="+mn-ea"/>
                        </a:rPr>
                        <a:t>08</a:t>
                      </a:r>
                      <a:endParaRPr lang="en-US" sz="1100" b="1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latin typeface="Malgun Gothic" panose="020B0503020000020004" pitchFamily="34" charset="-127"/>
                          <a:ea typeface="+mn-ea"/>
                        </a:rPr>
                        <a:t>O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latin typeface="Malgun Gothic" panose="020B0503020000020004" pitchFamily="34" charset="-127"/>
                          <a:ea typeface="+mn-ea"/>
                        </a:rPr>
                        <a:t>0.2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latin typeface="Malgun Gothic" panose="020B0503020000020004" pitchFamily="34" charset="-127"/>
                          <a:ea typeface="+mn-ea"/>
                        </a:rPr>
                        <a:t>8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32.44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latin typeface="Malgun Gothic" panose="020B0503020000020004" pitchFamily="34" charset="-127"/>
                          <a:ea typeface="+mn-ea"/>
                        </a:rPr>
                        <a:t>32.82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-0.38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3442396"/>
                  </a:ext>
                </a:extLst>
              </a:tr>
            </a:tbl>
          </a:graphicData>
        </a:graphic>
      </p:graphicFrame>
      <p:sp>
        <p:nvSpPr>
          <p:cNvPr id="60" name="Shape 11">
            <a:extLst>
              <a:ext uri="{FF2B5EF4-FFF2-40B4-BE49-F238E27FC236}">
                <a16:creationId xmlns:a16="http://schemas.microsoft.com/office/drawing/2014/main" id="{4ED45AF7-8DF6-C772-1A71-179948EA4EC4}"/>
              </a:ext>
            </a:extLst>
          </p:cNvPr>
          <p:cNvSpPr/>
          <p:nvPr/>
        </p:nvSpPr>
        <p:spPr>
          <a:xfrm>
            <a:off x="484704" y="1834895"/>
            <a:ext cx="1419604" cy="238668"/>
          </a:xfrm>
          <a:prstGeom prst="roundRect">
            <a:avLst>
              <a:gd name="adj" fmla="val 2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100" b="1" dirty="0">
                <a:solidFill>
                  <a:srgbClr val="FFFFFF"/>
                </a:solidFill>
                <a:cs typeface="Calibri"/>
              </a:rPr>
              <a:t>히스토리</a:t>
            </a:r>
            <a:endParaRPr lang="en-US" sz="11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957FCE8C-DEE6-A8A9-5FE7-910015DFC3A5}"/>
              </a:ext>
            </a:extLst>
          </p:cNvPr>
          <p:cNvSpPr/>
          <p:nvPr/>
        </p:nvSpPr>
        <p:spPr>
          <a:xfrm>
            <a:off x="384048" y="749808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Result: </a:t>
            </a:r>
            <a:r>
              <a:rPr lang="en-US" sz="192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Exp08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에서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KD가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FT보다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낮은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PPL을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확인</a:t>
            </a:r>
            <a:endParaRPr lang="en-US" sz="192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62" name="Shape 10">
            <a:extLst>
              <a:ext uri="{FF2B5EF4-FFF2-40B4-BE49-F238E27FC236}">
                <a16:creationId xmlns:a16="http://schemas.microsoft.com/office/drawing/2014/main" id="{E870D389-D20D-5AF1-5BCE-8A84A0E1F2AE}"/>
              </a:ext>
            </a:extLst>
          </p:cNvPr>
          <p:cNvSpPr/>
          <p:nvPr/>
        </p:nvSpPr>
        <p:spPr>
          <a:xfrm>
            <a:off x="6275834" y="1737359"/>
            <a:ext cx="5532120" cy="2514595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5E245591-576D-E553-E2AC-5D3A7BB96027}"/>
              </a:ext>
            </a:extLst>
          </p:cNvPr>
          <p:cNvSpPr/>
          <p:nvPr/>
        </p:nvSpPr>
        <p:spPr>
          <a:xfrm>
            <a:off x="384048" y="1298448"/>
            <a:ext cx="11365992" cy="0"/>
          </a:xfrm>
          <a:prstGeom prst="line">
            <a:avLst/>
          </a:prstGeom>
          <a:noFill/>
          <a:ln w="16510">
            <a:solidFill>
              <a:srgbClr val="111827"/>
            </a:solidFill>
            <a:prstDash val="solid"/>
          </a:ln>
        </p:spPr>
      </p:sp>
      <p:sp>
        <p:nvSpPr>
          <p:cNvPr id="64" name="Shape 11">
            <a:extLst>
              <a:ext uri="{FF2B5EF4-FFF2-40B4-BE49-F238E27FC236}">
                <a16:creationId xmlns:a16="http://schemas.microsoft.com/office/drawing/2014/main" id="{D4E2EA0C-98A6-F8C0-36A0-FD844F57FE7E}"/>
              </a:ext>
            </a:extLst>
          </p:cNvPr>
          <p:cNvSpPr/>
          <p:nvPr/>
        </p:nvSpPr>
        <p:spPr>
          <a:xfrm>
            <a:off x="6400800" y="1834894"/>
            <a:ext cx="2234944" cy="238669"/>
          </a:xfrm>
          <a:prstGeom prst="roundRect">
            <a:avLst>
              <a:gd name="adj" fmla="val 2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100" b="1" dirty="0">
                <a:solidFill>
                  <a:srgbClr val="FFFFFF"/>
                </a:solidFill>
                <a:ea typeface="Calibri"/>
                <a:cs typeface="Calibri"/>
              </a:rPr>
              <a:t>KD </a:t>
            </a:r>
            <a:r>
              <a:rPr lang="ko-KR" altLang="en-US" sz="1100" b="1" dirty="0">
                <a:solidFill>
                  <a:srgbClr val="FFFFFF"/>
                </a:solidFill>
                <a:cs typeface="Calibri"/>
              </a:rPr>
              <a:t>성능 개선 조건</a:t>
            </a:r>
            <a:endParaRPr lang="en-US" sz="11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5" name="Shape 88">
            <a:extLst>
              <a:ext uri="{FF2B5EF4-FFF2-40B4-BE49-F238E27FC236}">
                <a16:creationId xmlns:a16="http://schemas.microsoft.com/office/drawing/2014/main" id="{306C6445-E368-3FF9-9A6C-F398BEB4E099}"/>
              </a:ext>
            </a:extLst>
          </p:cNvPr>
          <p:cNvSpPr/>
          <p:nvPr/>
        </p:nvSpPr>
        <p:spPr>
          <a:xfrm>
            <a:off x="6400800" y="2211324"/>
            <a:ext cx="50749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66" name="Shape 89">
            <a:extLst>
              <a:ext uri="{FF2B5EF4-FFF2-40B4-BE49-F238E27FC236}">
                <a16:creationId xmlns:a16="http://schemas.microsoft.com/office/drawing/2014/main" id="{05DAE24C-BC75-7C9D-18A6-C369C0F18693}"/>
              </a:ext>
            </a:extLst>
          </p:cNvPr>
          <p:cNvSpPr/>
          <p:nvPr/>
        </p:nvSpPr>
        <p:spPr>
          <a:xfrm>
            <a:off x="6510528" y="2330196"/>
            <a:ext cx="292608" cy="292608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67" name="Text 90">
            <a:extLst>
              <a:ext uri="{FF2B5EF4-FFF2-40B4-BE49-F238E27FC236}">
                <a16:creationId xmlns:a16="http://schemas.microsoft.com/office/drawing/2014/main" id="{2400847A-4F72-8981-DF26-56F218C2E928}"/>
              </a:ext>
            </a:extLst>
          </p:cNvPr>
          <p:cNvSpPr/>
          <p:nvPr/>
        </p:nvSpPr>
        <p:spPr>
          <a:xfrm>
            <a:off x="6510528" y="23393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1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68" name="Text 91">
            <a:extLst>
              <a:ext uri="{FF2B5EF4-FFF2-40B4-BE49-F238E27FC236}">
                <a16:creationId xmlns:a16="http://schemas.microsoft.com/office/drawing/2014/main" id="{69E1F3C5-BE77-5566-B58A-A44ED3FC009E}"/>
              </a:ext>
            </a:extLst>
          </p:cNvPr>
          <p:cNvSpPr/>
          <p:nvPr/>
        </p:nvSpPr>
        <p:spPr>
          <a:xfrm>
            <a:off x="7021068" y="2220468"/>
            <a:ext cx="448970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 Fine-Tuning </a:t>
            </a:r>
            <a:r>
              <a:rPr lang="en-US" sz="105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적용</a:t>
            </a:r>
            <a:endParaRPr lang="en-US" sz="105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50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Teacher가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도메인을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모르면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soft target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자체가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약함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gap 16 → 0.44</a:t>
            </a:r>
            <a:endParaRPr lang="en-US" sz="10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69" name="Shape 93">
            <a:extLst>
              <a:ext uri="{FF2B5EF4-FFF2-40B4-BE49-F238E27FC236}">
                <a16:creationId xmlns:a16="http://schemas.microsoft.com/office/drawing/2014/main" id="{9C99B0E2-B256-174B-4965-F20A32EA5505}"/>
              </a:ext>
            </a:extLst>
          </p:cNvPr>
          <p:cNvSpPr/>
          <p:nvPr/>
        </p:nvSpPr>
        <p:spPr>
          <a:xfrm>
            <a:off x="6400800" y="2851404"/>
            <a:ext cx="50749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70" name="Shape 94">
            <a:extLst>
              <a:ext uri="{FF2B5EF4-FFF2-40B4-BE49-F238E27FC236}">
                <a16:creationId xmlns:a16="http://schemas.microsoft.com/office/drawing/2014/main" id="{B1DF7CE2-1C6D-4144-A0DA-F4528D7868DE}"/>
              </a:ext>
            </a:extLst>
          </p:cNvPr>
          <p:cNvSpPr/>
          <p:nvPr/>
        </p:nvSpPr>
        <p:spPr>
          <a:xfrm>
            <a:off x="6510528" y="2970276"/>
            <a:ext cx="292608" cy="292608"/>
          </a:xfrm>
          <a:prstGeom prst="ellipse">
            <a:avLst/>
          </a:prstGeom>
          <a:solidFill>
            <a:srgbClr val="F0F7FF"/>
          </a:solidFill>
          <a:ln w="10160">
            <a:solidFill>
              <a:srgbClr val="BFDDF6"/>
            </a:solidFill>
            <a:prstDash val="solid"/>
          </a:ln>
        </p:spPr>
      </p:sp>
      <p:sp>
        <p:nvSpPr>
          <p:cNvPr id="71" name="Text 95">
            <a:extLst>
              <a:ext uri="{FF2B5EF4-FFF2-40B4-BE49-F238E27FC236}">
                <a16:creationId xmlns:a16="http://schemas.microsoft.com/office/drawing/2014/main" id="{70A6EE04-55F5-FC1E-37EF-882D537C572A}"/>
              </a:ext>
            </a:extLst>
          </p:cNvPr>
          <p:cNvSpPr/>
          <p:nvPr/>
        </p:nvSpPr>
        <p:spPr>
          <a:xfrm>
            <a:off x="6510528" y="29794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3BA568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2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2" name="Text 96">
            <a:extLst>
              <a:ext uri="{FF2B5EF4-FFF2-40B4-BE49-F238E27FC236}">
                <a16:creationId xmlns:a16="http://schemas.microsoft.com/office/drawing/2014/main" id="{B36231CA-4B70-7F83-B1CD-AABAEE44B6D8}"/>
              </a:ext>
            </a:extLst>
          </p:cNvPr>
          <p:cNvSpPr/>
          <p:nvPr/>
        </p:nvSpPr>
        <p:spPr>
          <a:xfrm>
            <a:off x="7021068" y="2860548"/>
            <a:ext cx="4489704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Soft Target </a:t>
            </a:r>
            <a:r>
              <a:rPr lang="en-US" sz="105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의존도</a:t>
            </a:r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강화</a:t>
            </a:r>
            <a:endParaRPr lang="en-US" sz="105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50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soft target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비중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50% → 80% / α를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낮출수록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gap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개선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경향</a:t>
            </a:r>
            <a:endParaRPr lang="en-US" sz="10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3" name="Text 97">
            <a:extLst>
              <a:ext uri="{FF2B5EF4-FFF2-40B4-BE49-F238E27FC236}">
                <a16:creationId xmlns:a16="http://schemas.microsoft.com/office/drawing/2014/main" id="{29FF49F5-653E-81F5-6459-D76FB82665E5}"/>
              </a:ext>
            </a:extLst>
          </p:cNvPr>
          <p:cNvSpPr/>
          <p:nvPr/>
        </p:nvSpPr>
        <p:spPr>
          <a:xfrm>
            <a:off x="7021068" y="3217164"/>
            <a:ext cx="448970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endParaRPr lang="en-US" sz="10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4" name="Shape 98">
            <a:extLst>
              <a:ext uri="{FF2B5EF4-FFF2-40B4-BE49-F238E27FC236}">
                <a16:creationId xmlns:a16="http://schemas.microsoft.com/office/drawing/2014/main" id="{C62D4C3C-730D-873C-F2A1-EA542608F750}"/>
              </a:ext>
            </a:extLst>
          </p:cNvPr>
          <p:cNvSpPr/>
          <p:nvPr/>
        </p:nvSpPr>
        <p:spPr>
          <a:xfrm>
            <a:off x="6400800" y="3491484"/>
            <a:ext cx="50749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75" name="Shape 99">
            <a:extLst>
              <a:ext uri="{FF2B5EF4-FFF2-40B4-BE49-F238E27FC236}">
                <a16:creationId xmlns:a16="http://schemas.microsoft.com/office/drawing/2014/main" id="{0B9944A0-24B4-09A0-1E1C-618938205F4E}"/>
              </a:ext>
            </a:extLst>
          </p:cNvPr>
          <p:cNvSpPr/>
          <p:nvPr/>
        </p:nvSpPr>
        <p:spPr>
          <a:xfrm>
            <a:off x="6510528" y="3610356"/>
            <a:ext cx="292608" cy="292608"/>
          </a:xfrm>
          <a:prstGeom prst="ellipse">
            <a:avLst/>
          </a:prstGeom>
          <a:solidFill>
            <a:srgbClr val="F0F7FF"/>
          </a:solidFill>
          <a:ln w="10160">
            <a:solidFill>
              <a:srgbClr val="0070C0"/>
            </a:solidFill>
            <a:prstDash val="solid"/>
          </a:ln>
        </p:spPr>
      </p:sp>
      <p:sp>
        <p:nvSpPr>
          <p:cNvPr id="76" name="Text 100">
            <a:extLst>
              <a:ext uri="{FF2B5EF4-FFF2-40B4-BE49-F238E27FC236}">
                <a16:creationId xmlns:a16="http://schemas.microsoft.com/office/drawing/2014/main" id="{64396D6E-A60F-7519-EFFC-A9BCBBC9930F}"/>
              </a:ext>
            </a:extLst>
          </p:cNvPr>
          <p:cNvSpPr/>
          <p:nvPr/>
        </p:nvSpPr>
        <p:spPr>
          <a:xfrm>
            <a:off x="6510528" y="36195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59E0B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3</a:t>
            </a:r>
            <a:endParaRPr lang="en-US" sz="14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7" name="Text 101">
            <a:extLst>
              <a:ext uri="{FF2B5EF4-FFF2-40B4-BE49-F238E27FC236}">
                <a16:creationId xmlns:a16="http://schemas.microsoft.com/office/drawing/2014/main" id="{8233900B-C5C6-C276-3981-B25D17CC41AD}"/>
              </a:ext>
            </a:extLst>
          </p:cNvPr>
          <p:cNvSpPr/>
          <p:nvPr/>
        </p:nvSpPr>
        <p:spPr>
          <a:xfrm>
            <a:off x="7021068" y="3506723"/>
            <a:ext cx="4489704" cy="55168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5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Epochs를 3 → 8로 </a:t>
            </a:r>
            <a:r>
              <a:rPr lang="en-US" sz="105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확장</a:t>
            </a:r>
            <a:endParaRPr lang="en-US" sz="105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500" b="1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FT는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과적합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경향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,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KD는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epoch 8까지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안정적</a:t>
            </a:r>
            <a:r>
              <a:rPr lang="en-US" sz="105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수렴</a:t>
            </a:r>
            <a:endParaRPr lang="en-US" sz="10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8" name="Text 102">
            <a:extLst>
              <a:ext uri="{FF2B5EF4-FFF2-40B4-BE49-F238E27FC236}">
                <a16:creationId xmlns:a16="http://schemas.microsoft.com/office/drawing/2014/main" id="{EAA47CA7-C620-8843-7992-B5CF010B913D}"/>
              </a:ext>
            </a:extLst>
          </p:cNvPr>
          <p:cNvSpPr/>
          <p:nvPr/>
        </p:nvSpPr>
        <p:spPr>
          <a:xfrm>
            <a:off x="7021068" y="3857244"/>
            <a:ext cx="448970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endParaRPr lang="en-US" sz="10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9" name="Shape 10">
            <a:extLst>
              <a:ext uri="{FF2B5EF4-FFF2-40B4-BE49-F238E27FC236}">
                <a16:creationId xmlns:a16="http://schemas.microsoft.com/office/drawing/2014/main" id="{5B3ED122-5B1A-A9B4-036F-36D8B5EFE0D1}"/>
              </a:ext>
            </a:extLst>
          </p:cNvPr>
          <p:cNvSpPr/>
          <p:nvPr/>
        </p:nvSpPr>
        <p:spPr>
          <a:xfrm>
            <a:off x="395668" y="4343398"/>
            <a:ext cx="11412285" cy="2382613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24431DB9-7666-A562-8F6E-DD8628B75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74" y="4427897"/>
            <a:ext cx="5431464" cy="2213613"/>
          </a:xfrm>
          <a:prstGeom prst="rect">
            <a:avLst/>
          </a:prstGeom>
          <a:ln>
            <a:noFill/>
          </a:ln>
        </p:spPr>
      </p:pic>
      <p:sp>
        <p:nvSpPr>
          <p:cNvPr id="81" name="Text 104">
            <a:extLst>
              <a:ext uri="{FF2B5EF4-FFF2-40B4-BE49-F238E27FC236}">
                <a16:creationId xmlns:a16="http://schemas.microsoft.com/office/drawing/2014/main" id="{AB14A210-B69A-BF77-1279-5736E5069C3B}"/>
              </a:ext>
            </a:extLst>
          </p:cNvPr>
          <p:cNvSpPr/>
          <p:nvPr/>
        </p:nvSpPr>
        <p:spPr>
          <a:xfrm>
            <a:off x="6800468" y="4655211"/>
            <a:ext cx="4868536" cy="229422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2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Validation Loss </a:t>
            </a:r>
            <a:r>
              <a:rPr lang="en-US" sz="12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해석</a:t>
            </a:r>
            <a:endParaRPr lang="en-US" sz="1200" b="1" dirty="0">
              <a:solidFill>
                <a:srgbClr val="0E73B9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750" b="1" dirty="0">
              <a:solidFill>
                <a:srgbClr val="0E73B9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Student(FT): 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epoch 2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최저점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후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상승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과적합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경향</a:t>
            </a: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Student(KD):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완만한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하강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안정적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수렴</a:t>
            </a: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r>
              <a:rPr lang="ko-KR" altLang="en-US" sz="1200" b="1" dirty="0">
                <a:solidFill>
                  <a:srgbClr val="0E73B9"/>
                </a:solidFill>
                <a:latin typeface="Malgun Gothic" panose="020B0503020000020004" pitchFamily="34" charset="-127"/>
                <a:cs typeface="Noto Sans CJK KR" pitchFamily="34" charset="-120"/>
              </a:rPr>
              <a:t>핵심 메세지</a:t>
            </a:r>
            <a:endParaRPr lang="en-US" altLang="ko-KR" sz="1200" b="1" dirty="0">
              <a:solidFill>
                <a:srgbClr val="0E73B9"/>
              </a:solidFill>
              <a:latin typeface="Malgun Gothic" panose="020B0503020000020004" pitchFamily="34" charset="-127"/>
              <a:cs typeface="Noto Sans CJK KR" pitchFamily="34" charset="-120"/>
            </a:endParaRPr>
          </a:p>
          <a:p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Teacher FT + soft target 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강화 </a:t>
            </a:r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+ 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충분한 </a:t>
            </a:r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epoch 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조건</a:t>
            </a:r>
            <a:r>
              <a:rPr lang="ko-KR" altLang="en-US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에서</a:t>
            </a:r>
          </a:p>
          <a:p>
            <a:r>
              <a:rPr lang="en-US" altLang="ko-KR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KD</a:t>
            </a:r>
            <a:r>
              <a:rPr lang="ko-KR" altLang="en-US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가 </a:t>
            </a:r>
            <a:r>
              <a:rPr lang="en-US" altLang="ko-KR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FT </a:t>
            </a:r>
            <a:r>
              <a:rPr lang="ko-KR" altLang="en-US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대비 −</a:t>
            </a:r>
            <a:r>
              <a:rPr lang="en-US" altLang="ko-KR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0.38 PPL </a:t>
            </a:r>
            <a:r>
              <a:rPr lang="ko-KR" altLang="en-US" sz="1100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개선을 보였다</a:t>
            </a:r>
            <a:endParaRPr lang="en-US" altLang="ko-KR" sz="1100" dirty="0">
              <a:solidFill>
                <a:srgbClr val="111827"/>
              </a:solidFill>
              <a:latin typeface="Malgun Gothic" panose="020B0503020000020004" pitchFamily="34" charset="-127"/>
              <a:cs typeface="Noto Sans CJK KR" pitchFamily="34" charset="-120"/>
            </a:endParaRPr>
          </a:p>
          <a:p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endParaRPr lang="en-US" sz="7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4926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35100-B0F1-AC15-289E-779DC7431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">
            <a:extLst>
              <a:ext uri="{FF2B5EF4-FFF2-40B4-BE49-F238E27FC236}">
                <a16:creationId xmlns:a16="http://schemas.microsoft.com/office/drawing/2014/main" id="{62AE23F9-BF79-852D-709E-3740BEB4F63E}"/>
              </a:ext>
            </a:extLst>
          </p:cNvPr>
          <p:cNvSpPr/>
          <p:nvPr/>
        </p:nvSpPr>
        <p:spPr>
          <a:xfrm>
            <a:off x="384048" y="1737359"/>
            <a:ext cx="410413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C4219D-D496-F0B5-4C76-9D296FECA3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279007B-07CF-8ACB-37F9-83D1B8EDEEB5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</a:ln>
        </p:spPr>
      </p:sp>
      <p:sp>
        <p:nvSpPr>
          <p:cNvPr id="58" name="Text 7">
            <a:extLst>
              <a:ext uri="{FF2B5EF4-FFF2-40B4-BE49-F238E27FC236}">
                <a16:creationId xmlns:a16="http://schemas.microsoft.com/office/drawing/2014/main" id="{50BB6767-2039-6DA9-8FC7-0A2F13E6C692}"/>
              </a:ext>
            </a:extLst>
          </p:cNvPr>
          <p:cNvSpPr/>
          <p:nvPr/>
        </p:nvSpPr>
        <p:spPr>
          <a:xfrm>
            <a:off x="384048" y="1389888"/>
            <a:ext cx="11155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현재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결과는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가능성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확인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단계이며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,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데이터·환경·반복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을 통해</a:t>
            </a:r>
            <a:r>
              <a:rPr lang="en-US" altLang="ko-KR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실험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한계를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보완</a:t>
            </a:r>
            <a:r>
              <a:rPr lang="en-US" sz="110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ko-KR" altLang="en-US" sz="1100" b="1" dirty="0">
                <a:solidFill>
                  <a:srgbClr val="111827"/>
                </a:solidFill>
                <a:latin typeface="Malgun Gothic" panose="020B0503020000020004" pitchFamily="34" charset="-127"/>
                <a:cs typeface="Noto Sans CJK KR" pitchFamily="34" charset="-120"/>
              </a:rPr>
              <a:t>예정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1A64D0E1-878B-6DFD-E1A3-6E7C9188E155}"/>
              </a:ext>
            </a:extLst>
          </p:cNvPr>
          <p:cNvSpPr/>
          <p:nvPr/>
        </p:nvSpPr>
        <p:spPr>
          <a:xfrm>
            <a:off x="384048" y="749808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Roadmap: </a:t>
            </a:r>
            <a:r>
              <a:rPr lang="en-US" sz="192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로컬</a:t>
            </a:r>
            <a:r>
              <a:rPr lang="en-US" sz="192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검증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에서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GPU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재검증과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실버케어</a:t>
            </a:r>
            <a:r>
              <a:rPr lang="en-US" sz="1920" b="1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920" b="1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적용으로</a:t>
            </a:r>
            <a:endParaRPr lang="en-US" sz="192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60" name="Shape 10">
            <a:extLst>
              <a:ext uri="{FF2B5EF4-FFF2-40B4-BE49-F238E27FC236}">
                <a16:creationId xmlns:a16="http://schemas.microsoft.com/office/drawing/2014/main" id="{20D6BD94-650E-4DFF-C714-028534808161}"/>
              </a:ext>
            </a:extLst>
          </p:cNvPr>
          <p:cNvSpPr/>
          <p:nvPr/>
        </p:nvSpPr>
        <p:spPr>
          <a:xfrm>
            <a:off x="4625340" y="1737359"/>
            <a:ext cx="7182614" cy="2514595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</p:sp>
      <p:sp>
        <p:nvSpPr>
          <p:cNvPr id="61" name="Shape 6">
            <a:extLst>
              <a:ext uri="{FF2B5EF4-FFF2-40B4-BE49-F238E27FC236}">
                <a16:creationId xmlns:a16="http://schemas.microsoft.com/office/drawing/2014/main" id="{4D607EA0-A5B4-7E3E-B3F9-123E76D21192}"/>
              </a:ext>
            </a:extLst>
          </p:cNvPr>
          <p:cNvSpPr/>
          <p:nvPr/>
        </p:nvSpPr>
        <p:spPr>
          <a:xfrm>
            <a:off x="384048" y="1298448"/>
            <a:ext cx="11365992" cy="0"/>
          </a:xfrm>
          <a:prstGeom prst="line">
            <a:avLst/>
          </a:prstGeom>
          <a:noFill/>
          <a:ln w="16510">
            <a:solidFill>
              <a:srgbClr val="111827"/>
            </a:solidFill>
            <a:prstDash val="solid"/>
          </a:ln>
        </p:spPr>
      </p:sp>
      <p:sp>
        <p:nvSpPr>
          <p:cNvPr id="62" name="Shape 11">
            <a:extLst>
              <a:ext uri="{FF2B5EF4-FFF2-40B4-BE49-F238E27FC236}">
                <a16:creationId xmlns:a16="http://schemas.microsoft.com/office/drawing/2014/main" id="{96BFC30D-CB0A-C51E-86C9-A16B80D98B31}"/>
              </a:ext>
            </a:extLst>
          </p:cNvPr>
          <p:cNvSpPr/>
          <p:nvPr/>
        </p:nvSpPr>
        <p:spPr>
          <a:xfrm>
            <a:off x="4729353" y="1828801"/>
            <a:ext cx="2234944" cy="238669"/>
          </a:xfrm>
          <a:prstGeom prst="roundRect">
            <a:avLst>
              <a:gd name="adj" fmla="val 20000"/>
            </a:avLst>
          </a:prstGeom>
          <a:solidFill>
            <a:srgbClr val="0C4D84"/>
          </a:solidFill>
          <a:ln w="12700">
            <a:solidFill>
              <a:srgbClr val="0C4D8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100" b="1" dirty="0">
                <a:solidFill>
                  <a:srgbClr val="FFFFFF"/>
                </a:solidFill>
                <a:cs typeface="Calibri"/>
              </a:rPr>
              <a:t>로컬 한계 </a:t>
            </a:r>
            <a:r>
              <a:rPr lang="en-US" sz="80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→ </a:t>
            </a:r>
            <a:r>
              <a:rPr lang="en-US" altLang="ko-KR" sz="1100" b="1" dirty="0">
                <a:solidFill>
                  <a:srgbClr val="FFFFFF"/>
                </a:solidFill>
                <a:ea typeface="Calibri"/>
                <a:cs typeface="Calibri"/>
              </a:rPr>
              <a:t>GPU </a:t>
            </a:r>
            <a:r>
              <a:rPr lang="ko-KR" altLang="en-US" sz="1100" b="1" dirty="0">
                <a:solidFill>
                  <a:srgbClr val="FFFFFF"/>
                </a:solidFill>
                <a:cs typeface="Calibri"/>
              </a:rPr>
              <a:t>활용</a:t>
            </a:r>
            <a:endParaRPr lang="en-US" sz="11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3" name="Text 92">
            <a:extLst>
              <a:ext uri="{FF2B5EF4-FFF2-40B4-BE49-F238E27FC236}">
                <a16:creationId xmlns:a16="http://schemas.microsoft.com/office/drawing/2014/main" id="{B0E000DF-DB90-0EF8-7EED-E02E83F68299}"/>
              </a:ext>
            </a:extLst>
          </p:cNvPr>
          <p:cNvSpPr/>
          <p:nvPr/>
        </p:nvSpPr>
        <p:spPr>
          <a:xfrm>
            <a:off x="8407908" y="630936"/>
            <a:ext cx="4489704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endParaRPr lang="en-US" sz="10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8D5057FB-B781-2481-F00A-48AD67208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916" y="1793749"/>
            <a:ext cx="3949444" cy="2444590"/>
          </a:xfrm>
          <a:prstGeom prst="rect">
            <a:avLst/>
          </a:prstGeom>
          <a:ln>
            <a:noFill/>
          </a:ln>
        </p:spPr>
      </p:pic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D303F2E7-D957-24D0-809C-D6365BF7FDB6}"/>
              </a:ext>
            </a:extLst>
          </p:cNvPr>
          <p:cNvGraphicFramePr>
            <a:graphicFrameLocks noGrp="1"/>
          </p:cNvGraphicFramePr>
          <p:nvPr/>
        </p:nvGraphicFramePr>
        <p:xfrm>
          <a:off x="4729353" y="2139695"/>
          <a:ext cx="6930252" cy="2070484"/>
        </p:xfrm>
        <a:graphic>
          <a:graphicData uri="http://schemas.openxmlformats.org/drawingml/2006/table">
            <a:tbl>
              <a:tblPr firstRow="1" bandRow="1"/>
              <a:tblGrid>
                <a:gridCol w="953613">
                  <a:extLst>
                    <a:ext uri="{9D8B030D-6E8A-4147-A177-3AD203B41FA5}">
                      <a16:colId xmlns:a16="http://schemas.microsoft.com/office/drawing/2014/main" val="370528977"/>
                    </a:ext>
                  </a:extLst>
                </a:gridCol>
                <a:gridCol w="1313199">
                  <a:extLst>
                    <a:ext uri="{9D8B030D-6E8A-4147-A177-3AD203B41FA5}">
                      <a16:colId xmlns:a16="http://schemas.microsoft.com/office/drawing/2014/main" val="4269664184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3808899497"/>
                    </a:ext>
                  </a:extLst>
                </a:gridCol>
              </a:tblGrid>
              <a:tr h="348685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항목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로컬 한계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GPU 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Malgun Gothic" panose="020B0503020000020004" pitchFamily="34" charset="-127"/>
                          <a:ea typeface="+mn-ea"/>
                        </a:rPr>
                        <a:t>센터 활용 방향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5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386247"/>
                  </a:ext>
                </a:extLst>
              </a:tr>
              <a:tr h="573933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데이터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WikiText-2 (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소규모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영어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)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l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대규모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한국어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/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도메인 데이터로 확장 학습 → 도메인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언어 일반화 검증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8573996"/>
                  </a:ext>
                </a:extLst>
              </a:tr>
              <a:tr h="573933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환경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en-US" sz="1100" b="0" dirty="0">
                          <a:latin typeface="Malgun Gothic" panose="020B0503020000020004" pitchFamily="34" charset="-127"/>
                          <a:ea typeface="+mn-ea"/>
                        </a:rPr>
                        <a:t>Apple MPS · batch=4 </a:t>
                      </a:r>
                    </a:p>
                    <a:p>
                      <a:pPr algn="ctr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소규모 실험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l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서버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GPU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로 더 큰 모델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배치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·epoch 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확장 → 스케일업 후 결론 재확인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475573"/>
                  </a:ext>
                </a:extLst>
              </a:tr>
              <a:tr h="573933"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신뢰도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1D1D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ctr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단일 실행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· </a:t>
                      </a:r>
                    </a:p>
                    <a:p>
                      <a:pPr algn="ctr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마진 약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1%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1pPr>
                      <a:lvl2pPr marL="457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2pPr>
                      <a:lvl3pPr marL="914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3pPr>
                      <a:lvl4pPr marL="1371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4pPr>
                      <a:lvl5pPr marL="18288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5pPr>
                      <a:lvl6pPr marL="22860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6pPr>
                      <a:lvl7pPr marL="27432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7pPr>
                      <a:lvl8pPr marL="32004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8pPr>
                      <a:lvl9pPr marL="3657600" algn="l" defTabSz="914400" rtl="0" eaLnBrk="1" latinLnBrk="0" hangingPunct="1">
                        <a:buNone/>
                        <a:defRPr sz="1800" kern="12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defRPr>
                      </a:lvl9pPr>
                    </a:lstStyle>
                    <a:p>
                      <a:pPr algn="l"/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다중 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seed 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반복 측정으로 평균</a:t>
                      </a:r>
                      <a:r>
                        <a:rPr lang="en-US" altLang="ko-KR" sz="1100" b="0" dirty="0">
                          <a:latin typeface="Malgun Gothic" panose="020B0503020000020004" pitchFamily="34" charset="-127"/>
                          <a:ea typeface="+mn-ea"/>
                        </a:rPr>
                        <a:t>±</a:t>
                      </a:r>
                      <a:r>
                        <a:rPr lang="ko-KR" altLang="en-US" sz="1100" b="0" dirty="0">
                          <a:latin typeface="Malgun Gothic" panose="020B0503020000020004" pitchFamily="34" charset="-127"/>
                          <a:ea typeface="+mn-ea"/>
                        </a:rPr>
                        <a:t>편차 산출 → 통계적 유의성 확보</a:t>
                      </a:r>
                      <a:endParaRPr lang="en-US" sz="1100" b="0" dirty="0">
                        <a:latin typeface="Malgun Gothic" panose="020B0503020000020004" pitchFamily="34" charset="-127"/>
                        <a:ea typeface="+mn-ea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974385"/>
                  </a:ext>
                </a:extLst>
              </a:tr>
            </a:tbl>
          </a:graphicData>
        </a:graphic>
      </p:graphicFrame>
      <p:sp>
        <p:nvSpPr>
          <p:cNvPr id="66" name="Text 41">
            <a:extLst>
              <a:ext uri="{FF2B5EF4-FFF2-40B4-BE49-F238E27FC236}">
                <a16:creationId xmlns:a16="http://schemas.microsoft.com/office/drawing/2014/main" id="{985213CE-F516-6F39-8582-7193589D0C26}"/>
              </a:ext>
            </a:extLst>
          </p:cNvPr>
          <p:cNvSpPr/>
          <p:nvPr/>
        </p:nvSpPr>
        <p:spPr>
          <a:xfrm>
            <a:off x="384048" y="4462272"/>
            <a:ext cx="2194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향후 2단계 로드맵</a:t>
            </a:r>
            <a:endParaRPr lang="en-US" sz="1200" dirty="0">
              <a:solidFill>
                <a:prstClr val="black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67" name="Shape 42">
            <a:extLst>
              <a:ext uri="{FF2B5EF4-FFF2-40B4-BE49-F238E27FC236}">
                <a16:creationId xmlns:a16="http://schemas.microsoft.com/office/drawing/2014/main" id="{DF5CEC00-93AB-AA7D-AC09-D27F19784259}"/>
              </a:ext>
            </a:extLst>
          </p:cNvPr>
          <p:cNvSpPr/>
          <p:nvPr/>
        </p:nvSpPr>
        <p:spPr>
          <a:xfrm>
            <a:off x="384048" y="4800600"/>
            <a:ext cx="1133856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68" name="Shape 42">
            <a:extLst>
              <a:ext uri="{FF2B5EF4-FFF2-40B4-BE49-F238E27FC236}">
                <a16:creationId xmlns:a16="http://schemas.microsoft.com/office/drawing/2014/main" id="{0E2B48BB-603D-BB27-174F-B05A7B86D2E0}"/>
              </a:ext>
            </a:extLst>
          </p:cNvPr>
          <p:cNvSpPr/>
          <p:nvPr/>
        </p:nvSpPr>
        <p:spPr>
          <a:xfrm>
            <a:off x="384048" y="4800600"/>
            <a:ext cx="1133856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69" name="Shape 43">
            <a:extLst>
              <a:ext uri="{FF2B5EF4-FFF2-40B4-BE49-F238E27FC236}">
                <a16:creationId xmlns:a16="http://schemas.microsoft.com/office/drawing/2014/main" id="{A9B3FA70-25E7-A584-9040-7A3BCDC2C07C}"/>
              </a:ext>
            </a:extLst>
          </p:cNvPr>
          <p:cNvSpPr/>
          <p:nvPr/>
        </p:nvSpPr>
        <p:spPr>
          <a:xfrm>
            <a:off x="566928" y="5221217"/>
            <a:ext cx="5074920" cy="108814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  <p:txBody>
          <a:bodyPr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GPU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센터로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코드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이식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동일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조건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재현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다중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seed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반복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측정으로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KD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효과의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통계적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유의성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확보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더 큰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모델·데이터·epoch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확장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+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하이퍼파라미터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민감도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분석</a:t>
            </a: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</p:txBody>
      </p:sp>
      <p:sp>
        <p:nvSpPr>
          <p:cNvPr id="70" name="Shape 44">
            <a:extLst>
              <a:ext uri="{FF2B5EF4-FFF2-40B4-BE49-F238E27FC236}">
                <a16:creationId xmlns:a16="http://schemas.microsoft.com/office/drawing/2014/main" id="{4CD69F50-03B7-3158-EDFF-F9CC95F5746C}"/>
              </a:ext>
            </a:extLst>
          </p:cNvPr>
          <p:cNvSpPr/>
          <p:nvPr/>
        </p:nvSpPr>
        <p:spPr>
          <a:xfrm>
            <a:off x="566928" y="5029200"/>
            <a:ext cx="5074920" cy="301752"/>
          </a:xfrm>
          <a:prstGeom prst="rect">
            <a:avLst/>
          </a:prstGeom>
          <a:solidFill>
            <a:srgbClr val="1F5D69"/>
          </a:solidFill>
          <a:ln w="12700">
            <a:solidFill>
              <a:srgbClr val="1F5D69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Phase 1. GPU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센터</a:t>
            </a:r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기반</a:t>
            </a:r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재검증</a:t>
            </a:r>
            <a:endParaRPr lang="en-US" sz="10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1" name="Text 45">
            <a:extLst>
              <a:ext uri="{FF2B5EF4-FFF2-40B4-BE49-F238E27FC236}">
                <a16:creationId xmlns:a16="http://schemas.microsoft.com/office/drawing/2014/main" id="{4FE79305-18EC-83B9-BE5D-10EC7849C8DB}"/>
              </a:ext>
            </a:extLst>
          </p:cNvPr>
          <p:cNvSpPr/>
          <p:nvPr/>
        </p:nvSpPr>
        <p:spPr>
          <a:xfrm>
            <a:off x="566928" y="5102352"/>
            <a:ext cx="5074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endParaRPr lang="en-US" sz="73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2" name="Text 46">
            <a:extLst>
              <a:ext uri="{FF2B5EF4-FFF2-40B4-BE49-F238E27FC236}">
                <a16:creationId xmlns:a16="http://schemas.microsoft.com/office/drawing/2014/main" id="{FA1E00E1-F3D4-F350-075A-ABC5528C6BA9}"/>
              </a:ext>
            </a:extLst>
          </p:cNvPr>
          <p:cNvSpPr/>
          <p:nvPr/>
        </p:nvSpPr>
        <p:spPr>
          <a:xfrm>
            <a:off x="786384" y="5449824"/>
            <a:ext cx="46451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endParaRPr lang="en-US" sz="59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3" name="Shape 47">
            <a:extLst>
              <a:ext uri="{FF2B5EF4-FFF2-40B4-BE49-F238E27FC236}">
                <a16:creationId xmlns:a16="http://schemas.microsoft.com/office/drawing/2014/main" id="{E6386351-BDF6-23F0-5B0B-C2E2029EA431}"/>
              </a:ext>
            </a:extLst>
          </p:cNvPr>
          <p:cNvSpPr/>
          <p:nvPr/>
        </p:nvSpPr>
        <p:spPr>
          <a:xfrm>
            <a:off x="5884164" y="5681467"/>
            <a:ext cx="457200" cy="320040"/>
          </a:xfrm>
          <a:prstGeom prst="rightArrow">
            <a:avLst/>
          </a:prstGeom>
          <a:solidFill>
            <a:srgbClr val="0E73B9"/>
          </a:solidFill>
          <a:ln w="12700">
            <a:solidFill>
              <a:srgbClr val="0E73B9"/>
            </a:solidFill>
            <a:prstDash val="solid"/>
          </a:ln>
        </p:spPr>
      </p:sp>
      <p:sp>
        <p:nvSpPr>
          <p:cNvPr id="74" name="Shape 48">
            <a:extLst>
              <a:ext uri="{FF2B5EF4-FFF2-40B4-BE49-F238E27FC236}">
                <a16:creationId xmlns:a16="http://schemas.microsoft.com/office/drawing/2014/main" id="{2F356D1C-B79C-C465-C519-8EF10F8D0525}"/>
              </a:ext>
            </a:extLst>
          </p:cNvPr>
          <p:cNvSpPr/>
          <p:nvPr/>
        </p:nvSpPr>
        <p:spPr>
          <a:xfrm>
            <a:off x="6583680" y="5221217"/>
            <a:ext cx="5074920" cy="1088144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0070C0"/>
            </a:solidFill>
            <a:prstDash val="solid"/>
          </a:ln>
          <a:effectLst>
            <a:outerShdw blurRad="12700" dist="50800" dir="2700000" algn="bl" rotWithShape="0">
              <a:srgbClr val="DCE8F5">
                <a:alpha val="22000"/>
              </a:srgbClr>
            </a:outerShdw>
          </a:effectLst>
        </p:spPr>
        <p:txBody>
          <a:bodyPr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Noto Sans CJK KR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한국어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Teacher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재선정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+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온디바이스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가능한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Student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선정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시나리오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데이터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선정·정제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응답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데이터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생성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→ Student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학습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프루닝·양자화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적용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및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구동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가능성</a:t>
            </a:r>
            <a:r>
              <a:rPr lang="en-US" sz="1100" dirty="0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dirty="0" err="1">
                <a:solidFill>
                  <a:srgbClr val="111827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검토</a:t>
            </a:r>
            <a:endParaRPr lang="en-US" sz="1100" dirty="0">
              <a:solidFill>
                <a:srgbClr val="111827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/>
            </a:endParaRPr>
          </a:p>
        </p:txBody>
      </p:sp>
      <p:sp>
        <p:nvSpPr>
          <p:cNvPr id="75" name="Shape 49">
            <a:extLst>
              <a:ext uri="{FF2B5EF4-FFF2-40B4-BE49-F238E27FC236}">
                <a16:creationId xmlns:a16="http://schemas.microsoft.com/office/drawing/2014/main" id="{2B89BC63-EDE5-B869-288C-E697781728C3}"/>
              </a:ext>
            </a:extLst>
          </p:cNvPr>
          <p:cNvSpPr/>
          <p:nvPr/>
        </p:nvSpPr>
        <p:spPr>
          <a:xfrm>
            <a:off x="6583680" y="5029200"/>
            <a:ext cx="5074920" cy="301752"/>
          </a:xfrm>
          <a:prstGeom prst="rect">
            <a:avLst/>
          </a:prstGeom>
          <a:solidFill>
            <a:srgbClr val="1F5D69"/>
          </a:solidFill>
          <a:ln w="12700">
            <a:solidFill>
              <a:srgbClr val="1F5D69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Phase 2.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실버케어</a:t>
            </a:r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적용</a:t>
            </a:r>
            <a:r>
              <a:rPr lang="en-US" sz="1050" b="1" dirty="0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전환</a:t>
            </a:r>
            <a:endParaRPr lang="en-US" sz="105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6" name="Text 50">
            <a:extLst>
              <a:ext uri="{FF2B5EF4-FFF2-40B4-BE49-F238E27FC236}">
                <a16:creationId xmlns:a16="http://schemas.microsoft.com/office/drawing/2014/main" id="{793EF397-EADA-924B-56A4-D9B6E7BF2C0A}"/>
              </a:ext>
            </a:extLst>
          </p:cNvPr>
          <p:cNvSpPr/>
          <p:nvPr/>
        </p:nvSpPr>
        <p:spPr>
          <a:xfrm>
            <a:off x="6583680" y="5102352"/>
            <a:ext cx="5074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/>
            <a:endParaRPr lang="en-US" sz="73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7" name="Text 51">
            <a:extLst>
              <a:ext uri="{FF2B5EF4-FFF2-40B4-BE49-F238E27FC236}">
                <a16:creationId xmlns:a16="http://schemas.microsoft.com/office/drawing/2014/main" id="{F3FF08E9-CAF4-55BB-C218-DB0DD0C48721}"/>
              </a:ext>
            </a:extLst>
          </p:cNvPr>
          <p:cNvSpPr/>
          <p:nvPr/>
        </p:nvSpPr>
        <p:spPr>
          <a:xfrm>
            <a:off x="6803136" y="5449824"/>
            <a:ext cx="46451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endParaRPr lang="en-US" sz="59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8" name="Text 52">
            <a:extLst>
              <a:ext uri="{FF2B5EF4-FFF2-40B4-BE49-F238E27FC236}">
                <a16:creationId xmlns:a16="http://schemas.microsoft.com/office/drawing/2014/main" id="{87EC78C2-F04D-7931-F29C-090C59189664}"/>
              </a:ext>
            </a:extLst>
          </p:cNvPr>
          <p:cNvSpPr/>
          <p:nvPr/>
        </p:nvSpPr>
        <p:spPr>
          <a:xfrm>
            <a:off x="6803136" y="6044184"/>
            <a:ext cx="4645152" cy="1188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endParaRPr lang="en-US" sz="57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286F2B-33D3-38F3-1BE3-AC2840695327}"/>
              </a:ext>
            </a:extLst>
          </p:cNvPr>
          <p:cNvSpPr txBox="1"/>
          <p:nvPr/>
        </p:nvSpPr>
        <p:spPr>
          <a:xfrm>
            <a:off x="6583680" y="6318505"/>
            <a:ext cx="4175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실버케어는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검증된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경량화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모델의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대표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적용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시나리오로</a:t>
            </a:r>
            <a:r>
              <a:rPr lang="en-US" sz="1100" b="1" dirty="0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 </a:t>
            </a:r>
            <a:r>
              <a:rPr lang="en-US" sz="1100" b="1" dirty="0" err="1">
                <a:solidFill>
                  <a:srgbClr val="0E73B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Noto Sans CJK KR" pitchFamily="34" charset="-120"/>
              </a:rPr>
              <a:t>활용</a:t>
            </a:r>
            <a:endParaRPr lang="en-US" sz="1100" dirty="0">
              <a:solidFill>
                <a:srgbClr val="000000"/>
              </a:solidFill>
              <a:latin typeface="Malgun Gothic" panose="020B0503020000020004" pitchFamily="34" charset="-127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3786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491</Words>
  <Application>Microsoft Office PowerPoint</Application>
  <PresentationFormat>Widescreen</PresentationFormat>
  <Paragraphs>136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Malgun Gothic</vt:lpstr>
      <vt:lpstr>Malgun Gothic (Body)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Yoonpyo Hong</dc:creator>
  <cp:lastModifiedBy>Yoonpyo Hong</cp:lastModifiedBy>
  <cp:revision>1</cp:revision>
  <dcterms:created xsi:type="dcterms:W3CDTF">2026-06-05T23:30:34Z</dcterms:created>
  <dcterms:modified xsi:type="dcterms:W3CDTF">2026-06-05T23:31:34Z</dcterms:modified>
</cp:coreProperties>
</file>