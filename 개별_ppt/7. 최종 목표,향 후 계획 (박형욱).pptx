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80" r:id="rId2"/>
    <p:sldId id="281" r:id="rId3"/>
    <p:sldId id="282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79"/>
    <p:restoredTop sz="94645"/>
  </p:normalViewPr>
  <p:slideViewPr>
    <p:cSldViewPr snapToGrid="0">
      <p:cViewPr varScale="1">
        <p:scale>
          <a:sx n="112" d="100"/>
          <a:sy n="112" d="100"/>
        </p:scale>
        <p:origin x="2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9B875DD-5407-434D-AFEE-F334358A3DF7}"/>
              </a:ext>
            </a:extLst>
          </p:cNvPr>
          <p:cNvSpPr>
            <a:spLocks noGrp="1"/>
          </p:cNvSpPr>
          <p:nvPr/>
        </p:nvSpPr>
        <p:spPr>
          <a:xfrm>
            <a:off x="0" y="3879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0F5E9E-7563-4F7F-BAF7-9C1D9030AB29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886B3D-CF76-47DA-B56B-77FA5EB90F7C}"/>
              </a:ext>
            </a:extLst>
          </p:cNvPr>
          <p:cNvSpPr>
            <a:spLocks noGrp="1"/>
          </p:cNvSpPr>
          <p:nvPr/>
        </p:nvSpPr>
        <p:spPr>
          <a:xfrm>
            <a:off x="400050" y="161925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최종 목표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3A2244-33B3-4676-883B-D2B700E84F7F}"/>
              </a:ext>
            </a:extLst>
          </p:cNvPr>
          <p:cNvSpPr>
            <a:spLocks noGrp="1"/>
          </p:cNvSpPr>
          <p:nvPr/>
        </p:nvSpPr>
        <p:spPr>
          <a:xfrm>
            <a:off x="400050" y="533400"/>
            <a:ext cx="11385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최종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목표는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연구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본체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검증을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먼저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끝내고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,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검증된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설정으로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어르신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돌봄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적용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가능성을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단계적으로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endParaRPr lang="en-US" sz="2000" b="1" dirty="0">
              <a:solidFill>
                <a:srgbClr val="151923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확인하는</a:t>
            </a:r>
            <a:r>
              <a:rPr sz="2000" b="1" dirty="0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것임</a:t>
            </a:r>
            <a:endParaRPr sz="2000" b="1" dirty="0">
              <a:solidFill>
                <a:srgbClr val="151923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54743E2-2A5A-4666-AC0E-446063A30AA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C10C6A-CD2D-4E1B-963B-653CB2248037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연구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본체의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신뢰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지표를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확보한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뒤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실서비스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적용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가능성을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검증해야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목표가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과장되지</a:t>
            </a:r>
            <a:r>
              <a:rPr sz="16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않음</a:t>
            </a:r>
            <a:endParaRPr sz="1600" b="1" dirty="0">
              <a:solidFill>
                <a:srgbClr val="111827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D58E67-0773-40B9-8AB3-52DDE89DEC11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5429250" cy="4400550"/>
          </a:xfrm>
          <a:prstGeom prst="rect">
            <a:avLst/>
          </a:prstGeom>
          <a:solidFill>
            <a:srgbClr val="EEF4FF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29ECE77-F671-4620-95FE-92761D25D26B}"/>
              </a:ext>
            </a:extLst>
          </p:cNvPr>
          <p:cNvSpPr>
            <a:spLocks noGrp="1"/>
          </p:cNvSpPr>
          <p:nvPr/>
        </p:nvSpPr>
        <p:spPr>
          <a:xfrm>
            <a:off x="400050" y="1924050"/>
            <a:ext cx="66675" cy="44005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02A1E34-611A-474F-BBA1-03518076B698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563EB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단계 1. 연구 본체 보강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F26D74-E72C-4A97-A6B7-1EBAA62A5D0A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GPU 센터 기반 지식 전수 추가 검증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8FB2D1-8151-4DCB-BA3C-44D038D302A9}"/>
              </a:ext>
            </a:extLst>
          </p:cNvPr>
          <p:cNvSpPr>
            <a:spLocks noGrp="1"/>
          </p:cNvSpPr>
          <p:nvPr/>
        </p:nvSpPr>
        <p:spPr>
          <a:xfrm>
            <a:off x="590550" y="28956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A92DD8-B072-4EB6-BC27-E86DA53F8226}"/>
              </a:ext>
            </a:extLst>
          </p:cNvPr>
          <p:cNvSpPr>
            <a:spLocks noGrp="1"/>
          </p:cNvSpPr>
          <p:nvPr/>
        </p:nvSpPr>
        <p:spPr>
          <a:xfrm>
            <a:off x="733425" y="302895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환경 이식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DF220D-5A24-4672-95FA-3CB35F30ECE2}"/>
              </a:ext>
            </a:extLst>
          </p:cNvPr>
          <p:cNvSpPr>
            <a:spLocks noGrp="1"/>
          </p:cNvSpPr>
          <p:nvPr/>
        </p:nvSpPr>
        <p:spPr>
          <a:xfrm>
            <a:off x="2209800" y="30099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학교 GPU 센터 환경으로 코드·조건 이식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E8DEAA4-1462-40F4-AC5D-2E421F63A10D}"/>
              </a:ext>
            </a:extLst>
          </p:cNvPr>
          <p:cNvSpPr>
            <a:spLocks noGrp="1"/>
          </p:cNvSpPr>
          <p:nvPr/>
        </p:nvSpPr>
        <p:spPr>
          <a:xfrm>
            <a:off x="590550" y="404495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1115B29-5857-48FA-8F14-FC205CD3D6CD}"/>
              </a:ext>
            </a:extLst>
          </p:cNvPr>
          <p:cNvSpPr>
            <a:spLocks noGrp="1"/>
          </p:cNvSpPr>
          <p:nvPr/>
        </p:nvSpPr>
        <p:spPr>
          <a:xfrm>
            <a:off x="733425" y="417830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재현 실험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72DA94C-DE99-4D55-9AEC-E2C90771C478}"/>
              </a:ext>
            </a:extLst>
          </p:cNvPr>
          <p:cNvSpPr>
            <a:spLocks noGrp="1"/>
          </p:cNvSpPr>
          <p:nvPr/>
        </p:nvSpPr>
        <p:spPr>
          <a:xfrm>
            <a:off x="2209800" y="415925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오류율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(PPL)·</a:t>
            </a: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loss·답변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생성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속도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재측정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, </a:t>
            </a:r>
            <a:endParaRPr lang="en-US" sz="1200" b="1" dirty="0">
              <a:solidFill>
                <a:srgbClr val="111827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다중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seed </a:t>
            </a: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반복</a:t>
            </a:r>
            <a:endParaRPr sz="1200" b="1" dirty="0">
              <a:solidFill>
                <a:srgbClr val="111827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74439F-62B7-4C91-A840-6CC660C73157}"/>
              </a:ext>
            </a:extLst>
          </p:cNvPr>
          <p:cNvSpPr>
            <a:spLocks noGrp="1"/>
          </p:cNvSpPr>
          <p:nvPr/>
        </p:nvSpPr>
        <p:spPr>
          <a:xfrm>
            <a:off x="590550" y="51943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EACB2D5-C1DD-42F6-9D1D-9ED40A852820}"/>
              </a:ext>
            </a:extLst>
          </p:cNvPr>
          <p:cNvSpPr>
            <a:spLocks noGrp="1"/>
          </p:cNvSpPr>
          <p:nvPr/>
        </p:nvSpPr>
        <p:spPr>
          <a:xfrm>
            <a:off x="733425" y="532765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563EB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확장 분석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F1A148B-AAD9-4438-A422-67D8F9D98653}"/>
              </a:ext>
            </a:extLst>
          </p:cNvPr>
          <p:cNvSpPr>
            <a:spLocks noGrp="1"/>
          </p:cNvSpPr>
          <p:nvPr/>
        </p:nvSpPr>
        <p:spPr>
          <a:xfrm>
            <a:off x="2209800" y="53086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더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큰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모델·데이터·반복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학습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, </a:t>
            </a: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비중·온도값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endParaRPr lang="en-US" sz="1200" b="1" dirty="0">
              <a:solidFill>
                <a:srgbClr val="111827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민감도</a:t>
            </a:r>
            <a:r>
              <a:rPr sz="1200" b="1" dirty="0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00" b="1" dirty="0" err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분석</a:t>
            </a:r>
            <a:endParaRPr sz="1200" b="1" dirty="0">
              <a:solidFill>
                <a:srgbClr val="111827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9CEE70A-D9D0-407E-A1A8-C6C27D6FB7D7}"/>
              </a:ext>
            </a:extLst>
          </p:cNvPr>
          <p:cNvSpPr>
            <a:spLocks noGrp="1"/>
          </p:cNvSpPr>
          <p:nvPr/>
        </p:nvSpPr>
        <p:spPr>
          <a:xfrm>
            <a:off x="6267450" y="1924050"/>
            <a:ext cx="5429250" cy="4400550"/>
          </a:xfrm>
          <a:prstGeom prst="rect">
            <a:avLst/>
          </a:prstGeom>
          <a:solidFill>
            <a:srgbClr val="F5F6F8"/>
          </a:solidFill>
          <a:ln w="11430">
            <a:solidFill>
              <a:srgbClr val="C8D6E8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CEC9673-1C09-4F6A-AF44-77E2DCFE065B}"/>
              </a:ext>
            </a:extLst>
          </p:cNvPr>
          <p:cNvSpPr>
            <a:spLocks noGrp="1"/>
          </p:cNvSpPr>
          <p:nvPr/>
        </p:nvSpPr>
        <p:spPr>
          <a:xfrm>
            <a:off x="6267450" y="1924050"/>
            <a:ext cx="66675" cy="440055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7248243-850F-4FD2-A55E-DD52A63F797B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단계 2. 적용 검증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29C1EF-7B6D-45D3-83EC-4F58C7A62B94}"/>
              </a:ext>
            </a:extLst>
          </p:cNvPr>
          <p:cNvSpPr>
            <a:spLocks noGrp="1"/>
          </p:cNvSpPr>
          <p:nvPr/>
        </p:nvSpPr>
        <p:spPr>
          <a:xfrm>
            <a:off x="6457950" y="2476500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63" b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어르신 돌봄 시나리오 기반 후속 실험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6C36500-BA61-40B8-88DD-F174E0732680}"/>
              </a:ext>
            </a:extLst>
          </p:cNvPr>
          <p:cNvSpPr>
            <a:spLocks noGrp="1"/>
          </p:cNvSpPr>
          <p:nvPr/>
        </p:nvSpPr>
        <p:spPr>
          <a:xfrm>
            <a:off x="6457950" y="28956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F9D16CB-B02A-4543-AF12-E85446AF9211}"/>
              </a:ext>
            </a:extLst>
          </p:cNvPr>
          <p:cNvSpPr>
            <a:spLocks noGrp="1"/>
          </p:cNvSpPr>
          <p:nvPr/>
        </p:nvSpPr>
        <p:spPr>
          <a:xfrm>
            <a:off x="6600824" y="3028950"/>
            <a:ext cx="1476375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 dirty="0" err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모델·데이터</a:t>
            </a:r>
            <a:r>
              <a:rPr sz="1275" b="1" dirty="0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75" b="1" dirty="0" err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재선정</a:t>
            </a:r>
            <a:endParaRPr sz="1275" b="1" dirty="0">
              <a:solidFill>
                <a:srgbClr val="2B3038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0DE6571-902E-409A-A702-B4D2E711EA19}"/>
              </a:ext>
            </a:extLst>
          </p:cNvPr>
          <p:cNvSpPr>
            <a:spLocks noGrp="1"/>
          </p:cNvSpPr>
          <p:nvPr/>
        </p:nvSpPr>
        <p:spPr>
          <a:xfrm>
            <a:off x="8077200" y="30099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한국어 큰 모델과 기기 내 실행 가능한 작은 모델 후보 선정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886363E-1BF2-45C2-B48A-CDFBFF9A046F}"/>
              </a:ext>
            </a:extLst>
          </p:cNvPr>
          <p:cNvSpPr>
            <a:spLocks noGrp="1"/>
          </p:cNvSpPr>
          <p:nvPr/>
        </p:nvSpPr>
        <p:spPr>
          <a:xfrm>
            <a:off x="6457950" y="404495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B0069F-2C09-40C2-AF1D-54FA54097545}"/>
              </a:ext>
            </a:extLst>
          </p:cNvPr>
          <p:cNvSpPr>
            <a:spLocks noGrp="1"/>
          </p:cNvSpPr>
          <p:nvPr/>
        </p:nvSpPr>
        <p:spPr>
          <a:xfrm>
            <a:off x="6600825" y="417830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분야 학습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2FD071A-2F82-4862-B32B-25C7E481FC1F}"/>
              </a:ext>
            </a:extLst>
          </p:cNvPr>
          <p:cNvSpPr>
            <a:spLocks noGrp="1"/>
          </p:cNvSpPr>
          <p:nvPr/>
        </p:nvSpPr>
        <p:spPr>
          <a:xfrm>
            <a:off x="8077200" y="415925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공공 의료·AI Hub 데이터로 응답 데이터 생성 및 작은 모델 학습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D9827BD-1A95-4144-8325-BE967F711552}"/>
              </a:ext>
            </a:extLst>
          </p:cNvPr>
          <p:cNvSpPr>
            <a:spLocks noGrp="1"/>
          </p:cNvSpPr>
          <p:nvPr/>
        </p:nvSpPr>
        <p:spPr>
          <a:xfrm>
            <a:off x="6457950" y="5194300"/>
            <a:ext cx="5048250" cy="1035050"/>
          </a:xfrm>
          <a:prstGeom prst="rect">
            <a:avLst/>
          </a:prstGeom>
          <a:solidFill>
            <a:srgbClr val="FFFFFF"/>
          </a:solidFill>
          <a:ln w="11430">
            <a:solidFill>
              <a:srgbClr val="DCE4EE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696830F-954F-49F3-80D4-C58001289681}"/>
              </a:ext>
            </a:extLst>
          </p:cNvPr>
          <p:cNvSpPr>
            <a:spLocks noGrp="1"/>
          </p:cNvSpPr>
          <p:nvPr/>
        </p:nvSpPr>
        <p:spPr>
          <a:xfrm>
            <a:off x="6600825" y="5327650"/>
            <a:ext cx="1333500" cy="844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기기 내 실행 평가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32062EC-6635-4A41-926F-BCD9F73BCDB2}"/>
              </a:ext>
            </a:extLst>
          </p:cNvPr>
          <p:cNvSpPr>
            <a:spLocks noGrp="1"/>
          </p:cNvSpPr>
          <p:nvPr/>
        </p:nvSpPr>
        <p:spPr>
          <a:xfrm>
            <a:off x="8077200" y="5308600"/>
            <a:ext cx="314325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불필요한 부분 줄이기·숫자를 가볍게 저장, 모델 크기·사용 용량·인터넷 없이 실행성 검증</a:t>
            </a:r>
          </a:p>
        </p:txBody>
      </p:sp>
    </p:spTree>
    <p:extLst>
      <p:ext uri="{BB962C8B-B14F-4D97-AF65-F5344CB8AC3E}">
        <p14:creationId xmlns:p14="http://schemas.microsoft.com/office/powerpoint/2010/main" val="1438178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06A166E-4413-4245-9F4A-26C7C1678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732CA9-96AB-49E2-8B94-BF0D27919A37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8791C7-5843-43F7-847D-2F66D60CA9B8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단계별 목표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D1AA8F7-3A36-44CA-8356-8E1F047E39C5}"/>
              </a:ext>
            </a:extLst>
          </p:cNvPr>
          <p:cNvSpPr>
            <a:spLocks noGrp="1"/>
          </p:cNvSpPr>
          <p:nvPr/>
        </p:nvSpPr>
        <p:spPr>
          <a:xfrm>
            <a:off x="400050" y="638221"/>
            <a:ext cx="117919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Pilot·Beta·Full은</a:t>
            </a:r>
            <a:r>
              <a:rPr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데이터</a:t>
            </a:r>
            <a:r>
              <a:rPr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규모</a:t>
            </a:r>
            <a:r>
              <a:rPr lang="en-US"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·</a:t>
            </a:r>
            <a:r>
              <a:rPr lang="en-US"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질문</a:t>
            </a:r>
            <a:r>
              <a:rPr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수</a:t>
            </a:r>
            <a:r>
              <a:rPr lang="en-US"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·</a:t>
            </a:r>
            <a:r>
              <a:rPr lang="en-US"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정확도</a:t>
            </a:r>
            <a:r>
              <a:rPr lang="en-US"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·</a:t>
            </a:r>
            <a:r>
              <a:rPr lang="en-US"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응답시간</a:t>
            </a:r>
            <a:r>
              <a:rPr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목표를</a:t>
            </a:r>
            <a:r>
              <a:rPr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단계적으로</a:t>
            </a:r>
            <a:r>
              <a:rPr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확대하는</a:t>
            </a:r>
            <a:r>
              <a:rPr sz="2000" b="1" dirty="0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Arial" panose="020B0604020202020204" pitchFamily="34" charset="0"/>
                <a:ea typeface="Dotum" panose="020B0600000101010101" pitchFamily="34" charset="-127"/>
                <a:cs typeface="Arial" panose="020B0604020202020204" pitchFamily="34" charset="0"/>
              </a:rPr>
              <a:t>가설임</a:t>
            </a:r>
            <a:endParaRPr sz="2000" b="1" dirty="0">
              <a:solidFill>
                <a:srgbClr val="151923"/>
              </a:solidFill>
              <a:latin typeface="Arial" panose="020B0604020202020204" pitchFamily="34" charset="0"/>
              <a:ea typeface="Dotum" panose="020B0600000101010101" pitchFamily="34" charset="-127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922AFFB-4F65-40AC-B43B-7E22ED8BCC5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4A9196-82FC-4BCE-89FC-FE00CADAB5B4}"/>
              </a:ext>
            </a:extLst>
          </p:cNvPr>
          <p:cNvSpPr>
            <a:spLocks noGrp="1"/>
          </p:cNvSpPr>
          <p:nvPr/>
        </p:nvSpPr>
        <p:spPr>
          <a:xfrm>
            <a:off x="409575" y="1560285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수치는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확정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성과가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후속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실험의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목표·가설로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표기하고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안전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필수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미달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시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이전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단계로</a:t>
            </a:r>
            <a:r>
              <a:rPr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회귀</a:t>
            </a:r>
            <a:endParaRPr sz="1600" b="1" dirty="0">
              <a:solidFill>
                <a:srgbClr val="111827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1146AA-6E78-40DF-A409-EC27BF217931}"/>
              </a:ext>
            </a:extLst>
          </p:cNvPr>
          <p:cNvSpPr>
            <a:spLocks noGrp="1"/>
          </p:cNvSpPr>
          <p:nvPr/>
        </p:nvSpPr>
        <p:spPr>
          <a:xfrm>
            <a:off x="400050" y="11506200"/>
            <a:ext cx="8382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팀 프로젝트 계획서 통합본 | 2026-06-04 | Source: 최종목표_향후계획.md; 최종목표_향후계획 최종.pptx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93EEE0-21F1-4DE8-977D-216FB0726C6C}"/>
              </a:ext>
            </a:extLst>
          </p:cNvPr>
          <p:cNvSpPr>
            <a:spLocks noGrp="1"/>
          </p:cNvSpPr>
          <p:nvPr/>
        </p:nvSpPr>
        <p:spPr>
          <a:xfrm>
            <a:off x="11239500" y="11506200"/>
            <a:ext cx="4572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r">
              <a:def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defRPr>
            </a:pPr>
            <a:r>
              <a:rPr sz="713" b="0">
                <a:solidFill>
                  <a:srgbClr val="738095"/>
                </a:solidFill>
                <a:latin typeface="Pretendard"/>
                <a:ea typeface="Pretendard"/>
                <a:cs typeface="Pretendard"/>
              </a:rPr>
              <a:t>26 / 27</a:t>
            </a:r>
          </a:p>
        </p:txBody>
      </p:sp>
      <p:graphicFrame>
        <p:nvGraphicFramePr>
          <p:cNvPr id="76" name="표 75">
            <a:extLst>
              <a:ext uri="{FF2B5EF4-FFF2-40B4-BE49-F238E27FC236}">
                <a16:creationId xmlns:a16="http://schemas.microsoft.com/office/drawing/2014/main" id="{5F752BCE-B12F-7568-F92E-73357B48D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214681"/>
              </p:ext>
            </p:extLst>
          </p:nvPr>
        </p:nvGraphicFramePr>
        <p:xfrm>
          <a:off x="409575" y="2473377"/>
          <a:ext cx="5826333" cy="3746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939">
                  <a:extLst>
                    <a:ext uri="{9D8B030D-6E8A-4147-A177-3AD203B41FA5}">
                      <a16:colId xmlns:a16="http://schemas.microsoft.com/office/drawing/2014/main" val="4031775787"/>
                    </a:ext>
                  </a:extLst>
                </a:gridCol>
                <a:gridCol w="1422612">
                  <a:extLst>
                    <a:ext uri="{9D8B030D-6E8A-4147-A177-3AD203B41FA5}">
                      <a16:colId xmlns:a16="http://schemas.microsoft.com/office/drawing/2014/main" val="3062168099"/>
                    </a:ext>
                  </a:extLst>
                </a:gridCol>
                <a:gridCol w="1422612">
                  <a:extLst>
                    <a:ext uri="{9D8B030D-6E8A-4147-A177-3AD203B41FA5}">
                      <a16:colId xmlns:a16="http://schemas.microsoft.com/office/drawing/2014/main" val="326928392"/>
                    </a:ext>
                  </a:extLst>
                </a:gridCol>
                <a:gridCol w="1452170">
                  <a:extLst>
                    <a:ext uri="{9D8B030D-6E8A-4147-A177-3AD203B41FA5}">
                      <a16:colId xmlns:a16="http://schemas.microsoft.com/office/drawing/2014/main" val="2377488919"/>
                    </a:ext>
                  </a:extLst>
                </a:gridCol>
              </a:tblGrid>
              <a:tr h="491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Pilot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Dotu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Beta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Dotu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Full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Dotu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19553"/>
                  </a:ext>
                </a:extLst>
              </a:tr>
              <a:tr h="491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공공 의료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Q&amp;A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Dotum" panose="020B0600000101010101" pitchFamily="34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개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3,000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10,000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개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601868"/>
                  </a:ext>
                </a:extLst>
              </a:tr>
              <a:tr h="491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어르신 질문 패턴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50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개 재표 쿼리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개 쿼리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2,000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개 쿼리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118057"/>
                  </a:ext>
                </a:extLst>
              </a:tr>
              <a:tr h="491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의료 주제 범위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주요 질환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5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개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주요 질환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20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개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단계적 확대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194106"/>
                  </a:ext>
                </a:extLst>
              </a:tr>
              <a:tr h="491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정확도 목표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70%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85%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 이상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90%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 이상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5836"/>
                  </a:ext>
                </a:extLst>
              </a:tr>
              <a:tr h="491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응담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 시간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&lt;5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초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&lt;3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초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&lt;2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초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596422"/>
                  </a:ext>
                </a:extLst>
              </a:tr>
              <a:tr h="8002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배포 환경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테스트 환경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베타 사용자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모바일앱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+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Web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otum" panose="020B0600000101010101" pitchFamily="34" charset="-127"/>
                          <a:cs typeface="Arial" panose="020B0604020202020204" pitchFamily="34" charset="0"/>
                        </a:rPr>
                        <a:t>목표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980285"/>
                  </a:ext>
                </a:extLst>
              </a:tr>
            </a:tbl>
          </a:graphicData>
        </a:graphic>
      </p:graphicFrame>
      <p:pic>
        <p:nvPicPr>
          <p:cNvPr id="93" name="그림 92">
            <a:extLst>
              <a:ext uri="{FF2B5EF4-FFF2-40B4-BE49-F238E27FC236}">
                <a16:creationId xmlns:a16="http://schemas.microsoft.com/office/drawing/2014/main" id="{DFC3D8D5-8B70-2D8E-D977-7736B7599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555" y="2353456"/>
            <a:ext cx="5799485" cy="386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6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056A60-207E-49C1-9009-64EF2A28C5ED}"/>
              </a:ext>
            </a:extLst>
          </p:cNvPr>
          <p:cNvSpPr>
            <a:spLocks noGrp="1"/>
          </p:cNvSpPr>
          <p:nvPr/>
        </p:nvSpPr>
        <p:spPr>
          <a:xfrm>
            <a:off x="47625" y="125699"/>
            <a:ext cx="12192000" cy="6732301"/>
          </a:xfrm>
          <a:prstGeom prst="rect">
            <a:avLst/>
          </a:prstGeom>
          <a:solidFill>
            <a:srgbClr val="FAFAFA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 dirty="0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F4AF20-EE52-4D5A-BC7A-F114912FEC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97B8B2-DA25-40CA-9A1E-FEF273D4C8B2}"/>
              </a:ext>
            </a:extLst>
          </p:cNvPr>
          <p:cNvSpPr>
            <a:spLocks noGrp="1"/>
          </p:cNvSpPr>
          <p:nvPr/>
        </p:nvSpPr>
        <p:spPr>
          <a:xfrm>
            <a:off x="95250" y="0"/>
            <a:ext cx="47625" cy="6858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E9DB223-1318-40D4-B2DB-C18287AA3F50}"/>
              </a:ext>
            </a:extLst>
          </p:cNvPr>
          <p:cNvSpPr>
            <a:spLocks noGrp="1"/>
          </p:cNvSpPr>
          <p:nvPr/>
        </p:nvSpPr>
        <p:spPr>
          <a:xfrm>
            <a:off x="400050" y="228600"/>
            <a:ext cx="2000250" cy="228600"/>
          </a:xfrm>
          <a:prstGeom prst="rect">
            <a:avLst/>
          </a:prstGeom>
          <a:solidFill>
            <a:srgbClr val="EEF4FF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57150" tIns="19050" rIns="57150" bIns="19050" anchor="ctr"/>
          <a:lstStyle/>
          <a:p>
            <a:pPr algn="ctr">
              <a:defRPr sz="1013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013" b="1">
                <a:solidFill>
                  <a:srgbClr val="2563EB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요약·기대효과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9E48BA-BA21-4891-B3D5-14BBE12EC4FB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287125" cy="190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863401D-C5C2-45C5-983C-C340A1D13F7E}"/>
              </a:ext>
            </a:extLst>
          </p:cNvPr>
          <p:cNvSpPr>
            <a:spLocks noGrp="1"/>
          </p:cNvSpPr>
          <p:nvPr/>
        </p:nvSpPr>
        <p:spPr>
          <a:xfrm>
            <a:off x="400050" y="1484650"/>
            <a:ext cx="1128712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313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00" b="1">
                <a:solidFill>
                  <a:srgbClr val="111827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결론: 지식 전수 효과를 신뢰성 있게 검증한 뒤, 어르신 돌봄 기기 내 실행 적용 가능성을 단계적으로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36762D-9292-4729-A5C3-C73F70A922AB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5572125" cy="1790700"/>
          </a:xfrm>
          <a:prstGeom prst="rect">
            <a:avLst/>
          </a:prstGeom>
          <a:solidFill>
            <a:srgbClr val="EEF4FF"/>
          </a:solidFill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BCA421-70A1-4FD0-BB86-0F605ED99A3E}"/>
              </a:ext>
            </a:extLst>
          </p:cNvPr>
          <p:cNvSpPr>
            <a:spLocks noGrp="1"/>
          </p:cNvSpPr>
          <p:nvPr/>
        </p:nvSpPr>
        <p:spPr>
          <a:xfrm>
            <a:off x="400050" y="2019300"/>
            <a:ext cx="57150" cy="17907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CD8A61-6CD8-41F1-9830-F28A91EADEE0}"/>
              </a:ext>
            </a:extLst>
          </p:cNvPr>
          <p:cNvSpPr>
            <a:spLocks noGrp="1"/>
          </p:cNvSpPr>
          <p:nvPr/>
        </p:nvSpPr>
        <p:spPr>
          <a:xfrm>
            <a:off x="571500" y="21526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563EB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563EB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독립 실행 보조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AF5C32-E08E-4DF8-86C0-FFC323F93402}"/>
              </a:ext>
            </a:extLst>
          </p:cNvPr>
          <p:cNvSpPr>
            <a:spLocks noGrp="1"/>
          </p:cNvSpPr>
          <p:nvPr/>
        </p:nvSpPr>
        <p:spPr>
          <a:xfrm>
            <a:off x="4772025" y="21621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인터넷 없이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591D29-BCC3-437D-A4A4-F54630C9B536}"/>
              </a:ext>
            </a:extLst>
          </p:cNvPr>
          <p:cNvSpPr>
            <a:spLocks noGrp="1"/>
          </p:cNvSpPr>
          <p:nvPr/>
        </p:nvSpPr>
        <p:spPr>
          <a:xfrm>
            <a:off x="571500" y="25336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네트워크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없이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의료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정보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접근·복약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관리·정서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대화가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가능한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내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기기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endParaRPr lang="en-US" sz="1238" b="1" dirty="0">
              <a:solidFill>
                <a:srgbClr val="4B5563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보조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방향</a:t>
            </a:r>
            <a:endParaRPr sz="1238" b="1" dirty="0">
              <a:solidFill>
                <a:srgbClr val="4B5563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F6A4DF-3F27-4B18-9206-244E674AD0B7}"/>
              </a:ext>
            </a:extLst>
          </p:cNvPr>
          <p:cNvSpPr>
            <a:spLocks noGrp="1"/>
          </p:cNvSpPr>
          <p:nvPr/>
        </p:nvSpPr>
        <p:spPr>
          <a:xfrm>
            <a:off x="6124575" y="2019300"/>
            <a:ext cx="5572125" cy="179070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867A684-40EE-44CA-BCCD-8969243EDD70}"/>
              </a:ext>
            </a:extLst>
          </p:cNvPr>
          <p:cNvSpPr>
            <a:spLocks noGrp="1"/>
          </p:cNvSpPr>
          <p:nvPr/>
        </p:nvSpPr>
        <p:spPr>
          <a:xfrm>
            <a:off x="6124575" y="2019300"/>
            <a:ext cx="57150" cy="1790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60F6F74-A8F9-4F25-957B-D13BF0C34FB8}"/>
              </a:ext>
            </a:extLst>
          </p:cNvPr>
          <p:cNvSpPr>
            <a:spLocks noGrp="1"/>
          </p:cNvSpPr>
          <p:nvPr/>
        </p:nvSpPr>
        <p:spPr>
          <a:xfrm>
            <a:off x="6296025" y="21526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프라이버시 신뢰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03E9A18-4866-499D-9E6D-0C7265F52840}"/>
              </a:ext>
            </a:extLst>
          </p:cNvPr>
          <p:cNvSpPr>
            <a:spLocks noGrp="1"/>
          </p:cNvSpPr>
          <p:nvPr/>
        </p:nvSpPr>
        <p:spPr>
          <a:xfrm>
            <a:off x="10496550" y="21621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데이터 미전송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E700C3-23E4-425E-B0BA-647F2A90BE61}"/>
              </a:ext>
            </a:extLst>
          </p:cNvPr>
          <p:cNvSpPr>
            <a:spLocks noGrp="1"/>
          </p:cNvSpPr>
          <p:nvPr/>
        </p:nvSpPr>
        <p:spPr>
          <a:xfrm>
            <a:off x="6296025" y="25336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건강정보·복약 기록·대화 내용이 외부 서버로 전송되지 않는 구조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BA745A4-C7AA-46B2-B86C-D622AD234BC1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5572125" cy="179070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5EF8902-848A-4A6D-8A4B-9E644CDD4F58}"/>
              </a:ext>
            </a:extLst>
          </p:cNvPr>
          <p:cNvSpPr>
            <a:spLocks noGrp="1"/>
          </p:cNvSpPr>
          <p:nvPr/>
        </p:nvSpPr>
        <p:spPr>
          <a:xfrm>
            <a:off x="400050" y="3962400"/>
            <a:ext cx="57150" cy="1790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EAD2681-B623-4117-A2D9-FED4B024857F}"/>
              </a:ext>
            </a:extLst>
          </p:cNvPr>
          <p:cNvSpPr>
            <a:spLocks noGrp="1"/>
          </p:cNvSpPr>
          <p:nvPr/>
        </p:nvSpPr>
        <p:spPr>
          <a:xfrm>
            <a:off x="571500" y="40957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재현 가능한 검증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8929D6C-B1BE-4908-9E33-AFC8FE4DF41D}"/>
              </a:ext>
            </a:extLst>
          </p:cNvPr>
          <p:cNvSpPr>
            <a:spLocks noGrp="1"/>
          </p:cNvSpPr>
          <p:nvPr/>
        </p:nvSpPr>
        <p:spPr>
          <a:xfrm>
            <a:off x="4772025" y="41052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증거 패키지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50A2692-4515-4649-A471-6E0F8469188B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질문셋, 모델별 답변 로그, 채점표, 내 기기 시연 기록, 평가 리포트 확보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0A8337A-23C1-4533-898E-12B430B9E969}"/>
              </a:ext>
            </a:extLst>
          </p:cNvPr>
          <p:cNvSpPr>
            <a:spLocks noGrp="1"/>
          </p:cNvSpPr>
          <p:nvPr/>
        </p:nvSpPr>
        <p:spPr>
          <a:xfrm>
            <a:off x="6124575" y="3962400"/>
            <a:ext cx="5572125" cy="1790700"/>
          </a:xfrm>
          <a:prstGeom prst="rect">
            <a:avLst/>
          </a:prstGeom>
          <a:solidFill>
            <a:srgbClr val="FFFFFF"/>
          </a:solidFill>
          <a:ln w="11430">
            <a:solidFill>
              <a:srgbClr val="D4D8E0"/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A550628-3C69-43B9-A229-2B877DA529A2}"/>
              </a:ext>
            </a:extLst>
          </p:cNvPr>
          <p:cNvSpPr>
            <a:spLocks noGrp="1"/>
          </p:cNvSpPr>
          <p:nvPr/>
        </p:nvSpPr>
        <p:spPr>
          <a:xfrm>
            <a:off x="6124575" y="3962400"/>
            <a:ext cx="57150" cy="1790700"/>
          </a:xfrm>
          <a:prstGeom prst="rect">
            <a:avLst/>
          </a:prstGeom>
          <a:solidFill>
            <a:srgbClr val="2B303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b="1"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F169821-06F5-46DF-9BE6-50BC22AA84D1}"/>
              </a:ext>
            </a:extLst>
          </p:cNvPr>
          <p:cNvSpPr>
            <a:spLocks noGrp="1"/>
          </p:cNvSpPr>
          <p:nvPr/>
        </p:nvSpPr>
        <p:spPr>
          <a:xfrm>
            <a:off x="6296025" y="4095750"/>
            <a:ext cx="41433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후속 연구 연결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D348F2B-A100-40C5-9857-8A3427A245A2}"/>
              </a:ext>
            </a:extLst>
          </p:cNvPr>
          <p:cNvSpPr>
            <a:spLocks noGrp="1"/>
          </p:cNvSpPr>
          <p:nvPr/>
        </p:nvSpPr>
        <p:spPr>
          <a:xfrm>
            <a:off x="10496550" y="4105275"/>
            <a:ext cx="1009650" cy="22860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38100" tIns="9525" rIns="38100" bIns="9525" anchor="ctr"/>
          <a:lstStyle/>
          <a:p>
            <a:pPr algn="ctr">
              <a:defRPr sz="975" b="1">
                <a:solidFill>
                  <a:srgbClr val="2B3038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2B3038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로드맵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C5B1938-342F-46A1-A624-B1839CC8667C}"/>
              </a:ext>
            </a:extLst>
          </p:cNvPr>
          <p:cNvSpPr>
            <a:spLocks noGrp="1"/>
          </p:cNvSpPr>
          <p:nvPr/>
        </p:nvSpPr>
        <p:spPr>
          <a:xfrm>
            <a:off x="6296025" y="4476750"/>
            <a:ext cx="522922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GPU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검증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→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분야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학습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→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불필요한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부분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줄이기·숫자를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가볍게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저장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endParaRPr lang="en-US" sz="1238" b="1" dirty="0">
              <a:solidFill>
                <a:srgbClr val="4B5563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  <a:p>
            <a:pPr algn="l">
              <a:defRPr sz="1238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→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기기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내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실행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가능성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평가로</a:t>
            </a:r>
            <a:r>
              <a:rPr sz="1238" b="1" dirty="0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 </a:t>
            </a:r>
            <a:r>
              <a:rPr sz="1238" b="1" dirty="0" err="1">
                <a:solidFill>
                  <a:srgbClr val="4B5563"/>
                </a:solidFill>
                <a:latin typeface="Arial Narrow" panose="020B0604020202020204" pitchFamily="34" charset="0"/>
                <a:ea typeface="Dotum" panose="020B0600000101010101" pitchFamily="34" charset="-127"/>
                <a:cs typeface="Arial Narrow" panose="020B0604020202020204" pitchFamily="34" charset="0"/>
              </a:rPr>
              <a:t>확장</a:t>
            </a:r>
            <a:endParaRPr sz="1238" b="1" dirty="0">
              <a:solidFill>
                <a:srgbClr val="4B5563"/>
              </a:solidFill>
              <a:latin typeface="Arial Narrow" panose="020B0604020202020204" pitchFamily="34" charset="0"/>
              <a:ea typeface="Dotum" panose="020B0600000101010101" pitchFamily="34" charset="-127"/>
              <a:cs typeface="Arial Narrow" panose="020B0604020202020204" pitchFamily="34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642AD5E-CF24-2ADA-CAC9-E54B3A304227}"/>
              </a:ext>
            </a:extLst>
          </p:cNvPr>
          <p:cNvSpPr>
            <a:spLocks noGrp="1"/>
          </p:cNvSpPr>
          <p:nvPr/>
        </p:nvSpPr>
        <p:spPr>
          <a:xfrm>
            <a:off x="428625" y="727179"/>
            <a:ext cx="1166812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3"/>
                </a:solidFill>
                <a:latin typeface="Pretendard"/>
                <a:ea typeface="Pretendard"/>
                <a:cs typeface="Pretendard"/>
              </a:defRPr>
            </a:pP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프로젝트가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얻고자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하는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것은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점수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하나가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재현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가능한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독립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실행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2000" b="1" dirty="0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000" b="1" dirty="0" err="1">
                <a:solidFill>
                  <a:srgbClr val="151923"/>
                </a:solidFill>
                <a:latin typeface="Pretendard"/>
                <a:ea typeface="Pretendard"/>
                <a:cs typeface="Pretendard"/>
              </a:rPr>
              <a:t>패키지임</a:t>
            </a:r>
            <a:endParaRPr sz="2000" b="1" dirty="0">
              <a:solidFill>
                <a:srgbClr val="151923"/>
              </a:solidFill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8720929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405</Words>
  <Application>Microsoft Macintosh PowerPoint</Application>
  <DocSecurity>0</DocSecurity>
  <PresentationFormat>와이드스크린</PresentationFormat>
  <Paragraphs>73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Pretendard</vt:lpstr>
      <vt:lpstr>Arial</vt:lpstr>
      <vt:lpstr>Arial Narrow</vt:lpstr>
      <vt:lpstr>Calibri</vt:lpstr>
      <vt:lpstr>ChatGPT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박형욱</cp:lastModifiedBy>
  <cp:revision>2</cp:revision>
  <dcterms:created xsi:type="dcterms:W3CDTF">2026-06-04T12:34:11Z</dcterms:created>
  <dcterms:modified xsi:type="dcterms:W3CDTF">2026-06-06T02:04:27Z</dcterms:modified>
</cp:coreProperties>
</file>