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84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2460-5D6C-AA7C-CE6B-8393AA29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4B2A4-D83C-4371-2AD2-0A9736C1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8A28A-02F2-E83B-1EFD-F23CDEF4B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4971-9BC2-0CF0-2CA9-85EC16C666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183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13DA3CB7-9A97-4B15-8EB4-64ECEA2518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637C1E-5548-4559-B5B2-72C8662B8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12C630-9436-48C0-A601-256E6558DCA4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1A0AC3-97A2-4F29-A26B-6D04A8F55D67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69F7AE-D8D1-4832-87EB-B1C2310358A5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430AD3-04A2-4C17-BD30-8BA17EC15CC0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모델 경량화를 해보고 싶다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!!!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A1554-33A7-46F3-8A5B-A9F5F544FB6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A19303-3975-4C30-B4E3-B7A1F86C6A3F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SOTA 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기술이 집중하지 않는 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‘</a:t>
            </a:r>
            <a:r>
              <a:rPr lang="ko-KR" altLang="en-US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특정 분야를 위한 경량화</a:t>
            </a:r>
            <a:r>
              <a:rPr lang="en-US" altLang="ko-KR" sz="1313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’</a:t>
            </a:r>
            <a:r>
              <a:rPr lang="ko-KR" altLang="en-US" sz="1313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 더 의미 있을 것으로 판단</a:t>
            </a:r>
            <a:endParaRPr sz="1313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E0ECA3-89D8-4B30-9457-7FED9F64D2D7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E2414-4FE2-4B45-8F04-FBF1381BE479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3 / 27</a:t>
            </a: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5A0204F5-382F-3A6A-3DE4-9B534C5F98B1}"/>
              </a:ext>
            </a:extLst>
          </p:cNvPr>
          <p:cNvSpPr/>
          <p:nvPr/>
        </p:nvSpPr>
        <p:spPr>
          <a:xfrm>
            <a:off x="40141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C2D8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D9CF0927-2BC7-7E07-8AD8-191C5B207281}"/>
              </a:ext>
            </a:extLst>
          </p:cNvPr>
          <p:cNvSpPr/>
          <p:nvPr/>
        </p:nvSpPr>
        <p:spPr>
          <a:xfrm>
            <a:off x="610960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</a:t>
            </a:r>
            <a:endParaRPr lang="en-US" sz="19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01DF31AF-179F-C2B1-31EA-8FA8ED72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30" y="2704193"/>
            <a:ext cx="960120" cy="960120"/>
          </a:xfrm>
          <a:prstGeom prst="rect">
            <a:avLst/>
          </a:prstGeom>
        </p:spPr>
      </p:pic>
      <p:sp>
        <p:nvSpPr>
          <p:cNvPr id="43" name="Shape 6">
            <a:extLst>
              <a:ext uri="{FF2B5EF4-FFF2-40B4-BE49-F238E27FC236}">
                <a16:creationId xmlns:a16="http://schemas.microsoft.com/office/drawing/2014/main" id="{3151D8A9-638D-2E00-7414-ADAD6C263D8C}"/>
              </a:ext>
            </a:extLst>
          </p:cNvPr>
          <p:cNvSpPr/>
          <p:nvPr/>
        </p:nvSpPr>
        <p:spPr>
          <a:xfrm>
            <a:off x="630010" y="4026263"/>
            <a:ext cx="1508760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B9EA218A-93A5-7EF4-ACA9-418B75448E0E}"/>
              </a:ext>
            </a:extLst>
          </p:cNvPr>
          <p:cNvSpPr/>
          <p:nvPr/>
        </p:nvSpPr>
        <p:spPr>
          <a:xfrm>
            <a:off x="525018" y="4082288"/>
            <a:ext cx="1618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초대형 언어 모델이 일상이 된 상황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 모델 경량화를 직접 해보고 싶다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생각에서 시작</a:t>
            </a:r>
            <a:endParaRPr lang="en-US" sz="1450" dirty="0"/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04F5C564-C22B-C1FB-F1B5-1FE52F3B916E}"/>
              </a:ext>
            </a:extLst>
          </p:cNvPr>
          <p:cNvSpPr/>
          <p:nvPr/>
        </p:nvSpPr>
        <p:spPr>
          <a:xfrm>
            <a:off x="277885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FD7EE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A68A77C9-E89B-3E63-711F-B584A00929ED}"/>
              </a:ext>
            </a:extLst>
          </p:cNvPr>
          <p:cNvSpPr/>
          <p:nvPr/>
        </p:nvSpPr>
        <p:spPr>
          <a:xfrm>
            <a:off x="2961730" y="217612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DFBDFEC7-A0F6-2186-20FD-578CF46FAE29}"/>
              </a:ext>
            </a:extLst>
          </p:cNvPr>
          <p:cNvSpPr/>
          <p:nvPr/>
        </p:nvSpPr>
        <p:spPr>
          <a:xfrm>
            <a:off x="2994496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9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B1453E2B-A123-1777-6B05-CB8FDF16D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770" y="2704193"/>
            <a:ext cx="960120" cy="960120"/>
          </a:xfrm>
          <a:prstGeom prst="rect">
            <a:avLst/>
          </a:prstGeom>
        </p:spPr>
      </p:pic>
      <p:sp>
        <p:nvSpPr>
          <p:cNvPr id="50" name="Shape 12">
            <a:extLst>
              <a:ext uri="{FF2B5EF4-FFF2-40B4-BE49-F238E27FC236}">
                <a16:creationId xmlns:a16="http://schemas.microsoft.com/office/drawing/2014/main" id="{0888AC8A-53A3-C48C-12BC-328B0753BD52}"/>
              </a:ext>
            </a:extLst>
          </p:cNvPr>
          <p:cNvSpPr/>
          <p:nvPr/>
        </p:nvSpPr>
        <p:spPr>
          <a:xfrm>
            <a:off x="3007450" y="4026263"/>
            <a:ext cx="1508760" cy="0"/>
          </a:xfrm>
          <a:prstGeom prst="line">
            <a:avLst/>
          </a:prstGeom>
          <a:noFill/>
          <a:ln w="12700">
            <a:solidFill>
              <a:srgbClr val="BFD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57C13CA-B519-B9C7-04AB-3E9DCCA02F46}"/>
              </a:ext>
            </a:extLst>
          </p:cNvPr>
          <p:cNvSpPr/>
          <p:nvPr/>
        </p:nvSpPr>
        <p:spPr>
          <a:xfrm>
            <a:off x="2902458" y="4082288"/>
            <a:ext cx="1618488" cy="176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논문과 자료를 검토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많은 경량화 연구가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중임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파악</a:t>
            </a:r>
            <a:endParaRPr lang="en-US" sz="1450" dirty="0"/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A5579FCB-A915-9F3A-F2AC-1BB964401392}"/>
              </a:ext>
            </a:extLst>
          </p:cNvPr>
          <p:cNvSpPr/>
          <p:nvPr/>
        </p:nvSpPr>
        <p:spPr>
          <a:xfrm>
            <a:off x="515629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8EF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78C2F9F0-284D-5682-11E7-710A1A6F6129}"/>
              </a:ext>
            </a:extLst>
          </p:cNvPr>
          <p:cNvSpPr/>
          <p:nvPr/>
        </p:nvSpPr>
        <p:spPr>
          <a:xfrm>
            <a:off x="5353648" y="2100580"/>
            <a:ext cx="12656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r>
              <a:rPr lang="en-US" sz="19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&amp; </a:t>
            </a:r>
            <a:r>
              <a:rPr lang="ko-KR" altLang="en-US" sz="19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조언</a:t>
            </a:r>
            <a:endParaRPr lang="en-US" sz="1900" dirty="0"/>
          </a:p>
        </p:txBody>
      </p:sp>
      <p:pic>
        <p:nvPicPr>
          <p:cNvPr id="56" name="Image 2" descr="preencoded.png">
            <a:extLst>
              <a:ext uri="{FF2B5EF4-FFF2-40B4-BE49-F238E27FC236}">
                <a16:creationId xmlns:a16="http://schemas.microsoft.com/office/drawing/2014/main" id="{D1F97241-1E32-0F8A-BAD2-3463B2694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210" y="2704193"/>
            <a:ext cx="960120" cy="960120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D2F3B189-6982-1B79-1E77-770FD04F5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618" y="3435713"/>
            <a:ext cx="310896" cy="310896"/>
          </a:xfrm>
          <a:prstGeom prst="rect">
            <a:avLst/>
          </a:prstGeom>
        </p:spPr>
      </p:pic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F2E6FDEB-F068-4DD9-BE06-4627561EE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026" y="3435713"/>
            <a:ext cx="310896" cy="310896"/>
          </a:xfrm>
          <a:prstGeom prst="rect">
            <a:avLst/>
          </a:prstGeom>
        </p:spPr>
      </p:pic>
      <p:sp>
        <p:nvSpPr>
          <p:cNvPr id="59" name="Shape 18">
            <a:extLst>
              <a:ext uri="{FF2B5EF4-FFF2-40B4-BE49-F238E27FC236}">
                <a16:creationId xmlns:a16="http://schemas.microsoft.com/office/drawing/2014/main" id="{263E2FE6-E9D0-FFF6-59C4-D7903D113C9B}"/>
              </a:ext>
            </a:extLst>
          </p:cNvPr>
          <p:cNvSpPr/>
          <p:nvPr/>
        </p:nvSpPr>
        <p:spPr>
          <a:xfrm>
            <a:off x="5384890" y="4026263"/>
            <a:ext cx="1508760" cy="0"/>
          </a:xfrm>
          <a:prstGeom prst="line">
            <a:avLst/>
          </a:prstGeom>
          <a:noFill/>
          <a:ln w="12700">
            <a:solidFill>
              <a:srgbClr val="BCD8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AEAA56AA-7351-4D7A-CEB5-B5C5A916526E}"/>
              </a:ext>
            </a:extLst>
          </p:cNvPr>
          <p:cNvSpPr/>
          <p:nvPr/>
        </p:nvSpPr>
        <p:spPr>
          <a:xfrm>
            <a:off x="5279898" y="4082288"/>
            <a:ext cx="1618488" cy="149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단기간 프로젝트로 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SOTA 수준 추격은 어려움</a:t>
            </a:r>
            <a:endParaRPr lang="en-US" sz="1450" b="1" dirty="0">
              <a:solidFill>
                <a:srgbClr val="0070C0"/>
              </a:solidFill>
            </a:endParaRPr>
          </a:p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현실적인 범위 설정이 필요</a:t>
            </a:r>
            <a:endParaRPr lang="en-US" sz="145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A811DDB7-E7EA-762D-FF61-AAF44F489EF1}"/>
              </a:ext>
            </a:extLst>
          </p:cNvPr>
          <p:cNvSpPr/>
          <p:nvPr/>
        </p:nvSpPr>
        <p:spPr>
          <a:xfrm>
            <a:off x="7533730" y="2043158"/>
            <a:ext cx="1965960" cy="3957593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CDAF0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6498161E-88ED-9D4C-F041-85CF1452C02A}"/>
              </a:ext>
            </a:extLst>
          </p:cNvPr>
          <p:cNvSpPr/>
          <p:nvPr/>
        </p:nvSpPr>
        <p:spPr>
          <a:xfrm>
            <a:off x="7740613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전환</a:t>
            </a:r>
            <a:endParaRPr lang="en-US" sz="1900" dirty="0"/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210BCB1F-0AAC-0723-532D-E7AE3AA076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6650" y="2704193"/>
            <a:ext cx="960120" cy="960120"/>
          </a:xfrm>
          <a:prstGeom prst="rect">
            <a:avLst/>
          </a:prstGeom>
        </p:spPr>
      </p:pic>
      <p:sp>
        <p:nvSpPr>
          <p:cNvPr id="66" name="Shape 24">
            <a:extLst>
              <a:ext uri="{FF2B5EF4-FFF2-40B4-BE49-F238E27FC236}">
                <a16:creationId xmlns:a16="http://schemas.microsoft.com/office/drawing/2014/main" id="{9CCD0FAB-BA6E-0CE2-5824-75FC92176AA4}"/>
              </a:ext>
            </a:extLst>
          </p:cNvPr>
          <p:cNvSpPr/>
          <p:nvPr/>
        </p:nvSpPr>
        <p:spPr>
          <a:xfrm>
            <a:off x="7762330" y="4026263"/>
            <a:ext cx="1508760" cy="0"/>
          </a:xfrm>
          <a:prstGeom prst="line">
            <a:avLst/>
          </a:prstGeom>
          <a:noFill/>
          <a:ln w="12700">
            <a:solidFill>
              <a:srgbClr val="BCDA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9C0513E5-2349-C7C0-0DEC-EE5664A06007}"/>
              </a:ext>
            </a:extLst>
          </p:cNvPr>
          <p:cNvSpPr/>
          <p:nvPr/>
        </p:nvSpPr>
        <p:spPr>
          <a:xfrm>
            <a:off x="7657338" y="4082289"/>
            <a:ext cx="1618488" cy="168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SOTA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경량화보다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확한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사용 목적을 가진 모델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경량화에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것이 더 바람직할 것으로 판단</a:t>
            </a:r>
            <a:endParaRPr lang="en-US" sz="145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955C7678-7A74-B9DE-E9D1-C96CD1558FEA}"/>
              </a:ext>
            </a:extLst>
          </p:cNvPr>
          <p:cNvSpPr/>
          <p:nvPr/>
        </p:nvSpPr>
        <p:spPr>
          <a:xfrm>
            <a:off x="9911170" y="2043159"/>
            <a:ext cx="1965960" cy="3957592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BEDCF1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D7562EFC-E08E-1BFC-D3F8-01BC680686D8}"/>
              </a:ext>
            </a:extLst>
          </p:cNvPr>
          <p:cNvSpPr/>
          <p:nvPr/>
        </p:nvSpPr>
        <p:spPr>
          <a:xfrm>
            <a:off x="10127578" y="2100580"/>
            <a:ext cx="1124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2992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900" dirty="0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EE58C24F-0929-D5D7-A7F0-19DC14B637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4090" y="2704193"/>
            <a:ext cx="960120" cy="960120"/>
          </a:xfrm>
          <a:prstGeom prst="rect">
            <a:avLst/>
          </a:prstGeom>
        </p:spPr>
      </p:pic>
      <p:sp>
        <p:nvSpPr>
          <p:cNvPr id="73" name="Shape 30">
            <a:extLst>
              <a:ext uri="{FF2B5EF4-FFF2-40B4-BE49-F238E27FC236}">
                <a16:creationId xmlns:a16="http://schemas.microsoft.com/office/drawing/2014/main" id="{B52F51AD-AF84-2CA3-1CA1-9F02402894E2}"/>
              </a:ext>
            </a:extLst>
          </p:cNvPr>
          <p:cNvSpPr/>
          <p:nvPr/>
        </p:nvSpPr>
        <p:spPr>
          <a:xfrm>
            <a:off x="10139770" y="4026263"/>
            <a:ext cx="1508760" cy="0"/>
          </a:xfrm>
          <a:prstGeom prst="line">
            <a:avLst/>
          </a:prstGeom>
          <a:noFill/>
          <a:ln w="12700">
            <a:solidFill>
              <a:srgbClr val="BEDC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6C007CDD-41A8-5951-0E69-9AF5C1B58784}"/>
              </a:ext>
            </a:extLst>
          </p:cNvPr>
          <p:cNvSpPr/>
          <p:nvPr/>
        </p:nvSpPr>
        <p:spPr>
          <a:xfrm>
            <a:off x="10034778" y="4082288"/>
            <a:ext cx="1618488" cy="85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 가치가 돋보일 수 </a:t>
            </a:r>
            <a:r>
              <a:rPr lang="en-US" sz="1450" b="1" dirty="0" err="1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45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구체적인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분야</a:t>
            </a:r>
            <a:r>
              <a:rPr 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5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</a:t>
            </a:r>
            <a:endParaRPr lang="en-US" sz="1450" dirty="0"/>
          </a:p>
        </p:txBody>
      </p:sp>
      <p:sp>
        <p:nvSpPr>
          <p:cNvPr id="75" name="Shape 32">
            <a:extLst>
              <a:ext uri="{FF2B5EF4-FFF2-40B4-BE49-F238E27FC236}">
                <a16:creationId xmlns:a16="http://schemas.microsoft.com/office/drawing/2014/main" id="{7BBFC60B-4AAB-7A90-2360-FA4F1C4D1FD1}"/>
              </a:ext>
            </a:extLst>
          </p:cNvPr>
          <p:cNvSpPr/>
          <p:nvPr/>
        </p:nvSpPr>
        <p:spPr>
          <a:xfrm>
            <a:off x="2394802" y="3838811"/>
            <a:ext cx="356616" cy="512064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47755B0E-1F48-B37F-0DE5-D8CF8020FC94}"/>
              </a:ext>
            </a:extLst>
          </p:cNvPr>
          <p:cNvSpPr/>
          <p:nvPr/>
        </p:nvSpPr>
        <p:spPr>
          <a:xfrm>
            <a:off x="4772242" y="3838811"/>
            <a:ext cx="356616" cy="512064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192A42D4-334A-8A82-A801-A9F5DB7C7884}"/>
              </a:ext>
            </a:extLst>
          </p:cNvPr>
          <p:cNvSpPr/>
          <p:nvPr/>
        </p:nvSpPr>
        <p:spPr>
          <a:xfrm>
            <a:off x="7149682" y="3838811"/>
            <a:ext cx="356616" cy="512064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AB94729B-F91A-8381-01B4-7932758CA2BA}"/>
              </a:ext>
            </a:extLst>
          </p:cNvPr>
          <p:cNvSpPr/>
          <p:nvPr/>
        </p:nvSpPr>
        <p:spPr>
          <a:xfrm>
            <a:off x="9527122" y="3838811"/>
            <a:ext cx="356616" cy="512064"/>
          </a:xfrm>
          <a:prstGeom prst="rightArrow">
            <a:avLst/>
          </a:prstGeom>
          <a:solidFill>
            <a:srgbClr val="2185C0"/>
          </a:solidFill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04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8736-E4F2-3475-BCC7-8714AE6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EFD2F0-D467-4E9F-7127-C1A9FAB37755}"/>
              </a:ext>
            </a:extLst>
          </p:cNvPr>
          <p:cNvSpPr>
            <a:spLocks noGrp="1"/>
          </p:cNvSpPr>
          <p:nvPr/>
        </p:nvSpPr>
        <p:spPr>
          <a:xfrm>
            <a:off x="-5842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84D9C6-F9D6-E890-FAA7-0A1B6E350A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86F7D5-9DFD-DC6C-E078-998E9E3A4155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5EC9FA-01CA-221C-0236-B913975D8A0C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19E4DF-26DD-BD4C-F456-69A1D6A9C582}"/>
              </a:ext>
            </a:extLst>
          </p:cNvPr>
          <p:cNvSpPr>
            <a:spLocks noGrp="1"/>
          </p:cNvSpPr>
          <p:nvPr/>
        </p:nvSpPr>
        <p:spPr>
          <a:xfrm>
            <a:off x="11068050" y="2381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788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3299C3-9332-F26C-AB94-EAFD49DBB8F0}"/>
              </a:ext>
            </a:extLst>
          </p:cNvPr>
          <p:cNvSpPr>
            <a:spLocks noGrp="1"/>
          </p:cNvSpPr>
          <p:nvPr/>
        </p:nvSpPr>
        <p:spPr>
          <a:xfrm>
            <a:off x="400050" y="885825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Motivation: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그런데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경량화 된 모델은 </a:t>
            </a:r>
            <a:r>
              <a:rPr lang="ko-KR" altLang="en-US" sz="2400" b="1" dirty="0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어디에 필요</a:t>
            </a:r>
            <a:r>
              <a:rPr lang="ko-KR" altLang="en-US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할까</a:t>
            </a:r>
            <a:r>
              <a:rPr lang="en-US" altLang="ko-KR" sz="24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?</a:t>
            </a:r>
            <a:endParaRPr sz="24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4813FA-15C4-9CEF-BE9C-83D2421D6A3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DDECB6-6AED-3B06-8B72-C30D02362DCA}"/>
              </a:ext>
            </a:extLst>
          </p:cNvPr>
          <p:cNvSpPr>
            <a:spLocks noGrp="1"/>
          </p:cNvSpPr>
          <p:nvPr/>
        </p:nvSpPr>
        <p:spPr>
          <a:xfrm>
            <a:off x="400050" y="661035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1_개요, 2_필요성과적용분야.md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C3D153-E146-E58D-5CB3-87AB45DFC22B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3 / 27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173DD3C-979B-B7F3-1616-1A6A9F7008C3}"/>
              </a:ext>
            </a:extLst>
          </p:cNvPr>
          <p:cNvSpPr/>
          <p:nvPr/>
        </p:nvSpPr>
        <p:spPr>
          <a:xfrm>
            <a:off x="402336" y="1463040"/>
            <a:ext cx="1128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 </a:t>
            </a:r>
            <a:r>
              <a:rPr 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‘선택’이 아니라 ‘요건’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되는 환경을 기준으로, </a:t>
            </a:r>
            <a:r>
              <a:rPr lang="en-US" sz="1310" b="1" dirty="0">
                <a:solidFill>
                  <a:srgbClr val="007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제약(연결성·연산)을 동시에·강하게 만족</a:t>
            </a:r>
            <a:r>
              <a:rPr lang="en-US" sz="131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대표 시나리오 도출</a:t>
            </a:r>
            <a:endParaRPr lang="en-US" sz="131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9A13F29-A574-5C95-4D15-EDF8609FE9C4}"/>
              </a:ext>
            </a:extLst>
          </p:cNvPr>
          <p:cNvSpPr/>
          <p:nvPr/>
        </p:nvSpPr>
        <p:spPr>
          <a:xfrm>
            <a:off x="40233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9A28FF-EE1C-A0B6-A839-24345A49EC40}"/>
              </a:ext>
            </a:extLst>
          </p:cNvPr>
          <p:cNvSpPr/>
          <p:nvPr/>
        </p:nvSpPr>
        <p:spPr>
          <a:xfrm>
            <a:off x="530733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 가치 조건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072E30F-A90A-7679-85EA-86556B33942D}"/>
              </a:ext>
            </a:extLst>
          </p:cNvPr>
          <p:cNvSpPr/>
          <p:nvPr/>
        </p:nvSpPr>
        <p:spPr>
          <a:xfrm>
            <a:off x="330555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8EAE44-0C79-1EF5-0864-071BAD86A814}"/>
              </a:ext>
            </a:extLst>
          </p:cNvPr>
          <p:cNvSpPr/>
          <p:nvPr/>
        </p:nvSpPr>
        <p:spPr>
          <a:xfrm>
            <a:off x="3488436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분야 선정 기준</a:t>
            </a:r>
            <a:endParaRPr lang="en-US" sz="15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757D48C-E54C-9856-C651-ECF4AF2D97CB}"/>
              </a:ext>
            </a:extLst>
          </p:cNvPr>
          <p:cNvSpPr/>
          <p:nvPr/>
        </p:nvSpPr>
        <p:spPr>
          <a:xfrm>
            <a:off x="620877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442527-6BFD-1110-1E0E-056EBB2602B1}"/>
              </a:ext>
            </a:extLst>
          </p:cNvPr>
          <p:cNvSpPr/>
          <p:nvPr/>
        </p:nvSpPr>
        <p:spPr>
          <a:xfrm>
            <a:off x="6402324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 비교</a:t>
            </a:r>
            <a:endParaRPr lang="en-US" sz="15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CCD8D41-C7C6-737E-A177-0B9CBE69F7E5}"/>
              </a:ext>
            </a:extLst>
          </p:cNvPr>
          <p:cNvSpPr/>
          <p:nvPr/>
        </p:nvSpPr>
        <p:spPr>
          <a:xfrm>
            <a:off x="9111996" y="1985264"/>
            <a:ext cx="2574036" cy="4212336"/>
          </a:xfrm>
          <a:prstGeom prst="roundRect">
            <a:avLst>
              <a:gd name="adj" fmla="val 3197"/>
            </a:avLst>
          </a:prstGeom>
          <a:solidFill>
            <a:srgbClr val="FFFFFF"/>
          </a:solidFill>
          <a:ln w="12700">
            <a:solidFill>
              <a:srgbClr val="C2D8EE"/>
            </a:solidFill>
            <a:prstDash val="solid"/>
          </a:ln>
          <a:effectLst>
            <a:outerShdw blurRad="76200" dist="25400" dir="5400000" algn="bl" rotWithShape="0">
              <a:srgbClr val="9AA5B1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2ECBC74-D141-2578-1365-F69700E3C8E5}"/>
              </a:ext>
            </a:extLst>
          </p:cNvPr>
          <p:cNvSpPr/>
          <p:nvPr/>
        </p:nvSpPr>
        <p:spPr>
          <a:xfrm>
            <a:off x="9278112" y="2074037"/>
            <a:ext cx="1879092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AI 선정 이유</a:t>
            </a:r>
            <a:endParaRPr lang="en-US" sz="15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D14D97F-5675-6D27-3040-974A356AE25D}"/>
              </a:ext>
            </a:extLst>
          </p:cNvPr>
          <p:cNvSpPr/>
          <p:nvPr/>
        </p:nvSpPr>
        <p:spPr>
          <a:xfrm>
            <a:off x="521208" y="2443607"/>
            <a:ext cx="1122426" cy="1791081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712313-0264-4533-2DF6-4BF7664C3D83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DEB1188-179D-7A8A-BBCB-1CB33C5BFC21}"/>
              </a:ext>
            </a:extLst>
          </p:cNvPr>
          <p:cNvSpPr/>
          <p:nvPr/>
        </p:nvSpPr>
        <p:spPr>
          <a:xfrm>
            <a:off x="521208" y="2571623"/>
            <a:ext cx="1122426" cy="10972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518917-AE15-66A3-1D2B-5D4C7805029E}"/>
              </a:ext>
            </a:extLst>
          </p:cNvPr>
          <p:cNvSpPr/>
          <p:nvPr/>
        </p:nvSpPr>
        <p:spPr>
          <a:xfrm>
            <a:off x="521208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없는 환경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212DCE5-AC28-71E1-3330-B1F065F6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2745359"/>
            <a:ext cx="384048" cy="384048"/>
          </a:xfrm>
          <a:prstGeom prst="rect">
            <a:avLst/>
          </a:prstGeom>
        </p:spPr>
      </p:pic>
      <p:sp>
        <p:nvSpPr>
          <p:cNvPr id="33" name="Text 30">
            <a:extLst>
              <a:ext uri="{FF2B5EF4-FFF2-40B4-BE49-F238E27FC236}">
                <a16:creationId xmlns:a16="http://schemas.microsoft.com/office/drawing/2014/main" id="{608547FE-13F6-5E9B-1287-EBBD6A4238FF}"/>
              </a:ext>
            </a:extLst>
          </p:cNvPr>
          <p:cNvSpPr/>
          <p:nvPr/>
        </p:nvSpPr>
        <p:spPr>
          <a:xfrm>
            <a:off x="605790" y="3201035"/>
            <a:ext cx="1037844" cy="869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원활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충분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모델·클라우드 추론으로 대체 가능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경량화의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실익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작음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28D0660-5F9A-A27E-FC08-0FE4E0DAA88D}"/>
              </a:ext>
            </a:extLst>
          </p:cNvPr>
          <p:cNvSpPr/>
          <p:nvPr/>
        </p:nvSpPr>
        <p:spPr>
          <a:xfrm>
            <a:off x="1735074" y="2443607"/>
            <a:ext cx="1122426" cy="1791081"/>
          </a:xfrm>
          <a:prstGeom prst="roundRect">
            <a:avLst>
              <a:gd name="adj" fmla="val 4073"/>
            </a:avLst>
          </a:prstGeom>
          <a:solidFill>
            <a:srgbClr val="FFFFFF"/>
          </a:solidFill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6092F74-32C8-D69D-93C1-CD01CB482F49}"/>
              </a:ext>
            </a:extLst>
          </p:cNvPr>
          <p:cNvSpPr/>
          <p:nvPr/>
        </p:nvSpPr>
        <p:spPr>
          <a:xfrm>
            <a:off x="1739835" y="2446783"/>
            <a:ext cx="1112902" cy="237744"/>
          </a:xfrm>
          <a:prstGeom prst="roundRect">
            <a:avLst>
              <a:gd name="adj" fmla="val 19231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E221DECE-303D-5037-991E-EA40BC4C63C9}"/>
              </a:ext>
            </a:extLst>
          </p:cNvPr>
          <p:cNvSpPr/>
          <p:nvPr/>
        </p:nvSpPr>
        <p:spPr>
          <a:xfrm>
            <a:off x="1739835" y="2581149"/>
            <a:ext cx="1112902" cy="1097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CC73D9DC-CCB1-1B1C-C4D8-BDA71ACE1B34}"/>
              </a:ext>
            </a:extLst>
          </p:cNvPr>
          <p:cNvSpPr/>
          <p:nvPr/>
        </p:nvSpPr>
        <p:spPr>
          <a:xfrm>
            <a:off x="1735074" y="2443607"/>
            <a:ext cx="112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환경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8E938F11-FB36-C02B-5B7F-F7D72C036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263" y="2745359"/>
            <a:ext cx="384048" cy="384048"/>
          </a:xfrm>
          <a:prstGeom prst="rect">
            <a:avLst/>
          </a:prstGeom>
        </p:spPr>
      </p:pic>
      <p:sp>
        <p:nvSpPr>
          <p:cNvPr id="40" name="Text 35">
            <a:extLst>
              <a:ext uri="{FF2B5EF4-FFF2-40B4-BE49-F238E27FC236}">
                <a16:creationId xmlns:a16="http://schemas.microsoft.com/office/drawing/2014/main" id="{163101F2-2BC1-64BB-E093-B31427091042}"/>
              </a:ext>
            </a:extLst>
          </p:cNvPr>
          <p:cNvSpPr/>
          <p:nvPr/>
        </p:nvSpPr>
        <p:spPr>
          <a:xfrm>
            <a:off x="1777365" y="3201035"/>
            <a:ext cx="1087755" cy="869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오프라인·온디바이스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전송 없이 처리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모델이 ‘선택’이 아니라 ‘요건’</a:t>
            </a:r>
            <a:endParaRPr lang="en-US" sz="900" dirty="0"/>
          </a:p>
        </p:txBody>
      </p:sp>
      <p:sp>
        <p:nvSpPr>
          <p:cNvPr id="41" name="Shape 36">
            <a:extLst>
              <a:ext uri="{FF2B5EF4-FFF2-40B4-BE49-F238E27FC236}">
                <a16:creationId xmlns:a16="http://schemas.microsoft.com/office/drawing/2014/main" id="{283A6280-0165-0B3E-CABC-09034BFCF570}"/>
              </a:ext>
            </a:extLst>
          </p:cNvPr>
          <p:cNvSpPr/>
          <p:nvPr/>
        </p:nvSpPr>
        <p:spPr>
          <a:xfrm>
            <a:off x="1543050" y="4513833"/>
            <a:ext cx="292608" cy="274320"/>
          </a:xfrm>
          <a:prstGeom prst="down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5097102-6C8A-FFCB-E864-DDCA91D46334}"/>
              </a:ext>
            </a:extLst>
          </p:cNvPr>
          <p:cNvSpPr/>
          <p:nvPr/>
        </p:nvSpPr>
        <p:spPr>
          <a:xfrm>
            <a:off x="530733" y="4922584"/>
            <a:ext cx="2336292" cy="1088136"/>
          </a:xfrm>
          <a:prstGeom prst="roundRect">
            <a:avLst>
              <a:gd name="adj" fmla="val 5042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93CEAD47-FF42-3E99-8E45-AA121C791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847" y="4994974"/>
            <a:ext cx="420624" cy="420624"/>
          </a:xfrm>
          <a:prstGeom prst="rect">
            <a:avLst/>
          </a:prstGeom>
        </p:spPr>
      </p:pic>
      <p:sp>
        <p:nvSpPr>
          <p:cNvPr id="44" name="Text 38">
            <a:extLst>
              <a:ext uri="{FF2B5EF4-FFF2-40B4-BE49-F238E27FC236}">
                <a16:creationId xmlns:a16="http://schemas.microsoft.com/office/drawing/2014/main" id="{F2005EFF-B98F-C8F8-47BB-1338A003E1A6}"/>
              </a:ext>
            </a:extLst>
          </p:cNvPr>
          <p:cNvSpPr/>
          <p:nvPr/>
        </p:nvSpPr>
        <p:spPr>
          <a:xfrm>
            <a:off x="640461" y="537064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경량화가 ‘선택’이 아니라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‘요건’이 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되는</a:t>
            </a:r>
            <a:r>
              <a:rPr 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b="1" dirty="0" err="1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환경인가</a:t>
            </a:r>
            <a:r>
              <a:rPr lang="ko-KR" altLang="en-US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중요</a:t>
            </a:r>
            <a:r>
              <a:rPr lang="en-US" altLang="ko-KR" sz="13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300" dirty="0"/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72E08766-826F-6C4E-3E30-54472D4CA056}"/>
              </a:ext>
            </a:extLst>
          </p:cNvPr>
          <p:cNvSpPr/>
          <p:nvPr/>
        </p:nvSpPr>
        <p:spPr>
          <a:xfrm>
            <a:off x="3424428" y="2443607"/>
            <a:ext cx="2336292" cy="1172718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E72F9310-AB37-7B04-EE6D-1709089A3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6" y="2553335"/>
            <a:ext cx="365760" cy="365760"/>
          </a:xfrm>
          <a:prstGeom prst="rect">
            <a:avLst/>
          </a:prstGeom>
        </p:spPr>
      </p:pic>
      <p:sp>
        <p:nvSpPr>
          <p:cNvPr id="47" name="Text 40">
            <a:extLst>
              <a:ext uri="{FF2B5EF4-FFF2-40B4-BE49-F238E27FC236}">
                <a16:creationId xmlns:a16="http://schemas.microsoft.com/office/drawing/2014/main" id="{EA14E83A-3262-3104-2FB2-BA435C6ED275}"/>
              </a:ext>
            </a:extLst>
          </p:cNvPr>
          <p:cNvSpPr/>
          <p:nvPr/>
        </p:nvSpPr>
        <p:spPr>
          <a:xfrm>
            <a:off x="3973068" y="248932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1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 제약</a:t>
            </a:r>
            <a:endParaRPr lang="en-US" sz="1200" dirty="0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C0F2B5B7-1FE1-DDEB-6268-B6471C6AC1A8}"/>
              </a:ext>
            </a:extLst>
          </p:cNvPr>
          <p:cNvSpPr/>
          <p:nvPr/>
        </p:nvSpPr>
        <p:spPr>
          <a:xfrm>
            <a:off x="3462530" y="3005709"/>
            <a:ext cx="22631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디바이스 외부로 나가지 않아야 함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처리가 요건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5F4CFAA5-C83C-3E14-57A1-913F6A0B0266}"/>
              </a:ext>
            </a:extLst>
          </p:cNvPr>
          <p:cNvSpPr/>
          <p:nvPr/>
        </p:nvSpPr>
        <p:spPr>
          <a:xfrm>
            <a:off x="3424428" y="3954653"/>
            <a:ext cx="2336292" cy="1243584"/>
          </a:xfrm>
          <a:prstGeom prst="roundRect">
            <a:avLst>
              <a:gd name="adj" fmla="val 4412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09C0CD6A-A7F3-4223-D80A-2E96D246EE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156" y="4064381"/>
            <a:ext cx="365760" cy="365760"/>
          </a:xfrm>
          <a:prstGeom prst="rect">
            <a:avLst/>
          </a:prstGeom>
        </p:spPr>
      </p:pic>
      <p:sp>
        <p:nvSpPr>
          <p:cNvPr id="53" name="Text 45">
            <a:extLst>
              <a:ext uri="{FF2B5EF4-FFF2-40B4-BE49-F238E27FC236}">
                <a16:creationId xmlns:a16="http://schemas.microsoft.com/office/drawing/2014/main" id="{08D8A721-C41E-3D0B-089D-9B061B8464FF}"/>
              </a:ext>
            </a:extLst>
          </p:cNvPr>
          <p:cNvSpPr/>
          <p:nvPr/>
        </p:nvSpPr>
        <p:spPr>
          <a:xfrm>
            <a:off x="3973068" y="4009517"/>
            <a:ext cx="17327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2
</a:t>
            </a:r>
            <a:r>
              <a:rPr lang="en-US" sz="12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 제약</a:t>
            </a:r>
            <a:endParaRPr lang="en-US" sz="120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054056D6-28BA-D9C8-8A53-5A51A5680D7E}"/>
              </a:ext>
            </a:extLst>
          </p:cNvPr>
          <p:cNvSpPr/>
          <p:nvPr/>
        </p:nvSpPr>
        <p:spPr>
          <a:xfrm>
            <a:off x="3462530" y="4496880"/>
            <a:ext cx="21534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하드웨어를 전제할 수 없음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디바이스 자원만으로 처리</a:t>
            </a:r>
            <a:endParaRPr lang="en-US" sz="1000" dirty="0"/>
          </a:p>
          <a:p>
            <a:pPr marL="127000" indent="-127000" algn="l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 모델이 요건</a:t>
            </a:r>
            <a:endParaRPr lang="en-US" sz="1000" dirty="0"/>
          </a:p>
        </p:txBody>
      </p:sp>
      <p:sp>
        <p:nvSpPr>
          <p:cNvPr id="55" name="Shape 47">
            <a:extLst>
              <a:ext uri="{FF2B5EF4-FFF2-40B4-BE49-F238E27FC236}">
                <a16:creationId xmlns:a16="http://schemas.microsoft.com/office/drawing/2014/main" id="{30FDD498-32ED-268B-C17D-42B0BE242157}"/>
              </a:ext>
            </a:extLst>
          </p:cNvPr>
          <p:cNvSpPr/>
          <p:nvPr/>
        </p:nvSpPr>
        <p:spPr>
          <a:xfrm>
            <a:off x="3424428" y="5344541"/>
            <a:ext cx="2336292" cy="640080"/>
          </a:xfrm>
          <a:prstGeom prst="roundRect">
            <a:avLst>
              <a:gd name="adj" fmla="val 8571"/>
            </a:avLst>
          </a:prstGeom>
          <a:solidFill>
            <a:srgbClr val="E9F1F9"/>
          </a:solidFill>
          <a:ln w="9525">
            <a:solidFill>
              <a:srgbClr val="C2D8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5" descr="preencoded.png">
            <a:extLst>
              <a:ext uri="{FF2B5EF4-FFF2-40B4-BE49-F238E27FC236}">
                <a16:creationId xmlns:a16="http://schemas.microsoft.com/office/drawing/2014/main" id="{8A6DA817-1830-19B5-6581-B850DBA9F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2444" y="5490845"/>
            <a:ext cx="384048" cy="384048"/>
          </a:xfrm>
          <a:prstGeom prst="rect">
            <a:avLst/>
          </a:prstGeom>
        </p:spPr>
      </p:pic>
      <p:sp>
        <p:nvSpPr>
          <p:cNvPr id="57" name="Text 48">
            <a:extLst>
              <a:ext uri="{FF2B5EF4-FFF2-40B4-BE49-F238E27FC236}">
                <a16:creationId xmlns:a16="http://schemas.microsoft.com/office/drawing/2014/main" id="{E760BD27-69F0-F26E-5755-853CA42F91E1}"/>
              </a:ext>
            </a:extLst>
          </p:cNvPr>
          <p:cNvSpPr/>
          <p:nvPr/>
        </p:nvSpPr>
        <p:spPr>
          <a:xfrm>
            <a:off x="4009644" y="5352161"/>
            <a:ext cx="1677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제약을 동시에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만족해야</a:t>
            </a:r>
            <a:r>
              <a:rPr lang="en-US" sz="13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함</a:t>
            </a:r>
            <a:endParaRPr lang="en-US" sz="1300" dirty="0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67EDDAFF-C7BC-ED1A-B89C-2089A972FAF7}"/>
              </a:ext>
            </a:extLst>
          </p:cNvPr>
          <p:cNvSpPr/>
          <p:nvPr/>
        </p:nvSpPr>
        <p:spPr>
          <a:xfrm>
            <a:off x="6364224" y="243332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시나리오</a:t>
            </a:r>
            <a:endParaRPr lang="en-US" sz="900" dirty="0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4743508C-579D-2E80-CD42-6124E80A0046}"/>
              </a:ext>
            </a:extLst>
          </p:cNvPr>
          <p:cNvSpPr/>
          <p:nvPr/>
        </p:nvSpPr>
        <p:spPr>
          <a:xfrm>
            <a:off x="7645908" y="2433320"/>
            <a:ext cx="5052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900" dirty="0"/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A863CA74-BECA-845E-A06B-5CD899C90C2D}"/>
              </a:ext>
            </a:extLst>
          </p:cNvPr>
          <p:cNvSpPr/>
          <p:nvPr/>
        </p:nvSpPr>
        <p:spPr>
          <a:xfrm>
            <a:off x="8158734" y="2418080"/>
            <a:ext cx="5052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자원</a:t>
            </a:r>
            <a:endParaRPr lang="en-US" sz="900" dirty="0"/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6CB6C18D-AE33-2EFE-055A-E5FC0A9210CA}"/>
              </a:ext>
            </a:extLst>
          </p:cNvPr>
          <p:cNvSpPr/>
          <p:nvPr/>
        </p:nvSpPr>
        <p:spPr>
          <a:xfrm>
            <a:off x="6327648" y="2762504"/>
            <a:ext cx="2336292" cy="0"/>
          </a:xfrm>
          <a:prstGeom prst="line">
            <a:avLst/>
          </a:prstGeom>
          <a:noFill/>
          <a:ln w="12700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862E9D32-1FB7-596D-9F84-08756D607CB4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DCB41AD-D83F-6FFB-B625-17CFE35CAB9A}"/>
              </a:ext>
            </a:extLst>
          </p:cNvPr>
          <p:cNvSpPr/>
          <p:nvPr/>
        </p:nvSpPr>
        <p:spPr>
          <a:xfrm>
            <a:off x="6345936" y="302958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  <p:pic>
        <p:nvPicPr>
          <p:cNvPr id="64" name="Image 6" descr="preencoded.png">
            <a:extLst>
              <a:ext uri="{FF2B5EF4-FFF2-40B4-BE49-F238E27FC236}">
                <a16:creationId xmlns:a16="http://schemas.microsoft.com/office/drawing/2014/main" id="{D40E438D-244A-CAAA-9CC6-57F82DC56E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3002153"/>
            <a:ext cx="237744" cy="237744"/>
          </a:xfrm>
          <a:prstGeom prst="rect">
            <a:avLst/>
          </a:prstGeom>
        </p:spPr>
      </p:pic>
      <p:sp>
        <p:nvSpPr>
          <p:cNvPr id="65" name="Text 55">
            <a:extLst>
              <a:ext uri="{FF2B5EF4-FFF2-40B4-BE49-F238E27FC236}">
                <a16:creationId xmlns:a16="http://schemas.microsoft.com/office/drawing/2014/main" id="{B8793A07-2392-B6AF-37FE-15DACF3570F1}"/>
              </a:ext>
            </a:extLst>
          </p:cNvPr>
          <p:cNvSpPr/>
          <p:nvPr/>
        </p:nvSpPr>
        <p:spPr>
          <a:xfrm>
            <a:off x="6839712" y="2864993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건설 현장 단말</a:t>
            </a:r>
            <a:endParaRPr lang="en-US" sz="900" dirty="0"/>
          </a:p>
        </p:txBody>
      </p:sp>
      <p:pic>
        <p:nvPicPr>
          <p:cNvPr id="66" name="Image 7" descr="preencoded.png">
            <a:extLst>
              <a:ext uri="{FF2B5EF4-FFF2-40B4-BE49-F238E27FC236}">
                <a16:creationId xmlns:a16="http://schemas.microsoft.com/office/drawing/2014/main" id="{A6AFE265-EA0E-DE67-E59D-4A032B137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259" y="3002153"/>
            <a:ext cx="237744" cy="237744"/>
          </a:xfrm>
          <a:prstGeom prst="rect">
            <a:avLst/>
          </a:prstGeom>
        </p:spPr>
      </p:pic>
      <p:pic>
        <p:nvPicPr>
          <p:cNvPr id="67" name="Image 8" descr="preencoded.png">
            <a:extLst>
              <a:ext uri="{FF2B5EF4-FFF2-40B4-BE49-F238E27FC236}">
                <a16:creationId xmlns:a16="http://schemas.microsoft.com/office/drawing/2014/main" id="{568DC419-1251-2AD7-37BE-9F68973ED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3002153"/>
            <a:ext cx="237744" cy="237744"/>
          </a:xfrm>
          <a:prstGeom prst="rect">
            <a:avLst/>
          </a:prstGeom>
        </p:spPr>
      </p:pic>
      <p:sp>
        <p:nvSpPr>
          <p:cNvPr id="68" name="Shape 56">
            <a:extLst>
              <a:ext uri="{FF2B5EF4-FFF2-40B4-BE49-F238E27FC236}">
                <a16:creationId xmlns:a16="http://schemas.microsoft.com/office/drawing/2014/main" id="{3F3A53A3-3A27-87FC-A98C-3B03A53A5FB9}"/>
              </a:ext>
            </a:extLst>
          </p:cNvPr>
          <p:cNvSpPr/>
          <p:nvPr/>
        </p:nvSpPr>
        <p:spPr>
          <a:xfrm>
            <a:off x="6327648" y="3462782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7">
            <a:extLst>
              <a:ext uri="{FF2B5EF4-FFF2-40B4-BE49-F238E27FC236}">
                <a16:creationId xmlns:a16="http://schemas.microsoft.com/office/drawing/2014/main" id="{A75ACA26-DF49-382D-D193-268C172E750B}"/>
              </a:ext>
            </a:extLst>
          </p:cNvPr>
          <p:cNvSpPr/>
          <p:nvPr/>
        </p:nvSpPr>
        <p:spPr>
          <a:xfrm>
            <a:off x="6345936" y="3700399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>
            <a:extLst>
              <a:ext uri="{FF2B5EF4-FFF2-40B4-BE49-F238E27FC236}">
                <a16:creationId xmlns:a16="http://schemas.microsoft.com/office/drawing/2014/main" id="{F5684323-126A-6ACF-AB31-9172C7E22A40}"/>
              </a:ext>
            </a:extLst>
          </p:cNvPr>
          <p:cNvSpPr/>
          <p:nvPr/>
        </p:nvSpPr>
        <p:spPr>
          <a:xfrm>
            <a:off x="6345936" y="369564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  <p:pic>
        <p:nvPicPr>
          <p:cNvPr id="71" name="Image 9" descr="preencoded.png">
            <a:extLst>
              <a:ext uri="{FF2B5EF4-FFF2-40B4-BE49-F238E27FC236}">
                <a16:creationId xmlns:a16="http://schemas.microsoft.com/office/drawing/2014/main" id="{70EE3322-4DE9-383C-714B-979ECB9921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3672967"/>
            <a:ext cx="237744" cy="237744"/>
          </a:xfrm>
          <a:prstGeom prst="rect">
            <a:avLst/>
          </a:prstGeom>
        </p:spPr>
      </p:pic>
      <p:sp>
        <p:nvSpPr>
          <p:cNvPr id="72" name="Text 59">
            <a:extLst>
              <a:ext uri="{FF2B5EF4-FFF2-40B4-BE49-F238E27FC236}">
                <a16:creationId xmlns:a16="http://schemas.microsoft.com/office/drawing/2014/main" id="{0F9B256F-8564-720F-395C-E0AEB12ABA72}"/>
              </a:ext>
            </a:extLst>
          </p:cNvPr>
          <p:cNvSpPr/>
          <p:nvPr/>
        </p:nvSpPr>
        <p:spPr>
          <a:xfrm>
            <a:off x="6839712" y="3535807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내 디바이스</a:t>
            </a:r>
            <a:endParaRPr lang="en-US" sz="900" dirty="0"/>
          </a:p>
        </p:txBody>
      </p:sp>
      <p:pic>
        <p:nvPicPr>
          <p:cNvPr id="73" name="Image 10" descr="preencoded.png">
            <a:extLst>
              <a:ext uri="{FF2B5EF4-FFF2-40B4-BE49-F238E27FC236}">
                <a16:creationId xmlns:a16="http://schemas.microsoft.com/office/drawing/2014/main" id="{3A62FFDC-98F1-64F5-5419-B1ED99D524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7259" y="3672967"/>
            <a:ext cx="237744" cy="237744"/>
          </a:xfrm>
          <a:prstGeom prst="rect">
            <a:avLst/>
          </a:prstGeom>
        </p:spPr>
      </p:pic>
      <p:pic>
        <p:nvPicPr>
          <p:cNvPr id="74" name="Image 11" descr="preencoded.png">
            <a:extLst>
              <a:ext uri="{FF2B5EF4-FFF2-40B4-BE49-F238E27FC236}">
                <a16:creationId xmlns:a16="http://schemas.microsoft.com/office/drawing/2014/main" id="{B8542A73-87A4-7E03-020E-A2AC1946B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3672967"/>
            <a:ext cx="237744" cy="237744"/>
          </a:xfrm>
          <a:prstGeom prst="rect">
            <a:avLst/>
          </a:prstGeom>
        </p:spPr>
      </p:pic>
      <p:sp>
        <p:nvSpPr>
          <p:cNvPr id="75" name="Shape 60">
            <a:extLst>
              <a:ext uri="{FF2B5EF4-FFF2-40B4-BE49-F238E27FC236}">
                <a16:creationId xmlns:a16="http://schemas.microsoft.com/office/drawing/2014/main" id="{D804570F-224D-0250-A4CB-017F37857FDE}"/>
              </a:ext>
            </a:extLst>
          </p:cNvPr>
          <p:cNvSpPr/>
          <p:nvPr/>
        </p:nvSpPr>
        <p:spPr>
          <a:xfrm>
            <a:off x="6327648" y="4127246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1">
            <a:extLst>
              <a:ext uri="{FF2B5EF4-FFF2-40B4-BE49-F238E27FC236}">
                <a16:creationId xmlns:a16="http://schemas.microsoft.com/office/drawing/2014/main" id="{F4B2AF48-B917-146F-073C-343539A0A52E}"/>
              </a:ext>
            </a:extLst>
          </p:cNvPr>
          <p:cNvSpPr/>
          <p:nvPr/>
        </p:nvSpPr>
        <p:spPr>
          <a:xfrm>
            <a:off x="6345936" y="4291838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2">
            <a:extLst>
              <a:ext uri="{FF2B5EF4-FFF2-40B4-BE49-F238E27FC236}">
                <a16:creationId xmlns:a16="http://schemas.microsoft.com/office/drawing/2014/main" id="{C7A9493F-59C7-F2D7-1FDF-2ECCB4980CBA}"/>
              </a:ext>
            </a:extLst>
          </p:cNvPr>
          <p:cNvSpPr/>
          <p:nvPr/>
        </p:nvSpPr>
        <p:spPr>
          <a:xfrm>
            <a:off x="6345936" y="42965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  <p:pic>
        <p:nvPicPr>
          <p:cNvPr id="78" name="Image 12" descr="preencoded.png">
            <a:extLst>
              <a:ext uri="{FF2B5EF4-FFF2-40B4-BE49-F238E27FC236}">
                <a16:creationId xmlns:a16="http://schemas.microsoft.com/office/drawing/2014/main" id="{BDC0431A-FAE7-9F8B-5313-CD438C17C9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5392" y="4312031"/>
            <a:ext cx="237744" cy="237744"/>
          </a:xfrm>
          <a:prstGeom prst="rect">
            <a:avLst/>
          </a:prstGeom>
        </p:spPr>
      </p:pic>
      <p:sp>
        <p:nvSpPr>
          <p:cNvPr id="79" name="Text 63">
            <a:extLst>
              <a:ext uri="{FF2B5EF4-FFF2-40B4-BE49-F238E27FC236}">
                <a16:creationId xmlns:a16="http://schemas.microsoft.com/office/drawing/2014/main" id="{BE133CCE-AE6B-35B3-8D91-09A9C9A6DC43}"/>
              </a:ext>
            </a:extLst>
          </p:cNvPr>
          <p:cNvSpPr/>
          <p:nvPr/>
        </p:nvSpPr>
        <p:spPr>
          <a:xfrm>
            <a:off x="6839712" y="4174871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제세동기 /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메디컬 디바이스</a:t>
            </a:r>
            <a:endParaRPr lang="en-US" sz="900" dirty="0"/>
          </a:p>
        </p:txBody>
      </p:sp>
      <p:pic>
        <p:nvPicPr>
          <p:cNvPr id="80" name="Image 13" descr="preencoded.png">
            <a:extLst>
              <a:ext uri="{FF2B5EF4-FFF2-40B4-BE49-F238E27FC236}">
                <a16:creationId xmlns:a16="http://schemas.microsoft.com/office/drawing/2014/main" id="{B278F378-CE72-D514-698F-539B89003D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7259" y="4312031"/>
            <a:ext cx="237744" cy="237744"/>
          </a:xfrm>
          <a:prstGeom prst="rect">
            <a:avLst/>
          </a:prstGeom>
        </p:spPr>
      </p:pic>
      <p:pic>
        <p:nvPicPr>
          <p:cNvPr id="81" name="Image 14" descr="preencoded.png">
            <a:extLst>
              <a:ext uri="{FF2B5EF4-FFF2-40B4-BE49-F238E27FC236}">
                <a16:creationId xmlns:a16="http://schemas.microsoft.com/office/drawing/2014/main" id="{5A89B880-0FF0-43D7-1599-DB7727A13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2465" y="4312031"/>
            <a:ext cx="237744" cy="237744"/>
          </a:xfrm>
          <a:prstGeom prst="rect">
            <a:avLst/>
          </a:prstGeom>
        </p:spPr>
      </p:pic>
      <p:sp>
        <p:nvSpPr>
          <p:cNvPr id="82" name="Shape 64">
            <a:extLst>
              <a:ext uri="{FF2B5EF4-FFF2-40B4-BE49-F238E27FC236}">
                <a16:creationId xmlns:a16="http://schemas.microsoft.com/office/drawing/2014/main" id="{A7FCF494-D9D3-7699-C469-278AAA70F1BF}"/>
              </a:ext>
            </a:extLst>
          </p:cNvPr>
          <p:cNvSpPr/>
          <p:nvPr/>
        </p:nvSpPr>
        <p:spPr>
          <a:xfrm>
            <a:off x="6327648" y="4753610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65">
            <a:extLst>
              <a:ext uri="{FF2B5EF4-FFF2-40B4-BE49-F238E27FC236}">
                <a16:creationId xmlns:a16="http://schemas.microsoft.com/office/drawing/2014/main" id="{E58A8CBC-AF0B-F85B-F87B-CEBF00998371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ellipse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66">
            <a:extLst>
              <a:ext uri="{FF2B5EF4-FFF2-40B4-BE49-F238E27FC236}">
                <a16:creationId xmlns:a16="http://schemas.microsoft.com/office/drawing/2014/main" id="{2483A0CC-76C6-7957-E539-2EA3126B43BB}"/>
              </a:ext>
            </a:extLst>
          </p:cNvPr>
          <p:cNvSpPr/>
          <p:nvPr/>
        </p:nvSpPr>
        <p:spPr>
          <a:xfrm>
            <a:off x="6345936" y="4970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  <p:pic>
        <p:nvPicPr>
          <p:cNvPr id="85" name="Image 15" descr="preencoded.png">
            <a:extLst>
              <a:ext uri="{FF2B5EF4-FFF2-40B4-BE49-F238E27FC236}">
                <a16:creationId xmlns:a16="http://schemas.microsoft.com/office/drawing/2014/main" id="{B5A51467-F031-4C7D-3A10-5852CAA6E1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5392" y="4943162"/>
            <a:ext cx="237744" cy="237744"/>
          </a:xfrm>
          <a:prstGeom prst="rect">
            <a:avLst/>
          </a:prstGeom>
        </p:spPr>
      </p:pic>
      <p:sp>
        <p:nvSpPr>
          <p:cNvPr id="86" name="Text 67">
            <a:extLst>
              <a:ext uri="{FF2B5EF4-FFF2-40B4-BE49-F238E27FC236}">
                <a16:creationId xmlns:a16="http://schemas.microsoft.com/office/drawing/2014/main" id="{05DA8FAB-9578-B307-399D-4EA375DB5946}"/>
              </a:ext>
            </a:extLst>
          </p:cNvPr>
          <p:cNvSpPr/>
          <p:nvPr/>
        </p:nvSpPr>
        <p:spPr>
          <a:xfrm>
            <a:off x="6839712" y="4806002"/>
            <a:ext cx="8286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 교육용 디바이스</a:t>
            </a:r>
            <a:endParaRPr lang="en-US" sz="900" dirty="0"/>
          </a:p>
        </p:txBody>
      </p:sp>
      <p:pic>
        <p:nvPicPr>
          <p:cNvPr id="87" name="Image 16" descr="preencoded.png">
            <a:extLst>
              <a:ext uri="{FF2B5EF4-FFF2-40B4-BE49-F238E27FC236}">
                <a16:creationId xmlns:a16="http://schemas.microsoft.com/office/drawing/2014/main" id="{6A1CF9C0-F347-A49A-9F37-4A4A7CB6CF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7259" y="4943162"/>
            <a:ext cx="237744" cy="237744"/>
          </a:xfrm>
          <a:prstGeom prst="rect">
            <a:avLst/>
          </a:prstGeom>
        </p:spPr>
      </p:pic>
      <p:pic>
        <p:nvPicPr>
          <p:cNvPr id="88" name="Image 17" descr="preencoded.png">
            <a:extLst>
              <a:ext uri="{FF2B5EF4-FFF2-40B4-BE49-F238E27FC236}">
                <a16:creationId xmlns:a16="http://schemas.microsoft.com/office/drawing/2014/main" id="{4A9604F3-67D6-A44F-1842-E164EEF6C1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2465" y="4943162"/>
            <a:ext cx="237744" cy="237744"/>
          </a:xfrm>
          <a:prstGeom prst="rect">
            <a:avLst/>
          </a:prstGeom>
        </p:spPr>
      </p:pic>
      <p:sp>
        <p:nvSpPr>
          <p:cNvPr id="89" name="Shape 68">
            <a:extLst>
              <a:ext uri="{FF2B5EF4-FFF2-40B4-BE49-F238E27FC236}">
                <a16:creationId xmlns:a16="http://schemas.microsoft.com/office/drawing/2014/main" id="{A55556C7-51A6-6B2B-09E4-F9067380F44E}"/>
              </a:ext>
            </a:extLst>
          </p:cNvPr>
          <p:cNvSpPr/>
          <p:nvPr/>
        </p:nvSpPr>
        <p:spPr>
          <a:xfrm>
            <a:off x="6327648" y="5351399"/>
            <a:ext cx="2336292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69">
            <a:extLst>
              <a:ext uri="{FF2B5EF4-FFF2-40B4-BE49-F238E27FC236}">
                <a16:creationId xmlns:a16="http://schemas.microsoft.com/office/drawing/2014/main" id="{CECE2BBB-FE5E-A55B-47D4-75CC15864F01}"/>
              </a:ext>
            </a:extLst>
          </p:cNvPr>
          <p:cNvSpPr/>
          <p:nvPr/>
        </p:nvSpPr>
        <p:spPr>
          <a:xfrm>
            <a:off x="6309360" y="5369686"/>
            <a:ext cx="2372868" cy="641033"/>
          </a:xfrm>
          <a:prstGeom prst="roundRect">
            <a:avLst>
              <a:gd name="adj" fmla="val 7576"/>
            </a:avLst>
          </a:prstGeom>
          <a:solidFill>
            <a:srgbClr val="E9F1F9"/>
          </a:solidFill>
          <a:ln w="19050">
            <a:solidFill>
              <a:srgbClr val="0E4C8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70">
            <a:extLst>
              <a:ext uri="{FF2B5EF4-FFF2-40B4-BE49-F238E27FC236}">
                <a16:creationId xmlns:a16="http://schemas.microsoft.com/office/drawing/2014/main" id="{619319E2-901C-C918-BA49-3144C9EA63A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ellipse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71">
            <a:extLst>
              <a:ext uri="{FF2B5EF4-FFF2-40B4-BE49-F238E27FC236}">
                <a16:creationId xmlns:a16="http://schemas.microsoft.com/office/drawing/2014/main" id="{51E24B01-6B5F-E40D-9A96-287947778D30}"/>
              </a:ext>
            </a:extLst>
          </p:cNvPr>
          <p:cNvSpPr/>
          <p:nvPr/>
        </p:nvSpPr>
        <p:spPr>
          <a:xfrm>
            <a:off x="6364224" y="557999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800" dirty="0"/>
          </a:p>
        </p:txBody>
      </p:sp>
      <p:pic>
        <p:nvPicPr>
          <p:cNvPr id="93" name="Image 18" descr="preencoded.png">
            <a:extLst>
              <a:ext uri="{FF2B5EF4-FFF2-40B4-BE49-F238E27FC236}">
                <a16:creationId xmlns:a16="http://schemas.microsoft.com/office/drawing/2014/main" id="{5A690AFD-DC61-88A0-94EF-2EA747C82D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5552567"/>
            <a:ext cx="246888" cy="246888"/>
          </a:xfrm>
          <a:prstGeom prst="rect">
            <a:avLst/>
          </a:prstGeom>
        </p:spPr>
      </p:pic>
      <p:sp>
        <p:nvSpPr>
          <p:cNvPr id="94" name="Text 72">
            <a:extLst>
              <a:ext uri="{FF2B5EF4-FFF2-40B4-BE49-F238E27FC236}">
                <a16:creationId xmlns:a16="http://schemas.microsoft.com/office/drawing/2014/main" id="{A39DD392-92A2-9497-9E4D-5EDC552BFACF}"/>
              </a:ext>
            </a:extLst>
          </p:cNvPr>
          <p:cNvSpPr/>
          <p:nvPr/>
        </p:nvSpPr>
        <p:spPr>
          <a:xfrm>
            <a:off x="6858000" y="5369687"/>
            <a:ext cx="795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</a:t>
            </a:r>
            <a:endParaRPr lang="en-US" sz="1000" b="1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E4C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온디바이스 AI</a:t>
            </a:r>
            <a:endParaRPr lang="en-US" sz="1000" b="1" dirty="0"/>
          </a:p>
        </p:txBody>
      </p:sp>
      <p:pic>
        <p:nvPicPr>
          <p:cNvPr id="95" name="Image 19" descr="preencoded.png">
            <a:extLst>
              <a:ext uri="{FF2B5EF4-FFF2-40B4-BE49-F238E27FC236}">
                <a16:creationId xmlns:a16="http://schemas.microsoft.com/office/drawing/2014/main" id="{C62902FB-C5F2-4896-606A-F3FF4ACC26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78115" y="5543423"/>
            <a:ext cx="256032" cy="256032"/>
          </a:xfrm>
          <a:prstGeom prst="rect">
            <a:avLst/>
          </a:prstGeom>
        </p:spPr>
      </p:pic>
      <p:pic>
        <p:nvPicPr>
          <p:cNvPr id="96" name="Image 20" descr="preencoded.png">
            <a:extLst>
              <a:ext uri="{FF2B5EF4-FFF2-40B4-BE49-F238E27FC236}">
                <a16:creationId xmlns:a16="http://schemas.microsoft.com/office/drawing/2014/main" id="{F65CFF0F-D522-0C68-12E0-C671FC9E7E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3321" y="5543423"/>
            <a:ext cx="256032" cy="256032"/>
          </a:xfrm>
          <a:prstGeom prst="rect">
            <a:avLst/>
          </a:prstGeom>
        </p:spPr>
      </p:pic>
      <p:sp>
        <p:nvSpPr>
          <p:cNvPr id="97" name="Shape 73">
            <a:extLst>
              <a:ext uri="{FF2B5EF4-FFF2-40B4-BE49-F238E27FC236}">
                <a16:creationId xmlns:a16="http://schemas.microsoft.com/office/drawing/2014/main" id="{82CB64BB-8896-3F14-BBDC-670D573D05E1}"/>
              </a:ext>
            </a:extLst>
          </p:cNvPr>
          <p:cNvSpPr/>
          <p:nvPr/>
        </p:nvSpPr>
        <p:spPr>
          <a:xfrm>
            <a:off x="8109585" y="5852605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4">
            <a:extLst>
              <a:ext uri="{FF2B5EF4-FFF2-40B4-BE49-F238E27FC236}">
                <a16:creationId xmlns:a16="http://schemas.microsoft.com/office/drawing/2014/main" id="{0CAD9562-CC65-4790-7008-6B05CE527D04}"/>
              </a:ext>
            </a:extLst>
          </p:cNvPr>
          <p:cNvSpPr/>
          <p:nvPr/>
        </p:nvSpPr>
        <p:spPr>
          <a:xfrm>
            <a:off x="8089011" y="585698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선택</a:t>
            </a:r>
            <a:endParaRPr lang="en-US" sz="800" dirty="0"/>
          </a:p>
        </p:txBody>
      </p:sp>
      <p:sp>
        <p:nvSpPr>
          <p:cNvPr id="102" name="Shape 77">
            <a:extLst>
              <a:ext uri="{FF2B5EF4-FFF2-40B4-BE49-F238E27FC236}">
                <a16:creationId xmlns:a16="http://schemas.microsoft.com/office/drawing/2014/main" id="{1AB0BF67-418A-7F2D-BBB7-32511CB2096F}"/>
              </a:ext>
            </a:extLst>
          </p:cNvPr>
          <p:cNvSpPr/>
          <p:nvPr/>
        </p:nvSpPr>
        <p:spPr>
          <a:xfrm>
            <a:off x="9230868" y="2418080"/>
            <a:ext cx="2336292" cy="548640"/>
          </a:xfrm>
          <a:prstGeom prst="roundRect">
            <a:avLst>
              <a:gd name="adj" fmla="val 10000"/>
            </a:avLst>
          </a:prstGeom>
          <a:solidFill>
            <a:srgbClr val="E6F2FB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3" name="Image 22" descr="preencoded.png">
            <a:extLst>
              <a:ext uri="{FF2B5EF4-FFF2-40B4-BE49-F238E27FC236}">
                <a16:creationId xmlns:a16="http://schemas.microsoft.com/office/drawing/2014/main" id="{8061476B-D7FC-2EFD-4694-57E7442162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3476" y="2536952"/>
            <a:ext cx="365760" cy="365760"/>
          </a:xfrm>
          <a:prstGeom prst="rect">
            <a:avLst/>
          </a:prstGeom>
        </p:spPr>
      </p:pic>
      <p:pic>
        <p:nvPicPr>
          <p:cNvPr id="104" name="Image 23" descr="preencoded.png">
            <a:extLst>
              <a:ext uri="{FF2B5EF4-FFF2-40B4-BE49-F238E27FC236}">
                <a16:creationId xmlns:a16="http://schemas.microsoft.com/office/drawing/2014/main" id="{97B09875-9327-B82E-FD46-13A006DB809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16134" y="2536952"/>
            <a:ext cx="365760" cy="365760"/>
          </a:xfrm>
          <a:prstGeom prst="rect">
            <a:avLst/>
          </a:prstGeom>
        </p:spPr>
      </p:pic>
      <p:pic>
        <p:nvPicPr>
          <p:cNvPr id="105" name="Image 24" descr="preencoded.png">
            <a:extLst>
              <a:ext uri="{FF2B5EF4-FFF2-40B4-BE49-F238E27FC236}">
                <a16:creationId xmlns:a16="http://schemas.microsoft.com/office/drawing/2014/main" id="{8A675CA6-D54F-1856-0EF4-B0907735D05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08792" y="2573528"/>
            <a:ext cx="329184" cy="329184"/>
          </a:xfrm>
          <a:prstGeom prst="rect">
            <a:avLst/>
          </a:prstGeom>
        </p:spPr>
      </p:pic>
      <p:sp>
        <p:nvSpPr>
          <p:cNvPr id="106" name="Shape 78">
            <a:extLst>
              <a:ext uri="{FF2B5EF4-FFF2-40B4-BE49-F238E27FC236}">
                <a16:creationId xmlns:a16="http://schemas.microsoft.com/office/drawing/2014/main" id="{52B1F35B-AE2E-E31E-59E6-950D92D2C88C}"/>
              </a:ext>
            </a:extLst>
          </p:cNvPr>
          <p:cNvSpPr/>
          <p:nvPr/>
        </p:nvSpPr>
        <p:spPr>
          <a:xfrm>
            <a:off x="9230868" y="3058160"/>
            <a:ext cx="2336292" cy="852551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7" name="Image 25" descr="preencoded.png">
            <a:extLst>
              <a:ext uri="{FF2B5EF4-FFF2-40B4-BE49-F238E27FC236}">
                <a16:creationId xmlns:a16="http://schemas.microsoft.com/office/drawing/2014/main" id="{6AE14613-24BD-480D-906B-8587106EE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2308" y="3140456"/>
            <a:ext cx="256032" cy="256032"/>
          </a:xfrm>
          <a:prstGeom prst="rect">
            <a:avLst/>
          </a:prstGeom>
        </p:spPr>
      </p:pic>
      <p:sp>
        <p:nvSpPr>
          <p:cNvPr id="108" name="Text 79">
            <a:extLst>
              <a:ext uri="{FF2B5EF4-FFF2-40B4-BE49-F238E27FC236}">
                <a16:creationId xmlns:a16="http://schemas.microsoft.com/office/drawing/2014/main" id="{E27C8460-5869-ED64-5B9F-C59E41A6A96B}"/>
              </a:ext>
            </a:extLst>
          </p:cNvPr>
          <p:cNvSpPr/>
          <p:nvPr/>
        </p:nvSpPr>
        <p:spPr>
          <a:xfrm>
            <a:off x="9633204" y="3103880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연결성·프라이버시</a:t>
            </a:r>
            <a:r>
              <a:rPr lang="en-US" sz="1100" b="1" dirty="0">
                <a:solidFill>
                  <a:srgbClr val="14619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제약 충족</a:t>
            </a:r>
            <a:endParaRPr lang="en-US" sz="1100" dirty="0"/>
          </a:p>
        </p:txBody>
      </p:sp>
      <p:sp>
        <p:nvSpPr>
          <p:cNvPr id="109" name="Text 80">
            <a:extLst>
              <a:ext uri="{FF2B5EF4-FFF2-40B4-BE49-F238E27FC236}">
                <a16:creationId xmlns:a16="http://schemas.microsoft.com/office/drawing/2014/main" id="{AACDE2B0-A3A8-4368-4190-312B1FE1C999}"/>
              </a:ext>
            </a:extLst>
          </p:cNvPr>
          <p:cNvSpPr/>
          <p:nvPr/>
        </p:nvSpPr>
        <p:spPr>
          <a:xfrm>
            <a:off x="9303512" y="3405632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독거노인 가정은 네트워크 인프라가 부족할 수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있음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 </a:t>
            </a:r>
            <a:r>
              <a:rPr lang="en-US" sz="900" dirty="0" err="1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동작 필요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건강·생활 데이터(민감)는 기기 내 처리가 적합</a:t>
            </a:r>
            <a:endParaRPr lang="en-US" sz="900" dirty="0"/>
          </a:p>
        </p:txBody>
      </p:sp>
      <p:sp>
        <p:nvSpPr>
          <p:cNvPr id="110" name="Shape 81">
            <a:extLst>
              <a:ext uri="{FF2B5EF4-FFF2-40B4-BE49-F238E27FC236}">
                <a16:creationId xmlns:a16="http://schemas.microsoft.com/office/drawing/2014/main" id="{81B25EF3-3DEA-DC21-7DE4-EFFD73285BBC}"/>
              </a:ext>
            </a:extLst>
          </p:cNvPr>
          <p:cNvSpPr/>
          <p:nvPr/>
        </p:nvSpPr>
        <p:spPr>
          <a:xfrm>
            <a:off x="9230868" y="4009517"/>
            <a:ext cx="2336292" cy="740283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1" name="Image 26" descr="preencoded.png">
            <a:extLst>
              <a:ext uri="{FF2B5EF4-FFF2-40B4-BE49-F238E27FC236}">
                <a16:creationId xmlns:a16="http://schemas.microsoft.com/office/drawing/2014/main" id="{B4A3716F-14E6-9A77-DE8A-333095F81FB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22308" y="4091940"/>
            <a:ext cx="256032" cy="256032"/>
          </a:xfrm>
          <a:prstGeom prst="rect">
            <a:avLst/>
          </a:prstGeom>
        </p:spPr>
      </p:pic>
      <p:sp>
        <p:nvSpPr>
          <p:cNvPr id="112" name="Text 82">
            <a:extLst>
              <a:ext uri="{FF2B5EF4-FFF2-40B4-BE49-F238E27FC236}">
                <a16:creationId xmlns:a16="http://schemas.microsoft.com/office/drawing/2014/main" id="{4A521317-3E10-AFD9-110C-74E88FCA7FA1}"/>
              </a:ext>
            </a:extLst>
          </p:cNvPr>
          <p:cNvSpPr/>
          <p:nvPr/>
        </p:nvSpPr>
        <p:spPr>
          <a:xfrm>
            <a:off x="9633204" y="4055364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</a:t>
            </a:r>
            <a:r>
              <a:rPr lang="en-US" sz="1100" b="1" dirty="0">
                <a:solidFill>
                  <a:srgbClr val="1A74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자원 제약 충족</a:t>
            </a:r>
            <a:endParaRPr lang="en-US" sz="1100" dirty="0"/>
          </a:p>
        </p:txBody>
      </p:sp>
      <p:sp>
        <p:nvSpPr>
          <p:cNvPr id="113" name="Text 83">
            <a:extLst>
              <a:ext uri="{FF2B5EF4-FFF2-40B4-BE49-F238E27FC236}">
                <a16:creationId xmlns:a16="http://schemas.microsoft.com/office/drawing/2014/main" id="{DC9D3EB8-D90A-3CDA-A148-4FCAB0748332}"/>
              </a:ext>
            </a:extLst>
          </p:cNvPr>
          <p:cNvSpPr/>
          <p:nvPr/>
        </p:nvSpPr>
        <p:spPr>
          <a:xfrm>
            <a:off x="9303512" y="4388866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고성능 서버·대형 디바이스 사용이 어려움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자원만으로 요청을 처리해야 함</a:t>
            </a:r>
            <a:endParaRPr lang="en-US" sz="900" dirty="0"/>
          </a:p>
        </p:txBody>
      </p:sp>
      <p:sp>
        <p:nvSpPr>
          <p:cNvPr id="114" name="Shape 84">
            <a:extLst>
              <a:ext uri="{FF2B5EF4-FFF2-40B4-BE49-F238E27FC236}">
                <a16:creationId xmlns:a16="http://schemas.microsoft.com/office/drawing/2014/main" id="{B6BA592F-02D4-E98F-2414-99A6B15672AF}"/>
              </a:ext>
            </a:extLst>
          </p:cNvPr>
          <p:cNvSpPr/>
          <p:nvPr/>
        </p:nvSpPr>
        <p:spPr>
          <a:xfrm>
            <a:off x="9230868" y="4832096"/>
            <a:ext cx="2336292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2D8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5" name="Image 27" descr="preencoded.png">
            <a:extLst>
              <a:ext uri="{FF2B5EF4-FFF2-40B4-BE49-F238E27FC236}">
                <a16:creationId xmlns:a16="http://schemas.microsoft.com/office/drawing/2014/main" id="{E9C814C6-3B60-BDC4-F687-2451601C098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22308" y="4882642"/>
            <a:ext cx="256032" cy="256032"/>
          </a:xfrm>
          <a:prstGeom prst="rect">
            <a:avLst/>
          </a:prstGeom>
        </p:spPr>
      </p:pic>
      <p:sp>
        <p:nvSpPr>
          <p:cNvPr id="116" name="Text 85">
            <a:extLst>
              <a:ext uri="{FF2B5EF4-FFF2-40B4-BE49-F238E27FC236}">
                <a16:creationId xmlns:a16="http://schemas.microsoft.com/office/drawing/2014/main" id="{3669B7A8-A725-E44B-EF64-102FAA5B6F99}"/>
              </a:ext>
            </a:extLst>
          </p:cNvPr>
          <p:cNvSpPr/>
          <p:nvPr/>
        </p:nvSpPr>
        <p:spPr>
          <a:xfrm>
            <a:off x="9633204" y="4846066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2185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1100" dirty="0"/>
          </a:p>
        </p:txBody>
      </p:sp>
      <p:sp>
        <p:nvSpPr>
          <p:cNvPr id="117" name="Text 86">
            <a:extLst>
              <a:ext uri="{FF2B5EF4-FFF2-40B4-BE49-F238E27FC236}">
                <a16:creationId xmlns:a16="http://schemas.microsoft.com/office/drawing/2014/main" id="{A73EE56C-B145-6022-9AF7-8058EE1FCB59}"/>
              </a:ext>
            </a:extLst>
          </p:cNvPr>
          <p:cNvSpPr/>
          <p:nvPr/>
        </p:nvSpPr>
        <p:spPr>
          <a:xfrm>
            <a:off x="9303512" y="5160518"/>
            <a:ext cx="2228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안전성·민감 질의 처리가 중요한 도메인</a:t>
            </a:r>
            <a:endParaRPr lang="en-US" sz="900" dirty="0"/>
          </a:p>
          <a:p>
            <a:pPr marL="127000" indent="-127000" algn="l">
              <a:lnSpc>
                <a:spcPct val="100000"/>
              </a:lnSpc>
              <a:spcAft>
                <a:spcPts val="150"/>
              </a:spcAft>
              <a:buSzPct val="100000"/>
              <a:buChar char="•"/>
            </a:pPr>
            <a:r>
              <a:rPr lang="en-US" sz="900" dirty="0">
                <a:solidFill>
                  <a:srgbClr val="273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성능을 넘어 실제 적용 평가 관점까지 도출</a:t>
            </a:r>
            <a:endParaRPr lang="en-US" sz="900" dirty="0"/>
          </a:p>
        </p:txBody>
      </p:sp>
      <p:sp>
        <p:nvSpPr>
          <p:cNvPr id="118" name="Shape 87">
            <a:extLst>
              <a:ext uri="{FF2B5EF4-FFF2-40B4-BE49-F238E27FC236}">
                <a16:creationId xmlns:a16="http://schemas.microsoft.com/office/drawing/2014/main" id="{1627F712-C720-E64A-DB11-5E1BB5A8FCF9}"/>
              </a:ext>
            </a:extLst>
          </p:cNvPr>
          <p:cNvSpPr/>
          <p:nvPr/>
        </p:nvSpPr>
        <p:spPr>
          <a:xfrm>
            <a:off x="9230868" y="5618480"/>
            <a:ext cx="2336292" cy="493776"/>
          </a:xfrm>
          <a:prstGeom prst="roundRect">
            <a:avLst>
              <a:gd name="adj" fmla="val 11111"/>
            </a:avLst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9" name="Image 28" descr="preencoded.png">
            <a:extLst>
              <a:ext uri="{FF2B5EF4-FFF2-40B4-BE49-F238E27FC236}">
                <a16:creationId xmlns:a16="http://schemas.microsoft.com/office/drawing/2014/main" id="{C6520CF5-928D-B98B-24C1-59C078A64F1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77172" y="5728208"/>
            <a:ext cx="274320" cy="274320"/>
          </a:xfrm>
          <a:prstGeom prst="rect">
            <a:avLst/>
          </a:prstGeom>
        </p:spPr>
      </p:pic>
      <p:sp>
        <p:nvSpPr>
          <p:cNvPr id="120" name="Text 88">
            <a:extLst>
              <a:ext uri="{FF2B5EF4-FFF2-40B4-BE49-F238E27FC236}">
                <a16:creationId xmlns:a16="http://schemas.microsoft.com/office/drawing/2014/main" id="{AAF10725-025B-6F42-6CF8-ED7F190AADB2}"/>
              </a:ext>
            </a:extLst>
          </p:cNvPr>
          <p:cNvSpPr/>
          <p:nvPr/>
        </p:nvSpPr>
        <p:spPr>
          <a:xfrm>
            <a:off x="9724644" y="5618480"/>
            <a:ext cx="17693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FE1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적용 시나리오
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온디바이스 AI</a:t>
            </a:r>
            <a:endParaRPr lang="en-US" sz="800" dirty="0"/>
          </a:p>
        </p:txBody>
      </p:sp>
      <p:sp>
        <p:nvSpPr>
          <p:cNvPr id="121" name="Shape 89">
            <a:extLst>
              <a:ext uri="{FF2B5EF4-FFF2-40B4-BE49-F238E27FC236}">
                <a16:creationId xmlns:a16="http://schemas.microsoft.com/office/drawing/2014/main" id="{9AE4A3D7-6605-5120-A4E3-D834CDD6739F}"/>
              </a:ext>
            </a:extLst>
          </p:cNvPr>
          <p:cNvSpPr/>
          <p:nvPr/>
        </p:nvSpPr>
        <p:spPr>
          <a:xfrm>
            <a:off x="3003804" y="3821303"/>
            <a:ext cx="274320" cy="310896"/>
          </a:xfrm>
          <a:prstGeom prst="rightArrow">
            <a:avLst/>
          </a:prstGeom>
          <a:solidFill>
            <a:srgbClr val="0E4C8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90">
            <a:extLst>
              <a:ext uri="{FF2B5EF4-FFF2-40B4-BE49-F238E27FC236}">
                <a16:creationId xmlns:a16="http://schemas.microsoft.com/office/drawing/2014/main" id="{E779CC58-6720-D974-1DDE-E1496618D0ED}"/>
              </a:ext>
            </a:extLst>
          </p:cNvPr>
          <p:cNvSpPr/>
          <p:nvPr/>
        </p:nvSpPr>
        <p:spPr>
          <a:xfrm>
            <a:off x="5907024" y="3821303"/>
            <a:ext cx="274320" cy="310896"/>
          </a:xfrm>
          <a:prstGeom prst="rightArrow">
            <a:avLst/>
          </a:prstGeom>
          <a:solidFill>
            <a:srgbClr val="14619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91">
            <a:extLst>
              <a:ext uri="{FF2B5EF4-FFF2-40B4-BE49-F238E27FC236}">
                <a16:creationId xmlns:a16="http://schemas.microsoft.com/office/drawing/2014/main" id="{C6C4EEDB-5758-F467-6DD8-9B2F5DF47348}"/>
              </a:ext>
            </a:extLst>
          </p:cNvPr>
          <p:cNvSpPr/>
          <p:nvPr/>
        </p:nvSpPr>
        <p:spPr>
          <a:xfrm>
            <a:off x="8810244" y="3954653"/>
            <a:ext cx="274320" cy="310896"/>
          </a:xfrm>
          <a:prstGeom prst="rightArrow">
            <a:avLst/>
          </a:prstGeom>
          <a:solidFill>
            <a:srgbClr val="1A74A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1D15E6B4-F950-E8A7-6284-DFA934705EE2}"/>
              </a:ext>
            </a:extLst>
          </p:cNvPr>
          <p:cNvSpPr/>
          <p:nvPr/>
        </p:nvSpPr>
        <p:spPr>
          <a:xfrm>
            <a:off x="4421632" y="361315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0C0D7464-0C1F-74AC-ACCE-96848CDA200F}"/>
              </a:ext>
            </a:extLst>
          </p:cNvPr>
          <p:cNvSpPr/>
          <p:nvPr/>
        </p:nvSpPr>
        <p:spPr>
          <a:xfrm>
            <a:off x="4426395" y="356838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38597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393</Words>
  <Application>Microsoft Office PowerPoint</Application>
  <DocSecurity>0</DocSecurity>
  <PresentationFormat>와이드스크린</PresentationFormat>
  <Paragraphs>80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Pretendard</vt:lpstr>
      <vt:lpstr>Calibri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남궁철</cp:lastModifiedBy>
  <cp:revision>3</cp:revision>
  <dcterms:created xsi:type="dcterms:W3CDTF">2026-06-04T12:34:11Z</dcterms:created>
  <dcterms:modified xsi:type="dcterms:W3CDTF">2026-06-05T02:05:12Z</dcterms:modified>
</cp:coreProperties>
</file>