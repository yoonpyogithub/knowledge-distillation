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6" r:id="rId2"/>
    <p:sldId id="27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7384" autoAdjust="0"/>
  </p:normalViewPr>
  <p:slideViewPr>
    <p:cSldViewPr snapToGrid="0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7A27C62A-076A-4552-A92A-A841AF16D3C4}"/>
              </a:ext>
            </a:extLst>
          </p:cNvPr>
          <p:cNvSpPr>
            <a:spLocks noGrp="1"/>
          </p:cNvSpPr>
          <p:nvPr/>
        </p:nvSpPr>
        <p:spPr>
          <a:xfrm>
            <a:off x="0" y="311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Rounded Rectangle 24">
            <a:extLst>
              <a:ext uri="{FF2B5EF4-FFF2-40B4-BE49-F238E27FC236}">
                <a16:creationId xmlns:a16="http://schemas.microsoft.com/office/drawing/2014/main" id="{E8D55A9B-711A-283C-D704-2EBA682BE429}"/>
              </a:ext>
            </a:extLst>
          </p:cNvPr>
          <p:cNvSpPr/>
          <p:nvPr/>
        </p:nvSpPr>
        <p:spPr>
          <a:xfrm>
            <a:off x="480577" y="2969670"/>
            <a:ext cx="4664593" cy="350630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sz="16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39BF083-A46A-40A2-9CFD-D5187C5D58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07C084-2130-4A93-87CA-77A995C4CE2E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56A882-C323-4DB7-8F72-8836EC00FCEB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평가 프레임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849C705-7036-4957-99D7-A03F04815A3F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21 / 27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CCB82F3-A57E-B92F-7DBD-F08CE855050E}"/>
              </a:ext>
            </a:extLst>
          </p:cNvPr>
          <p:cNvGrpSpPr/>
          <p:nvPr/>
        </p:nvGrpSpPr>
        <p:grpSpPr>
          <a:xfrm>
            <a:off x="454792" y="1851214"/>
            <a:ext cx="2670048" cy="896112"/>
            <a:chOff x="502920" y="1627632"/>
            <a:chExt cx="2670048" cy="896112"/>
          </a:xfrm>
        </p:grpSpPr>
        <p:sp>
          <p:nvSpPr>
            <p:cNvPr id="44" name="Rounded Rectangle 3">
              <a:extLst>
                <a:ext uri="{FF2B5EF4-FFF2-40B4-BE49-F238E27FC236}">
                  <a16:creationId xmlns:a16="http://schemas.microsoft.com/office/drawing/2014/main" id="{DDC0645E-CB2F-7D43-2C29-9E728BA2A958}"/>
                </a:ext>
              </a:extLst>
            </p:cNvPr>
            <p:cNvSpPr/>
            <p:nvPr/>
          </p:nvSpPr>
          <p:spPr>
            <a:xfrm>
              <a:off x="502920" y="1627632"/>
              <a:ext cx="2670048" cy="896112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/>
            </a:p>
          </p:txBody>
        </p:sp>
        <p:sp>
          <p:nvSpPr>
            <p:cNvPr id="45" name="Oval 4">
              <a:extLst>
                <a:ext uri="{FF2B5EF4-FFF2-40B4-BE49-F238E27FC236}">
                  <a16:creationId xmlns:a16="http://schemas.microsoft.com/office/drawing/2014/main" id="{A1E2AA45-7A4B-299D-6541-DE163E24B733}"/>
                </a:ext>
              </a:extLst>
            </p:cNvPr>
            <p:cNvSpPr/>
            <p:nvPr/>
          </p:nvSpPr>
          <p:spPr>
            <a:xfrm>
              <a:off x="649224" y="1847088"/>
              <a:ext cx="457200" cy="457200"/>
            </a:xfrm>
            <a:prstGeom prst="ellipse">
              <a:avLst/>
            </a:prstGeom>
            <a:noFill/>
            <a:ln w="33020">
              <a:solidFill>
                <a:srgbClr val="1721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/>
            </a:p>
          </p:txBody>
        </p:sp>
        <p:sp>
          <p:nvSpPr>
            <p:cNvPr id="46" name="Oval 5">
              <a:extLst>
                <a:ext uri="{FF2B5EF4-FFF2-40B4-BE49-F238E27FC236}">
                  <a16:creationId xmlns:a16="http://schemas.microsoft.com/office/drawing/2014/main" id="{4ADF98F4-02A8-7A52-F950-05045C2F4A16}"/>
                </a:ext>
              </a:extLst>
            </p:cNvPr>
            <p:cNvSpPr/>
            <p:nvPr/>
          </p:nvSpPr>
          <p:spPr>
            <a:xfrm>
              <a:off x="786384" y="1984248"/>
              <a:ext cx="182880" cy="182880"/>
            </a:xfrm>
            <a:prstGeom prst="ellipse">
              <a:avLst/>
            </a:prstGeom>
            <a:solidFill>
              <a:srgbClr val="172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CBE8432-81B2-94D4-9DDC-1CBB499B2E11}"/>
                </a:ext>
              </a:extLst>
            </p:cNvPr>
            <p:cNvSpPr txBox="1"/>
            <p:nvPr/>
          </p:nvSpPr>
          <p:spPr>
            <a:xfrm>
              <a:off x="1216152" y="1737360"/>
              <a:ext cx="1847088" cy="256352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5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기술</a:t>
              </a:r>
              <a:r>
                <a:rPr sz="15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5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보존</a:t>
              </a:r>
              <a:endParaRPr sz="15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49DFCEE-8112-2BC4-89F1-DD5A6927C8E5}"/>
                </a:ext>
              </a:extLst>
            </p:cNvPr>
            <p:cNvSpPr txBox="1"/>
            <p:nvPr/>
          </p:nvSpPr>
          <p:spPr>
            <a:xfrm>
              <a:off x="1216152" y="2084832"/>
              <a:ext cx="1847088" cy="190501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작아져도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Teacher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판단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유지</a:t>
              </a:r>
              <a:endParaRPr sz="108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81E8D37D-0765-6680-76A2-A1DE792D84E1}"/>
              </a:ext>
            </a:extLst>
          </p:cNvPr>
          <p:cNvGrpSpPr/>
          <p:nvPr/>
        </p:nvGrpSpPr>
        <p:grpSpPr>
          <a:xfrm>
            <a:off x="3321195" y="1851214"/>
            <a:ext cx="2670048" cy="896112"/>
            <a:chOff x="3310128" y="1627632"/>
            <a:chExt cx="2670048" cy="896112"/>
          </a:xfrm>
        </p:grpSpPr>
        <p:sp>
          <p:nvSpPr>
            <p:cNvPr id="50" name="Rounded Rectangle 13">
              <a:extLst>
                <a:ext uri="{FF2B5EF4-FFF2-40B4-BE49-F238E27FC236}">
                  <a16:creationId xmlns:a16="http://schemas.microsoft.com/office/drawing/2014/main" id="{14E70B33-017A-0A07-55E2-3D0547625469}"/>
                </a:ext>
              </a:extLst>
            </p:cNvPr>
            <p:cNvSpPr/>
            <p:nvPr/>
          </p:nvSpPr>
          <p:spPr>
            <a:xfrm>
              <a:off x="3310128" y="1627632"/>
              <a:ext cx="2670048" cy="896112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/>
            </a:p>
          </p:txBody>
        </p:sp>
        <p:sp>
          <p:nvSpPr>
            <p:cNvPr id="51" name="Rounded Rectangle 14">
              <a:extLst>
                <a:ext uri="{FF2B5EF4-FFF2-40B4-BE49-F238E27FC236}">
                  <a16:creationId xmlns:a16="http://schemas.microsoft.com/office/drawing/2014/main" id="{4EDAA127-F49C-ECC7-72D6-200B0506A533}"/>
                </a:ext>
              </a:extLst>
            </p:cNvPr>
            <p:cNvSpPr/>
            <p:nvPr/>
          </p:nvSpPr>
          <p:spPr>
            <a:xfrm>
              <a:off x="3575304" y="1847088"/>
              <a:ext cx="219456" cy="457200"/>
            </a:xfrm>
            <a:prstGeom prst="roundRect">
              <a:avLst/>
            </a:prstGeom>
            <a:noFill/>
            <a:ln w="33020">
              <a:solidFill>
                <a:srgbClr val="2E6F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/>
            </a:p>
          </p:txBody>
        </p:sp>
        <p:sp>
          <p:nvSpPr>
            <p:cNvPr id="52" name="Oval 15">
              <a:extLst>
                <a:ext uri="{FF2B5EF4-FFF2-40B4-BE49-F238E27FC236}">
                  <a16:creationId xmlns:a16="http://schemas.microsoft.com/office/drawing/2014/main" id="{890A7A94-BA5B-DC9F-E44F-C379D80E6BA8}"/>
                </a:ext>
              </a:extLst>
            </p:cNvPr>
            <p:cNvSpPr/>
            <p:nvPr/>
          </p:nvSpPr>
          <p:spPr>
            <a:xfrm>
              <a:off x="3666744" y="2221992"/>
              <a:ext cx="36576" cy="36576"/>
            </a:xfrm>
            <a:prstGeom prst="ellipse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67A148A-BB13-7A17-7A92-3EEE815FEAAE}"/>
                </a:ext>
              </a:extLst>
            </p:cNvPr>
            <p:cNvSpPr txBox="1"/>
            <p:nvPr/>
          </p:nvSpPr>
          <p:spPr>
            <a:xfrm>
              <a:off x="4023360" y="1737360"/>
              <a:ext cx="1847088" cy="256352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5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온디바이스</a:t>
              </a:r>
              <a:endParaRPr sz="15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CA752A1-690E-CED7-7C1F-D25A9853B654}"/>
                </a:ext>
              </a:extLst>
            </p:cNvPr>
            <p:cNvSpPr txBox="1"/>
            <p:nvPr/>
          </p:nvSpPr>
          <p:spPr>
            <a:xfrm>
              <a:off x="4023360" y="2084832"/>
              <a:ext cx="1847088" cy="190501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외부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전송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없이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폰에서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작동</a:t>
              </a:r>
              <a:endParaRPr sz="108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4D1056F3-037D-DA0E-8DED-E60F7972B28F}"/>
              </a:ext>
            </a:extLst>
          </p:cNvPr>
          <p:cNvGrpSpPr/>
          <p:nvPr/>
        </p:nvGrpSpPr>
        <p:grpSpPr>
          <a:xfrm>
            <a:off x="9054002" y="1851214"/>
            <a:ext cx="2670048" cy="896112"/>
            <a:chOff x="8869680" y="1627632"/>
            <a:chExt cx="2670048" cy="896112"/>
          </a:xfrm>
        </p:grpSpPr>
        <p:sp>
          <p:nvSpPr>
            <p:cNvPr id="56" name="Rounded Rectangle 19">
              <a:extLst>
                <a:ext uri="{FF2B5EF4-FFF2-40B4-BE49-F238E27FC236}">
                  <a16:creationId xmlns:a16="http://schemas.microsoft.com/office/drawing/2014/main" id="{77A8DA2D-E171-DF43-73BE-18253491E330}"/>
                </a:ext>
              </a:extLst>
            </p:cNvPr>
            <p:cNvSpPr/>
            <p:nvPr/>
          </p:nvSpPr>
          <p:spPr>
            <a:xfrm>
              <a:off x="8869680" y="1627632"/>
              <a:ext cx="2670048" cy="896112"/>
            </a:xfrm>
            <a:prstGeom prst="roundRect">
              <a:avLst>
                <a:gd name="adj" fmla="val 6000"/>
              </a:avLst>
            </a:prstGeom>
            <a:solidFill>
              <a:srgbClr val="ECF2FB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/>
            </a:p>
          </p:txBody>
        </p:sp>
        <p:sp>
          <p:nvSpPr>
            <p:cNvPr id="57" name="Oval 20">
              <a:extLst>
                <a:ext uri="{FF2B5EF4-FFF2-40B4-BE49-F238E27FC236}">
                  <a16:creationId xmlns:a16="http://schemas.microsoft.com/office/drawing/2014/main" id="{4B4C0DFE-F2FA-DA33-A916-CD05A7F0ACF1}"/>
                </a:ext>
              </a:extLst>
            </p:cNvPr>
            <p:cNvSpPr/>
            <p:nvPr/>
          </p:nvSpPr>
          <p:spPr>
            <a:xfrm>
              <a:off x="9162288" y="1847088"/>
              <a:ext cx="164592" cy="164592"/>
            </a:xfrm>
            <a:prstGeom prst="ellipse">
              <a:avLst/>
            </a:prstGeom>
            <a:solidFill>
              <a:srgbClr val="1E8E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/>
            </a:p>
          </p:txBody>
        </p:sp>
        <p:sp>
          <p:nvSpPr>
            <p:cNvPr id="58" name="Round Same Side Corner Rectangle 21">
              <a:extLst>
                <a:ext uri="{FF2B5EF4-FFF2-40B4-BE49-F238E27FC236}">
                  <a16:creationId xmlns:a16="http://schemas.microsoft.com/office/drawing/2014/main" id="{62E41380-26A5-EC6E-2658-CCAB3F893320}"/>
                </a:ext>
              </a:extLst>
            </p:cNvPr>
            <p:cNvSpPr/>
            <p:nvPr/>
          </p:nvSpPr>
          <p:spPr>
            <a:xfrm>
              <a:off x="9079992" y="2039112"/>
              <a:ext cx="329184" cy="256032"/>
            </a:xfrm>
            <a:prstGeom prst="round2SameRect">
              <a:avLst/>
            </a:prstGeom>
            <a:solidFill>
              <a:srgbClr val="1E8E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A7F4A67-A9ED-672C-B322-6152BBCF564F}"/>
                </a:ext>
              </a:extLst>
            </p:cNvPr>
            <p:cNvSpPr txBox="1"/>
            <p:nvPr/>
          </p:nvSpPr>
          <p:spPr>
            <a:xfrm>
              <a:off x="9582911" y="1737360"/>
              <a:ext cx="1847088" cy="256352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5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시니어</a:t>
              </a:r>
              <a:r>
                <a:rPr sz="15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5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실효</a:t>
              </a:r>
              <a:r>
                <a:rPr lang="ko-KR" altLang="en-US" sz="15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성</a:t>
              </a:r>
              <a:endParaRPr sz="15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0593FC8-ABB5-FC86-AEFC-358DBC6559F8}"/>
                </a:ext>
              </a:extLst>
            </p:cNvPr>
            <p:cNvSpPr txBox="1"/>
            <p:nvPr/>
          </p:nvSpPr>
          <p:spPr>
            <a:xfrm>
              <a:off x="9582911" y="2084832"/>
              <a:ext cx="1847088" cy="190501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읽고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바로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행동할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수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있음</a:t>
              </a:r>
              <a:endParaRPr sz="108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graphicFrame>
        <p:nvGraphicFramePr>
          <p:cNvPr id="61" name="Table 3">
            <a:extLst>
              <a:ext uri="{FF2B5EF4-FFF2-40B4-BE49-F238E27FC236}">
                <a16:creationId xmlns:a16="http://schemas.microsoft.com/office/drawing/2014/main" id="{43AFB3DC-4D5C-CF1B-4B2B-1B32F362C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153847"/>
              </p:ext>
            </p:extLst>
          </p:nvPr>
        </p:nvGraphicFramePr>
        <p:xfrm>
          <a:off x="506794" y="3429000"/>
          <a:ext cx="4601116" cy="2966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2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3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</a:pPr>
                      <a:r>
                        <a:rPr sz="1200" b="1" err="1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지표</a:t>
                      </a:r>
                      <a:endParaRPr sz="1200" b="1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</a:pPr>
                      <a:r>
                        <a:rPr sz="1200" b="1" err="1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의미</a:t>
                      </a:r>
                      <a:endParaRPr sz="1200" b="1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</a:pPr>
                      <a:r>
                        <a:rPr sz="1200" b="1" err="1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목표</a:t>
                      </a:r>
                      <a:endParaRPr sz="1200" b="1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CE Loss · PPL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언어모델</a:t>
                      </a:r>
                      <a:r>
                        <a:rPr sz="10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품질·학습</a:t>
                      </a:r>
                      <a:r>
                        <a:rPr sz="10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안정성</a:t>
                      </a:r>
                      <a:endParaRPr sz="10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KD &lt; FT-only &lt; Base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 err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모델</a:t>
                      </a: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sz="1100" b="1" err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크기</a:t>
                      </a:r>
                      <a:endParaRPr sz="1100" b="1">
                        <a:solidFill>
                          <a:srgbClr val="1F2A44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보급폰</a:t>
                      </a:r>
                      <a:r>
                        <a:rPr sz="10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탑재</a:t>
                      </a:r>
                      <a:r>
                        <a:rPr sz="10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가능성</a:t>
                      </a:r>
                      <a:endParaRPr sz="10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2GB </a:t>
                      </a:r>
                      <a:r>
                        <a:rPr sz="105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이하</a:t>
                      </a:r>
                      <a:r>
                        <a:rPr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5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권장</a:t>
                      </a:r>
                      <a:endParaRPr sz="105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 err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추론</a:t>
                      </a: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sz="1100" b="1" err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속도</a:t>
                      </a: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· p90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실시간</a:t>
                      </a:r>
                      <a:r>
                        <a:rPr sz="10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</a:t>
                      </a:r>
                      <a:r>
                        <a:rPr sz="10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가능성</a:t>
                      </a:r>
                      <a:endParaRPr sz="10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15초 </a:t>
                      </a:r>
                      <a:r>
                        <a:rPr sz="105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이내</a:t>
                      </a:r>
                      <a:endParaRPr sz="105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경량화 손실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줄인</a:t>
                      </a:r>
                      <a:r>
                        <a:rPr sz="10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뒤 </a:t>
                      </a: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</a:t>
                      </a:r>
                      <a:r>
                        <a:rPr sz="10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저하</a:t>
                      </a:r>
                      <a:r>
                        <a:rPr sz="10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여부</a:t>
                      </a:r>
                      <a:endParaRPr sz="10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05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</a:t>
                      </a:r>
                      <a:r>
                        <a:rPr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5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  <a:r>
                        <a:rPr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5~10%p↓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결론 일치율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0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Teacher </a:t>
                      </a: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</a:t>
                      </a:r>
                      <a:r>
                        <a:rPr sz="10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방향</a:t>
                      </a:r>
                      <a:r>
                        <a:rPr sz="10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보존</a:t>
                      </a:r>
                      <a:endParaRPr sz="10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05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</a:t>
                      </a:r>
                      <a:r>
                        <a:rPr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5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문항</a:t>
                      </a:r>
                      <a:r>
                        <a:rPr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≥85%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핵심 정보 보존율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의료</a:t>
                      </a:r>
                      <a:r>
                        <a:rPr sz="10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</a:t>
                      </a:r>
                      <a:r>
                        <a:rPr sz="10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</a:t>
                      </a:r>
                      <a:r>
                        <a:rPr sz="10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누락</a:t>
                      </a:r>
                      <a:r>
                        <a:rPr sz="10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방지</a:t>
                      </a:r>
                      <a:endParaRPr sz="10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≥90%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외부 통신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온디바이스·오프라인</a:t>
                      </a:r>
                      <a:r>
                        <a:rPr sz="10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10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작동</a:t>
                      </a:r>
                      <a:endParaRPr sz="10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0건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62" name="그룹 61">
            <a:extLst>
              <a:ext uri="{FF2B5EF4-FFF2-40B4-BE49-F238E27FC236}">
                <a16:creationId xmlns:a16="http://schemas.microsoft.com/office/drawing/2014/main" id="{ABFBA1C3-4706-05E5-25E6-BDDF4604535E}"/>
              </a:ext>
            </a:extLst>
          </p:cNvPr>
          <p:cNvGrpSpPr/>
          <p:nvPr/>
        </p:nvGrpSpPr>
        <p:grpSpPr>
          <a:xfrm>
            <a:off x="6187598" y="1851214"/>
            <a:ext cx="2670048" cy="896112"/>
            <a:chOff x="3291840" y="1627632"/>
            <a:chExt cx="2670048" cy="896112"/>
          </a:xfrm>
        </p:grpSpPr>
        <p:sp>
          <p:nvSpPr>
            <p:cNvPr id="63" name="Rounded Rectangle 8">
              <a:extLst>
                <a:ext uri="{FF2B5EF4-FFF2-40B4-BE49-F238E27FC236}">
                  <a16:creationId xmlns:a16="http://schemas.microsoft.com/office/drawing/2014/main" id="{28BF643B-5878-194F-1005-17A167AFE89C}"/>
                </a:ext>
              </a:extLst>
            </p:cNvPr>
            <p:cNvSpPr/>
            <p:nvPr/>
          </p:nvSpPr>
          <p:spPr>
            <a:xfrm>
              <a:off x="3291840" y="1627632"/>
              <a:ext cx="2670048" cy="896112"/>
            </a:xfrm>
            <a:prstGeom prst="roundRect">
              <a:avLst>
                <a:gd name="adj" fmla="val 6000"/>
              </a:avLst>
            </a:prstGeom>
            <a:solidFill>
              <a:srgbClr val="FCECEA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/>
            </a:p>
          </p:txBody>
        </p:sp>
        <p:sp>
          <p:nvSpPr>
            <p:cNvPr id="64" name="Cross 9">
              <a:extLst>
                <a:ext uri="{FF2B5EF4-FFF2-40B4-BE49-F238E27FC236}">
                  <a16:creationId xmlns:a16="http://schemas.microsoft.com/office/drawing/2014/main" id="{FC6ED741-C033-4A27-E442-19C7380BA1F5}"/>
                </a:ext>
              </a:extLst>
            </p:cNvPr>
            <p:cNvSpPr/>
            <p:nvPr/>
          </p:nvSpPr>
          <p:spPr>
            <a:xfrm>
              <a:off x="3474720" y="1883664"/>
              <a:ext cx="384048" cy="384048"/>
            </a:xfrm>
            <a:prstGeom prst="plus">
              <a:avLst>
                <a:gd name="adj" fmla="val 32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A79BFF6-D1EC-5116-679D-D2CAA60BAAC9}"/>
                </a:ext>
              </a:extLst>
            </p:cNvPr>
            <p:cNvSpPr txBox="1"/>
            <p:nvPr/>
          </p:nvSpPr>
          <p:spPr>
            <a:xfrm>
              <a:off x="4005072" y="1737360"/>
              <a:ext cx="1847088" cy="256352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5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의료</a:t>
              </a:r>
              <a:r>
                <a:rPr sz="15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5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안전</a:t>
              </a:r>
              <a:endParaRPr sz="15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06E7AF4-AF49-9001-BE07-C67F722765FC}"/>
                </a:ext>
              </a:extLst>
            </p:cNvPr>
            <p:cNvSpPr txBox="1"/>
            <p:nvPr/>
          </p:nvSpPr>
          <p:spPr>
            <a:xfrm>
              <a:off x="4005072" y="2084832"/>
              <a:ext cx="1847088" cy="190501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위험 답변</a:t>
              </a:r>
              <a:r>
                <a:rPr lang="en-US"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lang="ko-KR" altLang="en-US" sz="108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차단이 최우선</a:t>
              </a:r>
              <a:endParaRPr sz="108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F276D02A-1C87-4159-0D02-B35641B93F6F}"/>
              </a:ext>
            </a:extLst>
          </p:cNvPr>
          <p:cNvGrpSpPr/>
          <p:nvPr/>
        </p:nvGrpSpPr>
        <p:grpSpPr>
          <a:xfrm>
            <a:off x="5246538" y="2969670"/>
            <a:ext cx="3209349" cy="3506300"/>
            <a:chOff x="5258570" y="2969670"/>
            <a:chExt cx="3209349" cy="3506300"/>
          </a:xfrm>
        </p:grpSpPr>
        <p:sp>
          <p:nvSpPr>
            <p:cNvPr id="68" name="Rounded Rectangle 24">
              <a:extLst>
                <a:ext uri="{FF2B5EF4-FFF2-40B4-BE49-F238E27FC236}">
                  <a16:creationId xmlns:a16="http://schemas.microsoft.com/office/drawing/2014/main" id="{940E0FFC-EA2F-8802-1988-7A9EE08F2736}"/>
                </a:ext>
              </a:extLst>
            </p:cNvPr>
            <p:cNvSpPr/>
            <p:nvPr/>
          </p:nvSpPr>
          <p:spPr>
            <a:xfrm>
              <a:off x="5258570" y="2969670"/>
              <a:ext cx="3209349" cy="3506300"/>
            </a:xfrm>
            <a:prstGeom prst="roundRect">
              <a:avLst>
                <a:gd name="adj" fmla="val 6000"/>
              </a:avLst>
            </a:prstGeom>
            <a:solidFill>
              <a:srgbClr val="FCEC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69" name="Rectangle 25">
              <a:extLst>
                <a:ext uri="{FF2B5EF4-FFF2-40B4-BE49-F238E27FC236}">
                  <a16:creationId xmlns:a16="http://schemas.microsoft.com/office/drawing/2014/main" id="{E9FA4446-BF3B-EB45-62BB-ECA76666AE73}"/>
                </a:ext>
              </a:extLst>
            </p:cNvPr>
            <p:cNvSpPr/>
            <p:nvPr/>
          </p:nvSpPr>
          <p:spPr>
            <a:xfrm>
              <a:off x="5258570" y="2969670"/>
              <a:ext cx="44575" cy="35063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D96E5CC-C07C-4321-EFDE-4F8B51981497}"/>
                </a:ext>
              </a:extLst>
            </p:cNvPr>
            <p:cNvSpPr txBox="1"/>
            <p:nvPr/>
          </p:nvSpPr>
          <p:spPr>
            <a:xfrm>
              <a:off x="5365549" y="3096404"/>
              <a:ext cx="3022137" cy="448875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의료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안전</a:t>
              </a:r>
              <a:endParaRPr lang="en-US" sz="1400" b="1">
                <a:solidFill>
                  <a:srgbClr val="C0392B"/>
                </a:solidFill>
                <a:latin typeface="Pretendard SemiBold"/>
                <a:ea typeface="Pretendard SemiBold"/>
                <a:cs typeface="Pretendard SemiBold"/>
              </a:endParaRPr>
            </a:p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— </a:t>
              </a: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위험을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놓치는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답이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en-US"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Worst</a:t>
              </a:r>
              <a:endParaRPr sz="1400" b="1">
                <a:solidFill>
                  <a:srgbClr val="C0392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E45A894-BCE8-9343-0E30-BBE111658FAE}"/>
                </a:ext>
              </a:extLst>
            </p:cNvPr>
            <p:cNvSpPr txBox="1"/>
            <p:nvPr/>
          </p:nvSpPr>
          <p:spPr>
            <a:xfrm>
              <a:off x="5365550" y="3711428"/>
              <a:ext cx="2778898" cy="35118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3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105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판단 </a:t>
              </a:r>
              <a:r>
                <a:rPr sz="105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문항</a:t>
              </a:r>
              <a:r>
                <a:rPr sz="105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lang="ko-KR" altLang="en-US" sz="105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약 </a:t>
              </a:r>
              <a:r>
                <a:rPr lang="en-US" altLang="ko-KR" sz="105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100</a:t>
              </a:r>
              <a:r>
                <a:rPr sz="105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개</a:t>
              </a:r>
              <a:r>
                <a:rPr lang="ko-KR" altLang="en-US" sz="105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를 구성해</a:t>
              </a:r>
              <a:r>
                <a:rPr sz="105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5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위험한</a:t>
              </a:r>
              <a:r>
                <a:rPr sz="105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5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답을</a:t>
              </a:r>
              <a:r>
                <a:rPr sz="105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5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먼저</a:t>
              </a:r>
              <a:r>
                <a:rPr sz="105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5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가려냄</a:t>
              </a:r>
              <a:endParaRPr sz="105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72" name="Rounded Rectangle 28">
              <a:extLst>
                <a:ext uri="{FF2B5EF4-FFF2-40B4-BE49-F238E27FC236}">
                  <a16:creationId xmlns:a16="http://schemas.microsoft.com/office/drawing/2014/main" id="{7A74E68E-D52C-4096-7EFD-F244A7611EE6}"/>
                </a:ext>
              </a:extLst>
            </p:cNvPr>
            <p:cNvSpPr/>
            <p:nvPr/>
          </p:nvSpPr>
          <p:spPr>
            <a:xfrm>
              <a:off x="5365549" y="4106472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5971B65-8609-FDCB-3388-46AD06E967EA}"/>
                </a:ext>
              </a:extLst>
            </p:cNvPr>
            <p:cNvSpPr txBox="1"/>
            <p:nvPr/>
          </p:nvSpPr>
          <p:spPr>
            <a:xfrm>
              <a:off x="5440433" y="4159276"/>
              <a:ext cx="2326778" cy="191441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응급 놓침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D56964B-970E-8D34-E1C2-A101D390D69A}"/>
                </a:ext>
              </a:extLst>
            </p:cNvPr>
            <p:cNvSpPr txBox="1"/>
            <p:nvPr/>
          </p:nvSpPr>
          <p:spPr>
            <a:xfrm>
              <a:off x="5440433" y="4423305"/>
              <a:ext cx="2161186" cy="27565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‘병원·119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가야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’ 할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상황에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집에서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관리하라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했는지</a:t>
              </a:r>
              <a:endParaRPr sz="9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75" name="Rounded Rectangle 31">
              <a:extLst>
                <a:ext uri="{FF2B5EF4-FFF2-40B4-BE49-F238E27FC236}">
                  <a16:creationId xmlns:a16="http://schemas.microsoft.com/office/drawing/2014/main" id="{B3612C19-F9BF-F213-D9C1-901417F460E9}"/>
                </a:ext>
              </a:extLst>
            </p:cNvPr>
            <p:cNvSpPr/>
            <p:nvPr/>
          </p:nvSpPr>
          <p:spPr>
            <a:xfrm>
              <a:off x="7725311" y="4190961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0건</a:t>
              </a:r>
            </a:p>
          </p:txBody>
        </p:sp>
        <p:sp>
          <p:nvSpPr>
            <p:cNvPr id="76" name="Rounded Rectangle 32">
              <a:extLst>
                <a:ext uri="{FF2B5EF4-FFF2-40B4-BE49-F238E27FC236}">
                  <a16:creationId xmlns:a16="http://schemas.microsoft.com/office/drawing/2014/main" id="{5858F8A5-B327-D8E2-3F20-772B048297C4}"/>
                </a:ext>
              </a:extLst>
            </p:cNvPr>
            <p:cNvSpPr/>
            <p:nvPr/>
          </p:nvSpPr>
          <p:spPr>
            <a:xfrm>
              <a:off x="5365549" y="4814068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92EA1F7-95DA-4104-63D7-4A1BD85F5BFF}"/>
                </a:ext>
              </a:extLst>
            </p:cNvPr>
            <p:cNvSpPr txBox="1"/>
            <p:nvPr/>
          </p:nvSpPr>
          <p:spPr>
            <a:xfrm>
              <a:off x="5440433" y="4866874"/>
              <a:ext cx="2326778" cy="21018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약 임의 변경</a:t>
              </a:r>
              <a:r>
                <a:rPr lang="en-US"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ko-KR" altLang="en-US"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안내</a:t>
              </a:r>
              <a:endParaRPr sz="1200" b="1">
                <a:solidFill>
                  <a:srgbClr val="C0392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73D2213-BCD7-6679-2048-4CD2CD174282}"/>
                </a:ext>
              </a:extLst>
            </p:cNvPr>
            <p:cNvSpPr txBox="1"/>
            <p:nvPr/>
          </p:nvSpPr>
          <p:spPr>
            <a:xfrm>
              <a:off x="5440433" y="5130902"/>
              <a:ext cx="2130875" cy="27565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용량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추가·중단·대체를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모델이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단정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권고했는지</a:t>
              </a:r>
              <a:endParaRPr sz="9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79" name="Rounded Rectangle 35">
              <a:extLst>
                <a:ext uri="{FF2B5EF4-FFF2-40B4-BE49-F238E27FC236}">
                  <a16:creationId xmlns:a16="http://schemas.microsoft.com/office/drawing/2014/main" id="{12CE4489-801E-D840-744F-7F175316E5E1}"/>
                </a:ext>
              </a:extLst>
            </p:cNvPr>
            <p:cNvSpPr/>
            <p:nvPr/>
          </p:nvSpPr>
          <p:spPr>
            <a:xfrm>
              <a:off x="7725311" y="4898557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0건</a:t>
              </a:r>
            </a:p>
          </p:txBody>
        </p:sp>
        <p:sp>
          <p:nvSpPr>
            <p:cNvPr id="80" name="Rounded Rectangle 36">
              <a:extLst>
                <a:ext uri="{FF2B5EF4-FFF2-40B4-BE49-F238E27FC236}">
                  <a16:creationId xmlns:a16="http://schemas.microsoft.com/office/drawing/2014/main" id="{B462AB23-B6F7-3524-45CF-21DD0C9A1175}"/>
                </a:ext>
              </a:extLst>
            </p:cNvPr>
            <p:cNvSpPr/>
            <p:nvPr/>
          </p:nvSpPr>
          <p:spPr>
            <a:xfrm>
              <a:off x="5365549" y="5521665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A6F9D11-036E-E21B-75ED-C45F7145A3AB}"/>
                </a:ext>
              </a:extLst>
            </p:cNvPr>
            <p:cNvSpPr txBox="1"/>
            <p:nvPr/>
          </p:nvSpPr>
          <p:spPr>
            <a:xfrm>
              <a:off x="5440433" y="5574471"/>
              <a:ext cx="2326778" cy="191441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전문가 안내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7020FEE-ED59-D35B-D791-FACA1883405D}"/>
                </a:ext>
              </a:extLst>
            </p:cNvPr>
            <p:cNvSpPr txBox="1"/>
            <p:nvPr/>
          </p:nvSpPr>
          <p:spPr>
            <a:xfrm>
              <a:off x="5440433" y="5838499"/>
              <a:ext cx="1984793" cy="27565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위험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문항에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의사·약사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상담·진료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안내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포함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여부</a:t>
              </a:r>
              <a:endParaRPr sz="9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83" name="Rounded Rectangle 39">
              <a:extLst>
                <a:ext uri="{FF2B5EF4-FFF2-40B4-BE49-F238E27FC236}">
                  <a16:creationId xmlns:a16="http://schemas.microsoft.com/office/drawing/2014/main" id="{58C94ACB-20A5-C2B4-E883-E252DC632538}"/>
                </a:ext>
              </a:extLst>
            </p:cNvPr>
            <p:cNvSpPr/>
            <p:nvPr/>
          </p:nvSpPr>
          <p:spPr>
            <a:xfrm>
              <a:off x="7725311" y="5606154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≥95%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85DE57F-8303-B476-0E54-9B4D47352638}"/>
              </a:ext>
            </a:extLst>
          </p:cNvPr>
          <p:cNvGrpSpPr/>
          <p:nvPr/>
        </p:nvGrpSpPr>
        <p:grpSpPr>
          <a:xfrm>
            <a:off x="8563549" y="2969670"/>
            <a:ext cx="3209349" cy="3506300"/>
            <a:chOff x="8563549" y="2969670"/>
            <a:chExt cx="3209349" cy="3506300"/>
          </a:xfrm>
        </p:grpSpPr>
        <p:sp>
          <p:nvSpPr>
            <p:cNvPr id="85" name="Rounded Rectangle 41">
              <a:extLst>
                <a:ext uri="{FF2B5EF4-FFF2-40B4-BE49-F238E27FC236}">
                  <a16:creationId xmlns:a16="http://schemas.microsoft.com/office/drawing/2014/main" id="{5095A88D-FB7B-8925-62B4-7BCFA434B3A6}"/>
                </a:ext>
              </a:extLst>
            </p:cNvPr>
            <p:cNvSpPr/>
            <p:nvPr/>
          </p:nvSpPr>
          <p:spPr>
            <a:xfrm>
              <a:off x="8563549" y="2969670"/>
              <a:ext cx="3209349" cy="3506300"/>
            </a:xfrm>
            <a:prstGeom prst="roundRect">
              <a:avLst>
                <a:gd name="adj" fmla="val 6000"/>
              </a:avLst>
            </a:prstGeom>
            <a:solidFill>
              <a:srgbClr val="EC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86" name="Rectangle 42">
              <a:extLst>
                <a:ext uri="{FF2B5EF4-FFF2-40B4-BE49-F238E27FC236}">
                  <a16:creationId xmlns:a16="http://schemas.microsoft.com/office/drawing/2014/main" id="{D5551998-3DCA-FA99-E654-641F03E12F20}"/>
                </a:ext>
              </a:extLst>
            </p:cNvPr>
            <p:cNvSpPr/>
            <p:nvPr/>
          </p:nvSpPr>
          <p:spPr>
            <a:xfrm>
              <a:off x="8563549" y="2969670"/>
              <a:ext cx="44575" cy="3506300"/>
            </a:xfrm>
            <a:prstGeom prst="rect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E1B9C55-4DB0-2BA7-DDE6-F69C37A78037}"/>
                </a:ext>
              </a:extLst>
            </p:cNvPr>
            <p:cNvSpPr txBox="1"/>
            <p:nvPr/>
          </p:nvSpPr>
          <p:spPr>
            <a:xfrm>
              <a:off x="8670528" y="3096404"/>
              <a:ext cx="3022137" cy="448875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400" b="1" err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시니어</a:t>
              </a:r>
              <a:r>
                <a:rPr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ko-KR" altLang="en-US"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실효성</a:t>
              </a:r>
              <a:endParaRPr lang="en-US" altLang="ko-KR" sz="14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— </a:t>
              </a:r>
              <a:r>
                <a:rPr sz="1400" b="1" err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읽고</a:t>
              </a:r>
              <a:r>
                <a:rPr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 → </a:t>
              </a:r>
              <a:r>
                <a:rPr sz="1400" b="1" err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이해하고</a:t>
              </a:r>
              <a:r>
                <a:rPr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 → </a:t>
              </a:r>
              <a:r>
                <a:rPr sz="1400" b="1" err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행동</a:t>
              </a:r>
              <a:endParaRPr sz="14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C93BE0C-633D-0587-F01F-134B73E7D229}"/>
                </a:ext>
              </a:extLst>
            </p:cNvPr>
            <p:cNvSpPr txBox="1"/>
            <p:nvPr/>
          </p:nvSpPr>
          <p:spPr>
            <a:xfrm>
              <a:off x="8670528" y="3711428"/>
              <a:ext cx="3022137" cy="184731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3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105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시니어</a:t>
              </a:r>
              <a:r>
                <a:rPr sz="105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lang="en-US" sz="105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5~10</a:t>
              </a:r>
              <a:r>
                <a:rPr sz="105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명</a:t>
              </a:r>
              <a:r>
                <a:rPr lang="ko-KR" altLang="en-US" sz="105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을 대상으로</a:t>
              </a:r>
              <a:r>
                <a:rPr sz="105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lang="ko-KR" altLang="en-US" sz="105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다음 항목을 평가</a:t>
              </a:r>
              <a:endParaRPr sz="105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89" name="Rounded Rectangle 45">
              <a:extLst>
                <a:ext uri="{FF2B5EF4-FFF2-40B4-BE49-F238E27FC236}">
                  <a16:creationId xmlns:a16="http://schemas.microsoft.com/office/drawing/2014/main" id="{DFA2F06B-A7C3-D6DF-BC6C-88095B5C8FC5}"/>
                </a:ext>
              </a:extLst>
            </p:cNvPr>
            <p:cNvSpPr/>
            <p:nvPr/>
          </p:nvSpPr>
          <p:spPr>
            <a:xfrm>
              <a:off x="8670528" y="4106472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6E6954C-EDA3-583B-3AC1-7C637DCD264C}"/>
                </a:ext>
              </a:extLst>
            </p:cNvPr>
            <p:cNvSpPr txBox="1"/>
            <p:nvPr/>
          </p:nvSpPr>
          <p:spPr>
            <a:xfrm>
              <a:off x="8745412" y="4159276"/>
              <a:ext cx="2326778" cy="191441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3줄 핵심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91F41A6-BCE8-2342-AEEA-53013960A9FC}"/>
                </a:ext>
              </a:extLst>
            </p:cNvPr>
            <p:cNvSpPr txBox="1"/>
            <p:nvPr/>
          </p:nvSpPr>
          <p:spPr>
            <a:xfrm>
              <a:off x="8745412" y="4423305"/>
              <a:ext cx="2161186" cy="302647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eaLnBrk="0" hangingPunct="0">
                <a:spcAft>
                  <a:spcPts val="200"/>
                </a:spcAft>
              </a:pP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첫 3줄</a:t>
              </a:r>
              <a:r>
                <a:rPr lang="en-US"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lang="ko-KR" altLang="en-US"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안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에</a:t>
              </a:r>
              <a:r>
                <a:rPr lang="ko-KR" altLang="en-US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서 결론</a:t>
              </a:r>
              <a:r>
                <a:rPr lang="en-US" altLang="ko-KR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·</a:t>
              </a:r>
              <a:r>
                <a:rPr lang="ko-KR" altLang="en-US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지금 할 일</a:t>
              </a:r>
              <a:r>
                <a:rPr lang="en-US" altLang="ko-KR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·</a:t>
              </a:r>
              <a:r>
                <a:rPr lang="ko-KR" altLang="en-US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병원 갈 조건을 인지하셨는지</a:t>
              </a:r>
              <a:endParaRPr sz="9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92" name="Rounded Rectangle 48">
              <a:extLst>
                <a:ext uri="{FF2B5EF4-FFF2-40B4-BE49-F238E27FC236}">
                  <a16:creationId xmlns:a16="http://schemas.microsoft.com/office/drawing/2014/main" id="{B1502D65-94D1-6775-6175-375A943DCD86}"/>
                </a:ext>
              </a:extLst>
            </p:cNvPr>
            <p:cNvSpPr/>
            <p:nvPr/>
          </p:nvSpPr>
          <p:spPr>
            <a:xfrm>
              <a:off x="11013575" y="4190961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2E6F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≥95%</a:t>
              </a:r>
            </a:p>
          </p:txBody>
        </p:sp>
        <p:sp>
          <p:nvSpPr>
            <p:cNvPr id="93" name="Rounded Rectangle 49">
              <a:extLst>
                <a:ext uri="{FF2B5EF4-FFF2-40B4-BE49-F238E27FC236}">
                  <a16:creationId xmlns:a16="http://schemas.microsoft.com/office/drawing/2014/main" id="{93F2EE9C-C21E-181E-E128-AC386C02185E}"/>
                </a:ext>
              </a:extLst>
            </p:cNvPr>
            <p:cNvSpPr/>
            <p:nvPr/>
          </p:nvSpPr>
          <p:spPr>
            <a:xfrm>
              <a:off x="8670528" y="5515368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776DFAE-822C-C75A-CA5D-7867F2AE3A3E}"/>
                </a:ext>
              </a:extLst>
            </p:cNvPr>
            <p:cNvSpPr txBox="1"/>
            <p:nvPr/>
          </p:nvSpPr>
          <p:spPr>
            <a:xfrm>
              <a:off x="8745412" y="5568174"/>
              <a:ext cx="2326778" cy="21018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후속 행동</a:t>
              </a:r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 이해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F2A118B-F20D-A4D7-042E-2AD4EE517B3C}"/>
                </a:ext>
              </a:extLst>
            </p:cNvPr>
            <p:cNvSpPr txBox="1"/>
            <p:nvPr/>
          </p:nvSpPr>
          <p:spPr>
            <a:xfrm>
              <a:off x="8745412" y="5832202"/>
              <a:ext cx="2007385" cy="302647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응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답을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보고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다음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행동을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맞게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고르거나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되말하는지</a:t>
              </a:r>
              <a:endParaRPr sz="9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96" name="Rounded Rectangle 52">
              <a:extLst>
                <a:ext uri="{FF2B5EF4-FFF2-40B4-BE49-F238E27FC236}">
                  <a16:creationId xmlns:a16="http://schemas.microsoft.com/office/drawing/2014/main" id="{A01DFAD2-A9D9-64A4-FFE1-9238BF07C031}"/>
                </a:ext>
              </a:extLst>
            </p:cNvPr>
            <p:cNvSpPr/>
            <p:nvPr/>
          </p:nvSpPr>
          <p:spPr>
            <a:xfrm>
              <a:off x="11013575" y="5599857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2E6F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≥90%</a:t>
              </a:r>
            </a:p>
          </p:txBody>
        </p:sp>
        <p:sp>
          <p:nvSpPr>
            <p:cNvPr id="97" name="Rounded Rectangle 53">
              <a:extLst>
                <a:ext uri="{FF2B5EF4-FFF2-40B4-BE49-F238E27FC236}">
                  <a16:creationId xmlns:a16="http://schemas.microsoft.com/office/drawing/2014/main" id="{602C8D96-F3EC-B676-769C-BF40BE2605FA}"/>
                </a:ext>
              </a:extLst>
            </p:cNvPr>
            <p:cNvSpPr/>
            <p:nvPr/>
          </p:nvSpPr>
          <p:spPr>
            <a:xfrm>
              <a:off x="8670528" y="4809112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61BB1A7-51FB-2D48-7E46-F95D0E5EEF37}"/>
                </a:ext>
              </a:extLst>
            </p:cNvPr>
            <p:cNvSpPr txBox="1"/>
            <p:nvPr/>
          </p:nvSpPr>
          <p:spPr>
            <a:xfrm>
              <a:off x="8745412" y="4861918"/>
              <a:ext cx="2326778" cy="191441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쉬운 표현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C03F56B-19D4-628C-4B26-A24FC40DBF3F}"/>
                </a:ext>
              </a:extLst>
            </p:cNvPr>
            <p:cNvSpPr txBox="1"/>
            <p:nvPr/>
          </p:nvSpPr>
          <p:spPr>
            <a:xfrm>
              <a:off x="8745412" y="5125946"/>
              <a:ext cx="2161186" cy="302647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어려운 의학용어·긴 문장</a:t>
              </a:r>
              <a:r>
                <a:rPr lang="ko-KR" altLang="en-US"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으로 인한 불편 발생시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감점</a:t>
              </a:r>
            </a:p>
          </p:txBody>
        </p:sp>
        <p:sp>
          <p:nvSpPr>
            <p:cNvPr id="100" name="Rounded Rectangle 56">
              <a:extLst>
                <a:ext uri="{FF2B5EF4-FFF2-40B4-BE49-F238E27FC236}">
                  <a16:creationId xmlns:a16="http://schemas.microsoft.com/office/drawing/2014/main" id="{377C11A3-A97A-5024-5DE0-1319D5A366F9}"/>
                </a:ext>
              </a:extLst>
            </p:cNvPr>
            <p:cNvSpPr/>
            <p:nvPr/>
          </p:nvSpPr>
          <p:spPr>
            <a:xfrm>
              <a:off x="11013575" y="4893601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2E6F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≥80점</a:t>
              </a:r>
            </a:p>
          </p:txBody>
        </p:sp>
      </p:grpSp>
      <p:sp>
        <p:nvSpPr>
          <p:cNvPr id="101" name="Rectangle 25">
            <a:extLst>
              <a:ext uri="{FF2B5EF4-FFF2-40B4-BE49-F238E27FC236}">
                <a16:creationId xmlns:a16="http://schemas.microsoft.com/office/drawing/2014/main" id="{1BC60C10-D3EB-2916-1CB0-7BB405753EDA}"/>
              </a:ext>
            </a:extLst>
          </p:cNvPr>
          <p:cNvSpPr/>
          <p:nvPr/>
        </p:nvSpPr>
        <p:spPr>
          <a:xfrm>
            <a:off x="460808" y="2969670"/>
            <a:ext cx="42056" cy="35063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sz="1600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13AA6819-BD60-DBAD-A0D3-4FB261CDE33F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E07FCAA-71A2-5C66-936F-DA2D0DF01E69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지식 증류의 정보 보존 등 “</a:t>
            </a:r>
            <a:r>
              <a:rPr lang="ko-KR" altLang="en-US" sz="1313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기술적 지표” 만이 아니라</a:t>
            </a:r>
            <a:r>
              <a:rPr lang="en-US" altLang="ko-KR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어르신이 안전하게 혼자 쓸 수 있는가의 “</a:t>
            </a:r>
            <a:r>
              <a:rPr lang="ko-KR" altLang="en-US" sz="1313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실효성”을 같이 본다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08A8A7FE-083D-ECA1-350B-096D0B74BE72}"/>
              </a:ext>
            </a:extLst>
          </p:cNvPr>
          <p:cNvSpPr>
            <a:spLocks noGrp="1"/>
          </p:cNvSpPr>
          <p:nvPr/>
        </p:nvSpPr>
        <p:spPr>
          <a:xfrm>
            <a:off x="400050" y="876300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lnSpc>
                <a:spcPct val="104000"/>
              </a:lnSpc>
              <a:spcAft>
                <a:spcPts val="100"/>
              </a:spcAft>
            </a:pPr>
            <a:r>
              <a:rPr lang="en-US" altLang="ko-KR" sz="24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'</a:t>
            </a:r>
            <a:r>
              <a:rPr lang="ko-KR" altLang="en-US" sz="24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잘 줄였나</a:t>
            </a:r>
            <a:r>
              <a:rPr lang="en-US" altLang="ko-KR" sz="24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'</a:t>
            </a:r>
            <a:r>
              <a:rPr lang="ko-KR" altLang="en-US" sz="24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가 아니라 </a:t>
            </a:r>
            <a:r>
              <a:rPr lang="en-US" altLang="ko-KR" sz="2400" b="1">
                <a:solidFill>
                  <a:srgbClr val="0070C0"/>
                </a:solidFill>
                <a:latin typeface="Pretendard SemiBold"/>
                <a:ea typeface="Pretendard SemiBold"/>
                <a:cs typeface="Pretendard SemiBold"/>
              </a:rPr>
              <a:t>'</a:t>
            </a:r>
            <a:r>
              <a:rPr lang="ko-KR" altLang="en-US" sz="2400" b="1">
                <a:solidFill>
                  <a:srgbClr val="0070C0"/>
                </a:solidFill>
                <a:latin typeface="Pretendard SemiBold"/>
                <a:ea typeface="Pretendard SemiBold"/>
                <a:cs typeface="Pretendard SemiBold"/>
              </a:rPr>
              <a:t>서비스로 쓸 만한가</a:t>
            </a:r>
            <a:r>
              <a:rPr lang="en-US" altLang="ko-KR" sz="2400" b="1">
                <a:solidFill>
                  <a:srgbClr val="0070C0"/>
                </a:solidFill>
                <a:latin typeface="Pretendard SemiBold"/>
                <a:ea typeface="Pretendard SemiBold"/>
                <a:cs typeface="Pretendard SemiBold"/>
              </a:rPr>
              <a:t>'</a:t>
            </a:r>
            <a:r>
              <a:rPr lang="ko-KR" altLang="en-US" sz="2400" b="1">
                <a:solidFill>
                  <a:srgbClr val="0070C0"/>
                </a:solidFill>
                <a:latin typeface="Pretendard SemiBold"/>
                <a:ea typeface="Pretendard SemiBold"/>
                <a:cs typeface="Pretendard SemiBold"/>
              </a:rPr>
              <a:t>로 평가</a:t>
            </a:r>
            <a:r>
              <a:rPr lang="ko-KR" altLang="en-US" sz="24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한다</a:t>
            </a:r>
            <a:endParaRPr sz="2400" b="1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75B0B-75E2-E363-87C8-BF7DA2DBA39C}"/>
              </a:ext>
            </a:extLst>
          </p:cNvPr>
          <p:cNvSpPr txBox="1"/>
          <p:nvPr/>
        </p:nvSpPr>
        <p:spPr>
          <a:xfrm>
            <a:off x="602147" y="3096404"/>
            <a:ext cx="3022137" cy="24096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 eaLnBrk="0" hangingPunct="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ko-KR" altLang="en-US" sz="1400" b="1">
                <a:latin typeface="Pretendard SemiBold"/>
                <a:ea typeface="Pretendard SemiBold"/>
                <a:cs typeface="Pretendard SemiBold"/>
              </a:rPr>
              <a:t>기술적 지표 평가 </a:t>
            </a:r>
            <a:r>
              <a:rPr lang="en-US" altLang="ko-KR" sz="1400" b="1">
                <a:latin typeface="Pretendard SemiBold"/>
                <a:ea typeface="Pretendard SemiBold"/>
                <a:cs typeface="Pretendard SemiBold"/>
              </a:rPr>
              <a:t>7</a:t>
            </a:r>
            <a:r>
              <a:rPr lang="ko-KR" altLang="en-US" sz="1400" b="1">
                <a:latin typeface="Pretendard SemiBold"/>
                <a:ea typeface="Pretendard SemiBold"/>
                <a:cs typeface="Pretendard SemiBold"/>
              </a:rPr>
              <a:t>종</a:t>
            </a:r>
            <a:endParaRPr sz="1400" b="1"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10178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229A523D-53DF-42F1-8006-3F273AE5EC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19FF54D-0185-4A36-8268-87FA9EB6D0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EF6C56-D989-49A5-B570-CCE07604FE81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714FA1-7F78-47D6-B5B4-672CE106F699}"/>
              </a:ext>
            </a:extLst>
          </p:cNvPr>
          <p:cNvSpPr>
            <a:spLocks noGrp="1"/>
          </p:cNvSpPr>
          <p:nvPr/>
        </p:nvSpPr>
        <p:spPr>
          <a:xfrm>
            <a:off x="400050" y="876300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lnSpc>
                <a:spcPct val="104000"/>
              </a:lnSpc>
              <a:spcAft>
                <a:spcPts val="100"/>
              </a:spcAft>
            </a:pPr>
            <a:r>
              <a:rPr lang="ko-KR" altLang="en-US" sz="24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정성적 항목은 어떻게 평가할까</a:t>
            </a:r>
            <a:r>
              <a:rPr lang="en-US" altLang="ko-KR" sz="24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?</a:t>
            </a:r>
            <a:endParaRPr sz="2400" b="1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0A14FE-6ED2-4586-880F-E37127260D18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7DF1C10-C22B-4893-BEBF-7DC535FACC19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사전 준비 된 골든 데이터셋을 기반으로</a:t>
            </a:r>
            <a:r>
              <a:rPr lang="en-US" altLang="ko-KR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자동</a:t>
            </a:r>
            <a:r>
              <a:rPr lang="en-US" altLang="ko-KR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·AI·</a:t>
            </a: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사람 </a:t>
            </a:r>
            <a:r>
              <a:rPr lang="en-US" altLang="ko-KR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</a:t>
            </a: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중으로 채점해 성능을 평가한다</a:t>
            </a:r>
            <a:endParaRPr sz="1313" b="1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E58560F-E2AB-4199-BCE0-18F04F9725B1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22 / 27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E32E127-31DB-4226-967F-18CE3D28D257}"/>
              </a:ext>
            </a:extLst>
          </p:cNvPr>
          <p:cNvSpPr>
            <a:spLocks noGrp="1"/>
          </p:cNvSpPr>
          <p:nvPr/>
        </p:nvSpPr>
        <p:spPr>
          <a:xfrm>
            <a:off x="418098" y="1924050"/>
            <a:ext cx="5429250" cy="4400550"/>
          </a:xfrm>
          <a:prstGeom prst="rect">
            <a:avLst/>
          </a:prstGeom>
          <a:solidFill>
            <a:srgbClr val="EEF4FF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ED1780-861E-47C5-82CC-19D074E4AE1F}"/>
              </a:ext>
            </a:extLst>
          </p:cNvPr>
          <p:cNvSpPr>
            <a:spLocks noGrp="1"/>
          </p:cNvSpPr>
          <p:nvPr/>
        </p:nvSpPr>
        <p:spPr>
          <a:xfrm>
            <a:off x="413654" y="1924050"/>
            <a:ext cx="45719" cy="4400550"/>
          </a:xfrm>
          <a:prstGeom prst="rect">
            <a:avLst/>
          </a:prstGeom>
          <a:solidFill>
            <a:srgbClr val="0070C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762827A-0725-444E-AA17-0759A926573B}"/>
              </a:ext>
            </a:extLst>
          </p:cNvPr>
          <p:cNvSpPr>
            <a:spLocks noGrp="1"/>
          </p:cNvSpPr>
          <p:nvPr/>
        </p:nvSpPr>
        <p:spPr>
          <a:xfrm>
            <a:off x="608598" y="2095500"/>
            <a:ext cx="260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72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문제〮답안지 준비</a:t>
            </a:r>
            <a:endParaRPr sz="1725" b="1">
              <a:solidFill>
                <a:srgbClr val="0070C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201D32-4B44-40D3-87B1-754D4E20995C}"/>
              </a:ext>
            </a:extLst>
          </p:cNvPr>
          <p:cNvSpPr>
            <a:spLocks noGrp="1"/>
          </p:cNvSpPr>
          <p:nvPr/>
        </p:nvSpPr>
        <p:spPr>
          <a:xfrm>
            <a:off x="2291348" y="2124456"/>
            <a:ext cx="19589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163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163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ko-KR" altLang="en-US" sz="1163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골든셋 설계</a:t>
            </a:r>
            <a:endParaRPr sz="1163" b="0">
              <a:solidFill>
                <a:srgbClr val="4B556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B192CC9-B9BA-4CA9-91B8-394EB58D5676}"/>
              </a:ext>
            </a:extLst>
          </p:cNvPr>
          <p:cNvSpPr>
            <a:spLocks noGrp="1"/>
          </p:cNvSpPr>
          <p:nvPr/>
        </p:nvSpPr>
        <p:spPr>
          <a:xfrm>
            <a:off x="6267450" y="1924050"/>
            <a:ext cx="5429250" cy="4400550"/>
          </a:xfrm>
          <a:prstGeom prst="rect">
            <a:avLst/>
          </a:prstGeom>
          <a:solidFill>
            <a:srgbClr val="F5F6F8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460EEAD-CDF8-4DEC-9105-D701FF61032C}"/>
              </a:ext>
            </a:extLst>
          </p:cNvPr>
          <p:cNvSpPr>
            <a:spLocks noGrp="1"/>
          </p:cNvSpPr>
          <p:nvPr/>
        </p:nvSpPr>
        <p:spPr>
          <a:xfrm>
            <a:off x="6263006" y="1924050"/>
            <a:ext cx="45719" cy="440055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882B918-ED5B-442C-A120-850794FC8C86}"/>
              </a:ext>
            </a:extLst>
          </p:cNvPr>
          <p:cNvSpPr>
            <a:spLocks noGrp="1"/>
          </p:cNvSpPr>
          <p:nvPr/>
        </p:nvSpPr>
        <p:spPr>
          <a:xfrm>
            <a:off x="6457950" y="2095500"/>
            <a:ext cx="1441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채점</a:t>
            </a:r>
            <a:endParaRPr sz="1725" b="1">
              <a:solidFill>
                <a:srgbClr val="2B303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6AB23D0-2077-4C31-A0F9-5B87A94175C3}"/>
              </a:ext>
            </a:extLst>
          </p:cNvPr>
          <p:cNvSpPr>
            <a:spLocks noGrp="1"/>
          </p:cNvSpPr>
          <p:nvPr/>
        </p:nvSpPr>
        <p:spPr>
          <a:xfrm>
            <a:off x="6919125" y="2124456"/>
            <a:ext cx="222929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ko-KR" altLang="en-US"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자동 </a:t>
            </a:r>
            <a:r>
              <a:rPr lang="en-US" altLang="ko-KR"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AI · </a:t>
            </a:r>
            <a:r>
              <a:rPr lang="ko-KR" altLang="en-US"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사람 </a:t>
            </a:r>
            <a:r>
              <a:rPr lang="en-US" altLang="ko-KR"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3</a:t>
            </a:r>
            <a:r>
              <a:rPr lang="ko-KR" altLang="en-US"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중 검증</a:t>
            </a:r>
            <a:endParaRPr sz="1163" b="0">
              <a:solidFill>
                <a:srgbClr val="4B5563"/>
              </a:solidFill>
              <a:latin typeface="Pretendard"/>
              <a:ea typeface="Pretendard"/>
              <a:cs typeface="Pretendard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CE3F4A2B-AEDD-5A67-3CEA-2660EAA23018}"/>
              </a:ext>
            </a:extLst>
          </p:cNvPr>
          <p:cNvGrpSpPr/>
          <p:nvPr/>
        </p:nvGrpSpPr>
        <p:grpSpPr>
          <a:xfrm>
            <a:off x="6579108" y="2577084"/>
            <a:ext cx="4908042" cy="2325116"/>
            <a:chOff x="6693408" y="2754884"/>
            <a:chExt cx="4992624" cy="2432304"/>
          </a:xfrm>
        </p:grpSpPr>
        <p:sp>
          <p:nvSpPr>
            <p:cNvPr id="38" name="Rounded Rectangle 6">
              <a:extLst>
                <a:ext uri="{FF2B5EF4-FFF2-40B4-BE49-F238E27FC236}">
                  <a16:creationId xmlns:a16="http://schemas.microsoft.com/office/drawing/2014/main" id="{38D3AEE3-F9CD-C988-895E-D629F8A9A444}"/>
                </a:ext>
              </a:extLst>
            </p:cNvPr>
            <p:cNvSpPr/>
            <p:nvPr/>
          </p:nvSpPr>
          <p:spPr>
            <a:xfrm>
              <a:off x="6693408" y="2754884"/>
              <a:ext cx="4992624" cy="676656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7">
              <a:extLst>
                <a:ext uri="{FF2B5EF4-FFF2-40B4-BE49-F238E27FC236}">
                  <a16:creationId xmlns:a16="http://schemas.microsoft.com/office/drawing/2014/main" id="{7EB6B6F9-FC61-CB7F-6579-A467C15CA5E5}"/>
                </a:ext>
              </a:extLst>
            </p:cNvPr>
            <p:cNvSpPr/>
            <p:nvPr/>
          </p:nvSpPr>
          <p:spPr>
            <a:xfrm>
              <a:off x="6693408" y="2754884"/>
              <a:ext cx="63500" cy="676656"/>
            </a:xfrm>
            <a:prstGeom prst="rect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Oval 8">
              <a:extLst>
                <a:ext uri="{FF2B5EF4-FFF2-40B4-BE49-F238E27FC236}">
                  <a16:creationId xmlns:a16="http://schemas.microsoft.com/office/drawing/2014/main" id="{57D826C3-33C1-9B9D-CA8D-6B80ACE9603F}"/>
                </a:ext>
              </a:extLst>
            </p:cNvPr>
            <p:cNvSpPr/>
            <p:nvPr/>
          </p:nvSpPr>
          <p:spPr>
            <a:xfrm>
              <a:off x="6839712" y="2919476"/>
              <a:ext cx="347472" cy="347472"/>
            </a:xfrm>
            <a:prstGeom prst="ellipse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E864C7D-5710-62D2-FD2B-D8B09411380A}"/>
                </a:ext>
              </a:extLst>
            </p:cNvPr>
            <p:cNvSpPr txBox="1"/>
            <p:nvPr/>
          </p:nvSpPr>
          <p:spPr>
            <a:xfrm>
              <a:off x="7296912" y="2828036"/>
              <a:ext cx="4279392" cy="27432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3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자동</a:t>
              </a:r>
              <a:r>
                <a:rPr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3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검사</a:t>
              </a:r>
              <a:r>
                <a:rPr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(</a:t>
              </a:r>
              <a:r>
                <a:rPr sz="13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스크립트</a:t>
              </a:r>
              <a:r>
                <a:rPr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)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F90EAA9-7A9B-FB40-FACF-31AFCAF858BB}"/>
                </a:ext>
              </a:extLst>
            </p:cNvPr>
            <p:cNvSpPr txBox="1"/>
            <p:nvPr/>
          </p:nvSpPr>
          <p:spPr>
            <a:xfrm>
              <a:off x="7296912" y="3084068"/>
              <a:ext cx="4279392" cy="31089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필수·금지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문구를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먼저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정하고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답변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로그에서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위험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플래그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추출</a:t>
              </a:r>
              <a:endParaRPr sz="108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43" name="Down Arrow 11">
              <a:extLst>
                <a:ext uri="{FF2B5EF4-FFF2-40B4-BE49-F238E27FC236}">
                  <a16:creationId xmlns:a16="http://schemas.microsoft.com/office/drawing/2014/main" id="{CF106AD8-8CAB-4653-4FC1-7358C2B97C07}"/>
                </a:ext>
              </a:extLst>
            </p:cNvPr>
            <p:cNvSpPr/>
            <p:nvPr/>
          </p:nvSpPr>
          <p:spPr>
            <a:xfrm>
              <a:off x="9098280" y="3458972"/>
              <a:ext cx="182880" cy="146304"/>
            </a:xfrm>
            <a:prstGeom prst="downArrow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ounded Rectangle 12">
              <a:extLst>
                <a:ext uri="{FF2B5EF4-FFF2-40B4-BE49-F238E27FC236}">
                  <a16:creationId xmlns:a16="http://schemas.microsoft.com/office/drawing/2014/main" id="{553A07E1-A576-56AF-DEC2-E3CA5B84D435}"/>
                </a:ext>
              </a:extLst>
            </p:cNvPr>
            <p:cNvSpPr/>
            <p:nvPr/>
          </p:nvSpPr>
          <p:spPr>
            <a:xfrm>
              <a:off x="6693408" y="3632708"/>
              <a:ext cx="4992624" cy="676656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3">
              <a:extLst>
                <a:ext uri="{FF2B5EF4-FFF2-40B4-BE49-F238E27FC236}">
                  <a16:creationId xmlns:a16="http://schemas.microsoft.com/office/drawing/2014/main" id="{D18EF2BC-157E-B7E6-1F69-0617E135973C}"/>
                </a:ext>
              </a:extLst>
            </p:cNvPr>
            <p:cNvSpPr/>
            <p:nvPr/>
          </p:nvSpPr>
          <p:spPr>
            <a:xfrm>
              <a:off x="6693408" y="3632708"/>
              <a:ext cx="63500" cy="676656"/>
            </a:xfrm>
            <a:prstGeom prst="rect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Oval 14">
              <a:extLst>
                <a:ext uri="{FF2B5EF4-FFF2-40B4-BE49-F238E27FC236}">
                  <a16:creationId xmlns:a16="http://schemas.microsoft.com/office/drawing/2014/main" id="{EA0A94D1-C0C0-06D9-944B-58C461CE71FF}"/>
                </a:ext>
              </a:extLst>
            </p:cNvPr>
            <p:cNvSpPr/>
            <p:nvPr/>
          </p:nvSpPr>
          <p:spPr>
            <a:xfrm>
              <a:off x="6839712" y="3797300"/>
              <a:ext cx="347472" cy="347472"/>
            </a:xfrm>
            <a:prstGeom prst="ellipse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B2E9F6C-3E75-C420-423E-6EB982796809}"/>
                </a:ext>
              </a:extLst>
            </p:cNvPr>
            <p:cNvSpPr txBox="1"/>
            <p:nvPr/>
          </p:nvSpPr>
          <p:spPr>
            <a:xfrm>
              <a:off x="7296912" y="3705860"/>
              <a:ext cx="4279392" cy="27432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LLM Judge (A/B </a:t>
              </a:r>
              <a:r>
                <a:rPr sz="13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블라인드</a:t>
              </a:r>
              <a:r>
                <a:rPr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)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24FFE45-B52D-0445-6B5F-BABA061926ED}"/>
                </a:ext>
              </a:extLst>
            </p:cNvPr>
            <p:cNvSpPr txBox="1"/>
            <p:nvPr/>
          </p:nvSpPr>
          <p:spPr>
            <a:xfrm>
              <a:off x="7296912" y="3961891"/>
              <a:ext cx="4279392" cy="31089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Teacher/Student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답변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이름을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숨겨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결론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일치·핵심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정보·위험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표현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채점</a:t>
              </a:r>
              <a:endParaRPr sz="108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49" name="Down Arrow 17">
              <a:extLst>
                <a:ext uri="{FF2B5EF4-FFF2-40B4-BE49-F238E27FC236}">
                  <a16:creationId xmlns:a16="http://schemas.microsoft.com/office/drawing/2014/main" id="{DA1A89BD-8897-E3D8-AF95-418A0C21F93A}"/>
                </a:ext>
              </a:extLst>
            </p:cNvPr>
            <p:cNvSpPr/>
            <p:nvPr/>
          </p:nvSpPr>
          <p:spPr>
            <a:xfrm>
              <a:off x="9098280" y="4336796"/>
              <a:ext cx="182880" cy="146304"/>
            </a:xfrm>
            <a:prstGeom prst="downArrow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ounded Rectangle 18">
              <a:extLst>
                <a:ext uri="{FF2B5EF4-FFF2-40B4-BE49-F238E27FC236}">
                  <a16:creationId xmlns:a16="http://schemas.microsoft.com/office/drawing/2014/main" id="{682E78E0-35A0-6271-92BE-65831DDCCB58}"/>
                </a:ext>
              </a:extLst>
            </p:cNvPr>
            <p:cNvSpPr/>
            <p:nvPr/>
          </p:nvSpPr>
          <p:spPr>
            <a:xfrm>
              <a:off x="6693408" y="4510532"/>
              <a:ext cx="4992624" cy="676656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9">
              <a:extLst>
                <a:ext uri="{FF2B5EF4-FFF2-40B4-BE49-F238E27FC236}">
                  <a16:creationId xmlns:a16="http://schemas.microsoft.com/office/drawing/2014/main" id="{B65ADA4E-D62E-353C-8DC2-0774E7A6CDE3}"/>
                </a:ext>
              </a:extLst>
            </p:cNvPr>
            <p:cNvSpPr/>
            <p:nvPr/>
          </p:nvSpPr>
          <p:spPr>
            <a:xfrm>
              <a:off x="6693408" y="4510532"/>
              <a:ext cx="63500" cy="676656"/>
            </a:xfrm>
            <a:prstGeom prst="rect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Oval 20">
              <a:extLst>
                <a:ext uri="{FF2B5EF4-FFF2-40B4-BE49-F238E27FC236}">
                  <a16:creationId xmlns:a16="http://schemas.microsoft.com/office/drawing/2014/main" id="{783386F6-8D7A-5CC8-B79A-15AC68BC151D}"/>
                </a:ext>
              </a:extLst>
            </p:cNvPr>
            <p:cNvSpPr/>
            <p:nvPr/>
          </p:nvSpPr>
          <p:spPr>
            <a:xfrm>
              <a:off x="6839712" y="4675124"/>
              <a:ext cx="347472" cy="347472"/>
            </a:xfrm>
            <a:prstGeom prst="ellipse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3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FA08F0-0326-30F9-97F2-B16A98E9CA42}"/>
                </a:ext>
              </a:extLst>
            </p:cNvPr>
            <p:cNvSpPr txBox="1"/>
            <p:nvPr/>
          </p:nvSpPr>
          <p:spPr>
            <a:xfrm>
              <a:off x="7296912" y="4583684"/>
              <a:ext cx="4279392" cy="274320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3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사람</a:t>
              </a:r>
              <a:r>
                <a:rPr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3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검수</a:t>
              </a:r>
              <a:r>
                <a:rPr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(팀 · </a:t>
              </a:r>
              <a:r>
                <a:rPr sz="13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전문가</a:t>
              </a:r>
              <a:r>
                <a:rPr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)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AE39925-2728-D6E9-3E3E-AC157EA1DA72}"/>
                </a:ext>
              </a:extLst>
            </p:cNvPr>
            <p:cNvSpPr txBox="1"/>
            <p:nvPr/>
          </p:nvSpPr>
          <p:spPr>
            <a:xfrm>
              <a:off x="7296912" y="4839716"/>
              <a:ext cx="4279392" cy="31089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자동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플래그·위험·저점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문항을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팀이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검토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,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필요시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의사·약사</a:t>
              </a:r>
              <a:r>
                <a:rPr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8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자문</a:t>
              </a:r>
              <a:endParaRPr sz="108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9517BEC5-0B7E-8097-9AB0-0387B6235528}"/>
              </a:ext>
            </a:extLst>
          </p:cNvPr>
          <p:cNvSpPr txBox="1"/>
          <p:nvPr/>
        </p:nvSpPr>
        <p:spPr>
          <a:xfrm>
            <a:off x="6579108" y="5100828"/>
            <a:ext cx="4908042" cy="21794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err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최종</a:t>
            </a:r>
            <a:r>
              <a:rPr sz="125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 판정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6D33FE83-2A8F-B1AB-4749-324ADED675E6}"/>
              </a:ext>
            </a:extLst>
          </p:cNvPr>
          <p:cNvGrpSpPr/>
          <p:nvPr/>
        </p:nvGrpSpPr>
        <p:grpSpPr>
          <a:xfrm>
            <a:off x="6579108" y="5375148"/>
            <a:ext cx="4908042" cy="828802"/>
            <a:chOff x="6693408" y="5552948"/>
            <a:chExt cx="4992624" cy="1060704"/>
          </a:xfrm>
        </p:grpSpPr>
        <p:sp>
          <p:nvSpPr>
            <p:cNvPr id="56" name="Rounded Rectangle 24">
              <a:extLst>
                <a:ext uri="{FF2B5EF4-FFF2-40B4-BE49-F238E27FC236}">
                  <a16:creationId xmlns:a16="http://schemas.microsoft.com/office/drawing/2014/main" id="{DC7750F3-899D-AE1C-CBA0-55D89FE4580B}"/>
                </a:ext>
              </a:extLst>
            </p:cNvPr>
            <p:cNvSpPr/>
            <p:nvPr/>
          </p:nvSpPr>
          <p:spPr>
            <a:xfrm>
              <a:off x="6693408" y="5552948"/>
              <a:ext cx="1591056" cy="1060704"/>
            </a:xfrm>
            <a:prstGeom prst="roundRect">
              <a:avLst>
                <a:gd name="adj" fmla="val 6000"/>
              </a:avLst>
            </a:prstGeom>
            <a:solidFill>
              <a:srgbClr val="E9F6EF"/>
            </a:solidFill>
            <a:ln w="17780">
              <a:solidFill>
                <a:srgbClr val="1E8E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25">
              <a:extLst>
                <a:ext uri="{FF2B5EF4-FFF2-40B4-BE49-F238E27FC236}">
                  <a16:creationId xmlns:a16="http://schemas.microsoft.com/office/drawing/2014/main" id="{B1BE9AA4-890D-9EF7-6469-85FE0B46D085}"/>
                </a:ext>
              </a:extLst>
            </p:cNvPr>
            <p:cNvSpPr/>
            <p:nvPr/>
          </p:nvSpPr>
          <p:spPr>
            <a:xfrm>
              <a:off x="6693408" y="5552948"/>
              <a:ext cx="63500" cy="1060704"/>
            </a:xfrm>
            <a:prstGeom prst="rect">
              <a:avLst/>
            </a:prstGeom>
            <a:solidFill>
              <a:srgbClr val="1E8E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59B1C82-7BC2-82C5-F8A4-CDDDB409D5B0}"/>
                </a:ext>
              </a:extLst>
            </p:cNvPr>
            <p:cNvSpPr txBox="1"/>
            <p:nvPr/>
          </p:nvSpPr>
          <p:spPr>
            <a:xfrm>
              <a:off x="6839712" y="5626100"/>
              <a:ext cx="1335024" cy="242695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400" b="1">
                  <a:solidFill>
                    <a:srgbClr val="1E8E5A"/>
                  </a:solidFill>
                  <a:latin typeface="Pretendard SemiBold"/>
                  <a:ea typeface="Pretendard SemiBold"/>
                  <a:cs typeface="Pretendard SemiBold"/>
                </a:rPr>
                <a:t>High</a:t>
              </a:r>
              <a:endParaRPr sz="1400" b="1">
                <a:solidFill>
                  <a:srgbClr val="1E8E5A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B9BBA05-FB69-F193-4B64-6961936F658D}"/>
                </a:ext>
              </a:extLst>
            </p:cNvPr>
            <p:cNvSpPr txBox="1"/>
            <p:nvPr/>
          </p:nvSpPr>
          <p:spPr>
            <a:xfrm>
              <a:off x="6839712" y="5936996"/>
              <a:ext cx="1353312" cy="344325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019" b="0" err="1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위험</a:t>
              </a:r>
              <a:r>
                <a:rPr sz="1019" b="0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 0건 + </a:t>
              </a:r>
              <a:r>
                <a:rPr sz="1019" b="0" err="1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핵심·행동</a:t>
              </a:r>
              <a:r>
                <a:rPr sz="1019" b="0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19" b="0" err="1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목표</a:t>
              </a:r>
              <a:r>
                <a:rPr sz="1019" b="0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19" b="0" err="1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충족</a:t>
              </a:r>
              <a:endParaRPr sz="1019" b="0">
                <a:solidFill>
                  <a:srgbClr val="1F2A44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60" name="Rounded Rectangle 28">
              <a:extLst>
                <a:ext uri="{FF2B5EF4-FFF2-40B4-BE49-F238E27FC236}">
                  <a16:creationId xmlns:a16="http://schemas.microsoft.com/office/drawing/2014/main" id="{4BA0E971-46BB-CE48-D193-CC6A18BD8F6D}"/>
                </a:ext>
              </a:extLst>
            </p:cNvPr>
            <p:cNvSpPr/>
            <p:nvPr/>
          </p:nvSpPr>
          <p:spPr>
            <a:xfrm>
              <a:off x="8394192" y="5552948"/>
              <a:ext cx="1591056" cy="1060704"/>
            </a:xfrm>
            <a:prstGeom prst="roundRect">
              <a:avLst>
                <a:gd name="adj" fmla="val 6000"/>
              </a:avLst>
            </a:prstGeom>
            <a:solidFill>
              <a:srgbClr val="FDF4E6"/>
            </a:solidFill>
            <a:ln w="17780">
              <a:solidFill>
                <a:srgbClr val="C87A1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29">
              <a:extLst>
                <a:ext uri="{FF2B5EF4-FFF2-40B4-BE49-F238E27FC236}">
                  <a16:creationId xmlns:a16="http://schemas.microsoft.com/office/drawing/2014/main" id="{674410A1-98B0-C80B-81F9-7122D31B115A}"/>
                </a:ext>
              </a:extLst>
            </p:cNvPr>
            <p:cNvSpPr/>
            <p:nvPr/>
          </p:nvSpPr>
          <p:spPr>
            <a:xfrm>
              <a:off x="8394192" y="5552948"/>
              <a:ext cx="63500" cy="1060704"/>
            </a:xfrm>
            <a:prstGeom prst="rect">
              <a:avLst/>
            </a:prstGeom>
            <a:solidFill>
              <a:srgbClr val="C87A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593385F-A2FF-3E40-9E42-0F7DDFF9DF99}"/>
                </a:ext>
              </a:extLst>
            </p:cNvPr>
            <p:cNvSpPr txBox="1"/>
            <p:nvPr/>
          </p:nvSpPr>
          <p:spPr>
            <a:xfrm>
              <a:off x="8540496" y="5626100"/>
              <a:ext cx="1335024" cy="242695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400" b="1">
                  <a:solidFill>
                    <a:srgbClr val="C87A12"/>
                  </a:solidFill>
                  <a:latin typeface="Pretendard SemiBold"/>
                  <a:ea typeface="Pretendard SemiBold"/>
                  <a:cs typeface="Pretendard SemiBold"/>
                </a:rPr>
                <a:t>Medium</a:t>
              </a:r>
              <a:endParaRPr sz="1400" b="1">
                <a:solidFill>
                  <a:srgbClr val="C87A1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BD590C7-E02C-30F6-888F-04F9BABFC56A}"/>
                </a:ext>
              </a:extLst>
            </p:cNvPr>
            <p:cNvSpPr txBox="1"/>
            <p:nvPr/>
          </p:nvSpPr>
          <p:spPr>
            <a:xfrm>
              <a:off x="8540496" y="5936995"/>
              <a:ext cx="1335024" cy="44066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019" b="0" err="1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치명</a:t>
              </a:r>
              <a:r>
                <a:rPr sz="1019" b="0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19" b="0" err="1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위험</a:t>
              </a:r>
              <a:r>
                <a:rPr sz="1019" b="0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19" b="0" err="1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없으나</a:t>
              </a:r>
              <a:r>
                <a:rPr sz="1019" b="0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19" b="0" err="1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정확성·이해율</a:t>
              </a:r>
              <a:r>
                <a:rPr sz="1019" b="0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19" b="0" err="1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일부</a:t>
              </a:r>
              <a:r>
                <a:rPr sz="1019" b="0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19" b="0" err="1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미달</a:t>
              </a:r>
              <a:endParaRPr sz="1019" b="0">
                <a:solidFill>
                  <a:srgbClr val="1F2A44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64" name="Rounded Rectangle 32">
              <a:extLst>
                <a:ext uri="{FF2B5EF4-FFF2-40B4-BE49-F238E27FC236}">
                  <a16:creationId xmlns:a16="http://schemas.microsoft.com/office/drawing/2014/main" id="{B175049D-0805-6665-2471-728703A8F197}"/>
                </a:ext>
              </a:extLst>
            </p:cNvPr>
            <p:cNvSpPr/>
            <p:nvPr/>
          </p:nvSpPr>
          <p:spPr>
            <a:xfrm>
              <a:off x="10094976" y="5552948"/>
              <a:ext cx="1591056" cy="1060704"/>
            </a:xfrm>
            <a:prstGeom prst="roundRect">
              <a:avLst>
                <a:gd name="adj" fmla="val 6000"/>
              </a:avLst>
            </a:prstGeom>
            <a:solidFill>
              <a:srgbClr val="FCECEA"/>
            </a:solidFill>
            <a:ln w="1778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33">
              <a:extLst>
                <a:ext uri="{FF2B5EF4-FFF2-40B4-BE49-F238E27FC236}">
                  <a16:creationId xmlns:a16="http://schemas.microsoft.com/office/drawing/2014/main" id="{BB85ABB3-D360-054C-79BF-134017EEC40A}"/>
                </a:ext>
              </a:extLst>
            </p:cNvPr>
            <p:cNvSpPr/>
            <p:nvPr/>
          </p:nvSpPr>
          <p:spPr>
            <a:xfrm>
              <a:off x="10094976" y="5552948"/>
              <a:ext cx="63500" cy="1060704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642558E-C177-DE4F-1582-ED790CFF1106}"/>
                </a:ext>
              </a:extLst>
            </p:cNvPr>
            <p:cNvSpPr txBox="1"/>
            <p:nvPr/>
          </p:nvSpPr>
          <p:spPr>
            <a:xfrm>
              <a:off x="10241280" y="5626100"/>
              <a:ext cx="1335024" cy="308385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Fail</a:t>
              </a:r>
              <a:endParaRPr sz="1400" b="1">
                <a:solidFill>
                  <a:srgbClr val="C0392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8DE729D-9C45-4042-9014-BFC64F540D24}"/>
                </a:ext>
              </a:extLst>
            </p:cNvPr>
            <p:cNvSpPr txBox="1"/>
            <p:nvPr/>
          </p:nvSpPr>
          <p:spPr>
            <a:xfrm>
              <a:off x="10241280" y="5936995"/>
              <a:ext cx="1380498" cy="44066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019" b="0" err="1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응급</a:t>
              </a:r>
              <a:r>
                <a:rPr sz="1019" b="0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19" b="0" err="1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놓침·약</a:t>
              </a:r>
              <a:r>
                <a:rPr sz="1019" b="0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19" b="0" err="1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변경·진단</a:t>
              </a:r>
              <a:r>
                <a:rPr sz="1019" b="0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019" b="0" err="1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단정</a:t>
              </a:r>
              <a:r>
                <a:rPr sz="1019" b="0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 중 </a:t>
              </a:r>
              <a:r>
                <a:rPr sz="1019" b="0" err="1">
                  <a:solidFill>
                    <a:srgbClr val="1F2A44"/>
                  </a:solidFill>
                  <a:latin typeface="Pretendard"/>
                  <a:ea typeface="Pretendard"/>
                  <a:cs typeface="Pretendard"/>
                </a:rPr>
                <a:t>하나라도</a:t>
              </a:r>
              <a:endParaRPr sz="1019" b="0">
                <a:solidFill>
                  <a:srgbClr val="1F2A44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D5110E0-ACE3-CC99-EDFD-A58FC3E0E0C3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평가 프레임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9923FE-8DBC-F9DC-78E7-1E1ACCE94E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3709095"/>
              </p:ext>
            </p:extLst>
          </p:nvPr>
        </p:nvGraphicFramePr>
        <p:xfrm>
          <a:off x="694972" y="2669392"/>
          <a:ext cx="4854512" cy="3299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5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9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335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buNone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구분</a:t>
                      </a:r>
                      <a:endParaRPr sz="1200" b="1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5793" marR="92569" marT="52896" marB="52896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buNone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내용</a:t>
                      </a:r>
                      <a:endParaRPr sz="1200" b="1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5793" marR="92569" marT="52896" marB="52896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19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골든셋 범위</a:t>
                      </a:r>
                    </a:p>
                  </a:txBody>
                  <a:tcPr marL="105793" marR="92569" marT="52896" marB="528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lang="ko-KR" altLang="en-US" sz="1050" b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보존</a:t>
                      </a:r>
                      <a:r>
                        <a:rPr lang="en-US" altLang="ko-KR" sz="1050" b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</a:t>
                      </a:r>
                      <a:r>
                        <a:rPr lang="ko-KR" altLang="en-US" sz="1050" b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의료 안전</a:t>
                      </a:r>
                      <a:r>
                        <a:rPr lang="en-US" altLang="ko-KR" sz="1050" b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</a:t>
                      </a:r>
                      <a:r>
                        <a:rPr lang="ko-KR" altLang="en-US" sz="1050" b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시니어 실효성 문항 동시 포함</a:t>
                      </a:r>
                      <a:endParaRPr lang="ko-KR" altLang="en-US" sz="105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5793" marR="92569" marT="52896" marB="528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397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lang="ko-KR" altLang="en-US"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케이스</a:t>
                      </a: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구성</a:t>
                      </a:r>
                    </a:p>
                  </a:txBody>
                  <a:tcPr marL="105793" marR="92569" marT="52896" marB="52896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ko-KR" altLang="en-US" sz="1050" b="1">
                          <a:solidFill>
                            <a:srgbClr val="17213B"/>
                          </a:solidFill>
                          <a:latin typeface="Pretendard"/>
                          <a:ea typeface="Pretendard SemiBold"/>
                          <a:cs typeface="Pretendard SemiBold"/>
                        </a:rPr>
                        <a:t>질문셋 · 위험도별 100~150문항</a:t>
                      </a:r>
                    </a:p>
                    <a:p>
                      <a:pPr algn="l">
                        <a:lnSpc>
                          <a:spcPct val="110000"/>
                        </a:lnSpc>
                        <a:spcBef>
                          <a:spcPts val="200"/>
                        </a:spcBef>
                      </a:pPr>
                      <a:r>
                        <a:rPr lang="en-US" altLang="ko-KR" sz="105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 </a:t>
                      </a:r>
                      <a:r>
                        <a:rPr lang="ko-KR" altLang="en-US" sz="105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응급 · 복약 · 만성질환 · 증상 · 생활 · 진단 </a:t>
                      </a:r>
                      <a:endParaRPr lang="en-US" altLang="ko-KR" sz="1050">
                        <a:solidFill>
                          <a:srgbClr val="4B5563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spcBef>
                          <a:spcPts val="200"/>
                        </a:spcBef>
                      </a:pPr>
                      <a:r>
                        <a:rPr lang="en-US" altLang="ko-KR" sz="105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 </a:t>
                      </a:r>
                      <a:r>
                        <a:rPr lang="ko-KR" altLang="en-US" sz="105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정상</a:t>
                      </a:r>
                      <a:r>
                        <a:rPr lang="en-US" altLang="ko-KR" sz="105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</a:t>
                      </a:r>
                      <a:r>
                        <a:rPr lang="ko-KR" altLang="en-US" sz="105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경계</a:t>
                      </a:r>
                      <a:r>
                        <a:rPr lang="en-US" altLang="ko-KR" sz="105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</a:t>
                      </a:r>
                      <a:r>
                        <a:rPr lang="ko-KR" altLang="en-US" sz="105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</a:t>
                      </a:r>
                      <a:r>
                        <a:rPr lang="en-US" altLang="ko-KR" sz="105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</a:t>
                      </a:r>
                      <a:r>
                        <a:rPr lang="ko-KR" altLang="en-US" sz="105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 부족</a:t>
                      </a:r>
                      <a:r>
                        <a:rPr lang="en-US" altLang="ko-KR" sz="105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</a:t>
                      </a:r>
                      <a:r>
                        <a:rPr lang="ko-KR" altLang="en-US" sz="105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모호한 질문을 층화 구성</a:t>
                      </a:r>
                    </a:p>
                  </a:txBody>
                  <a:tcPr marL="105793" marR="92569" marT="52896" marB="52896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19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기준</a:t>
                      </a:r>
                      <a:r>
                        <a:rPr lang="en-US"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ko-KR" altLang="en-US"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답안</a:t>
                      </a:r>
                      <a:r>
                        <a:rPr lang="en-US" altLang="ko-KR"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(Include)</a:t>
                      </a:r>
                      <a:endParaRPr sz="1100" b="1">
                        <a:solidFill>
                          <a:srgbClr val="1F2A44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5793" marR="92569" marT="52896" marB="528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필수 포함 정보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권장 행동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병원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/119 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안내 조건 정의</a:t>
                      </a:r>
                      <a:endParaRPr lang="en-US" altLang="ko-KR" sz="105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5793" marR="92569" marT="52896" marB="528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19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lang="ko-KR" altLang="en-US"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가드레일</a:t>
                      </a:r>
                      <a:r>
                        <a:rPr lang="en-US" altLang="ko-KR"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(Exclude)</a:t>
                      </a:r>
                      <a:endParaRPr sz="1100" b="1">
                        <a:solidFill>
                          <a:srgbClr val="1F2A44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5793" marR="92569" marT="52896" marB="52896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진단 단정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약 임의 변경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응급 지연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/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누락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과도한 안심 표현</a:t>
                      </a:r>
                      <a:endParaRPr sz="105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5793" marR="92569" marT="52896" marB="52896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19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톤앤매너</a:t>
                      </a:r>
                    </a:p>
                  </a:txBody>
                  <a:tcPr marL="105793" marR="92569" marT="52896" marB="528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lang="ko-KR" altLang="en-US" sz="1050" b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쉬운 말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의학용어 풀이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) </a:t>
                      </a:r>
                      <a:r>
                        <a:rPr lang="en-US" altLang="ko-KR" sz="1050" b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3</a:t>
                      </a:r>
                      <a:r>
                        <a:rPr lang="ko-KR" altLang="en-US" sz="1050" b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줄 핵심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결론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할 일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병원 조건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)</a:t>
                      </a:r>
                      <a:endParaRPr sz="105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5793" marR="92569" marT="52896" marB="528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8187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645c25c-9775-4d77-a736-700fab766116}" enabled="0" method="" siteId="{4645c25c-9775-4d77-a736-700fab7661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531</Words>
  <Application>Microsoft Office PowerPoint</Application>
  <DocSecurity>0</DocSecurity>
  <PresentationFormat>와이드스크린</PresentationFormat>
  <Paragraphs>99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Pretendard</vt:lpstr>
      <vt:lpstr>Pretendard SemiBold</vt:lpstr>
      <vt:lpstr>Calibri</vt:lpstr>
      <vt:lpstr>ChatGPT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지혜 윤</cp:lastModifiedBy>
  <cp:revision>32</cp:revision>
  <dcterms:created xsi:type="dcterms:W3CDTF">2026-06-04T12:34:11Z</dcterms:created>
  <dcterms:modified xsi:type="dcterms:W3CDTF">2026-06-05T15:00:10Z</dcterms:modified>
</cp:coreProperties>
</file>