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9"/>
    <p:restoredTop sz="94645"/>
  </p:normalViewPr>
  <p:slideViewPr>
    <p:cSldViewPr snapToGrid="0" snapToObjects="1">
      <p:cViewPr varScale="1">
        <p:scale>
          <a:sx n="147" d="100"/>
          <a:sy n="147" d="100"/>
        </p:scale>
        <p:origin x="10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24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발표노트: 5장 홍윤표가 KD로 PPL을 낮추고 추론 속도를 올린 결과를 제시했다. 6장은 그 결과가 '그래서 어디에 쓰이냐'를 청중이 체감하도록 하는 구간이다. 실버케어는 프로젝트의 출발이 아니고, 2장에서 도출된 선정 논리(두 제약이 동시에 강하게 작동하는 환경)의 결론이다. 발표 흐름: 5장 결과 수령 → 6장 장면 형상화 → 7장 평가 기준으로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발표노트: 2장 남궁철이 '경량화가 선택이 아니라 요건인 환경'을 기준으로 실버케어를 선정했다. 6장은 그 선정 논리를 다시 주장하지 않고, 김말순이라는 구체적 인물로 형상화한다.</a:t>
            </a:r>
          </a:p>
          <a:p>
            <a:r>
              <a:t>출처: 통계청 「2024 고령자통계」(2023 기준) / 과기정통부 「2024 통신서비스 품질평가」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발표노트: S1의 핵심은 응급이 아니라 일상적 의약 정보 접근이다. 시스템이 응급 여부를 판단하지 않는다는 점을 '모델 경계' 행에서 명시했다. '탑재 가능성 검증'이라는 표현은 서현범 평가 섹션(7장)의 범위 표현을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발표노트: S2의 라이프 로그 기능은 5장(홍윤표) 구현 범위 확인 전까지 '기기 내 대화 이력 활용'이라는 컨셉 수준으로 설명한다. S3의 이건호는 '기억이 조금 희미한 어르신' 수준으로 표현하고, 의료 진단 용어는 발표에서 직접 언급하지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발표노트: S4는 클라우드 AI와 우리 시스템을 비교 검토하는 장면. Gemini Nano는 온디바이스 정보 제공이 이미 산업 방향임을 보여주는 레퍼런스다.</a:t>
            </a:r>
          </a:p>
          <a:p>
            <a:r>
              <a:t>출처: Google Gemini Nano 온디바이스 AI (developer.android.com/ai/gemini-nano)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발표노트: S2·S3의 라이프 로그 관련 목표치 N값은 박형욱(8장)과 조율 후 채워 넣는다. 7장 질문셋 6유형은 서현범 eval_section_sample slide:4를 기준으로 매핑했다.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발표노트: 마지막 슬라이드에서 '실버케어 = KD 연구 결과의 적용 예시'라는 위치를 다시 확인한다. 7장(서현범)으로 자연스럽게 넘기기: "이 4개의 장면이 실제로 가능한지를 검증하는 기준이 다음 7장의 평가 지표입니다."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54864" cy="685800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384048"/>
            <a:ext cx="1828800" cy="34747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7190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100" b="1" i="0">
                <a:solidFill>
                  <a:srgbClr val="2E6FD4"/>
                </a:solidFill>
                <a:latin typeface="Pretendard"/>
              </a:rPr>
              <a:t>섹션 6  |  실버케어 적용 예시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1552" y="493776"/>
            <a:ext cx="1527048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r"/>
            <a:r>
              <a:rPr sz="900" b="0" i="0">
                <a:solidFill>
                  <a:srgbClr val="8A9BB8"/>
                </a:solidFill>
                <a:latin typeface="Pretendard"/>
              </a:rPr>
              <a:t>Exhibit 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950976"/>
            <a:ext cx="10671048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2800" b="1" i="0">
                <a:solidFill>
                  <a:srgbClr val="18233F"/>
                </a:solidFill>
                <a:latin typeface="Pretendard"/>
              </a:rPr>
              <a:t>실버케어 적용 예시 시나리오 —</a:t>
            </a:r>
          </a:p>
          <a:p>
            <a:pPr algn="l"/>
            <a:r>
              <a:rPr sz="2800" b="1" i="0">
                <a:solidFill>
                  <a:srgbClr val="18233F"/>
                </a:solidFill>
                <a:latin typeface="Pretendard"/>
              </a:rPr>
              <a:t>경량화된 모델이 있어야 가능한 4가지 장면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103120"/>
            <a:ext cx="11128248" cy="36576"/>
          </a:xfrm>
          <a:prstGeom prst="rect">
            <a:avLst/>
          </a:prstGeom>
          <a:solidFill>
            <a:srgbClr val="17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2212848"/>
            <a:ext cx="1067104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400" b="0" i="0" dirty="0">
                <a:solidFill>
                  <a:srgbClr val="5A6A85"/>
                </a:solidFill>
                <a:latin typeface="Pretendard"/>
              </a:rPr>
              <a:t>5장(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구현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현황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)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에서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검증한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지식증류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결과가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실제로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가치를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갖는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환경을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4개의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일상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시나리오로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형상화하는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구간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.</a:t>
            </a:r>
          </a:p>
          <a:p>
            <a:pPr algn="l"/>
            <a:r>
              <a:rPr sz="1400" b="0" i="0" dirty="0" err="1">
                <a:solidFill>
                  <a:srgbClr val="5A6A85"/>
                </a:solidFill>
                <a:latin typeface="Pretendard"/>
              </a:rPr>
              <a:t>실버케어는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이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연구의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출발점이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아니라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,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경량화가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선택이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아닌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요건이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되는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두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제약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환경의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대표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적용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 </a:t>
            </a:r>
            <a:r>
              <a:rPr sz="1400" b="0" i="0" dirty="0" err="1">
                <a:solidFill>
                  <a:srgbClr val="5A6A85"/>
                </a:solidFill>
                <a:latin typeface="Pretendard"/>
              </a:rPr>
              <a:t>예시임</a:t>
            </a:r>
            <a:r>
              <a:rPr sz="1400" b="0" i="0" dirty="0">
                <a:solidFill>
                  <a:srgbClr val="5A6A85"/>
                </a:solidFill>
                <a:latin typeface="Pretendard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3072384"/>
            <a:ext cx="3624072" cy="694944"/>
          </a:xfrm>
          <a:prstGeom prst="rect">
            <a:avLst/>
          </a:prstGeom>
          <a:solidFill>
            <a:srgbClr val="F2F4F8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3072384"/>
            <a:ext cx="54864" cy="694944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1272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 dirty="0">
                <a:solidFill>
                  <a:srgbClr val="18233F"/>
                </a:solidFill>
                <a:latin typeface="Pretendard"/>
              </a:rPr>
              <a:t>2장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01568"/>
            <a:ext cx="3422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두 제약 도출 → 실버케어 선정 논리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1000" y="3072384"/>
            <a:ext cx="3624072" cy="694944"/>
          </a:xfrm>
          <a:prstGeom prst="rect">
            <a:avLst/>
          </a:prstGeom>
          <a:solidFill>
            <a:srgbClr val="D0E5F7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91000" y="3072384"/>
            <a:ext cx="54864" cy="694944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19016" y="31272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2E6FD4"/>
                </a:solidFill>
                <a:latin typeface="Pretendard"/>
              </a:rPr>
              <a:t>6장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9016" y="3401568"/>
            <a:ext cx="3422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경량화 결과 → 4가지 시나리오 형상화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3088" y="3072384"/>
            <a:ext cx="3624072" cy="694944"/>
          </a:xfrm>
          <a:prstGeom prst="rect">
            <a:avLst/>
          </a:prstGeom>
          <a:solidFill>
            <a:srgbClr val="F2F4F8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43088" y="3072384"/>
            <a:ext cx="54864" cy="694944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71104" y="31272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7장 / 8장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1104" y="3401568"/>
            <a:ext cx="3422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시나리오 → 평가지표·목표치 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39319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1" i="0">
                <a:solidFill>
                  <a:srgbClr val="18233F"/>
                </a:solidFill>
                <a:latin typeface="Pretendard"/>
              </a:rPr>
              <a:t>4가지 시나리오 — 형상화 대상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4261104"/>
            <a:ext cx="5509260" cy="749808"/>
          </a:xfrm>
          <a:prstGeom prst="rect">
            <a:avLst/>
          </a:prstGeom>
          <a:solidFill>
            <a:srgbClr val="E8F1FB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8912" y="4261104"/>
            <a:ext cx="54864" cy="749808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4315968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2E6FD4"/>
                </a:solidFill>
                <a:latin typeface="Pretendard"/>
              </a:rPr>
              <a:t>S1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48326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일상 오프라인 의료 정보 상담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590288"/>
            <a:ext cx="530809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150" b="0" i="0">
                <a:solidFill>
                  <a:srgbClr val="5A6A85"/>
                </a:solidFill>
                <a:latin typeface="Pretendard"/>
              </a:rPr>
              <a:t>와이파이 없는 농촌 / 복약 후 증상 → 기기 내 즉시 답변 + 전문가 권고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7900" y="4261104"/>
            <a:ext cx="5509260" cy="749808"/>
          </a:xfrm>
          <a:prstGeom prst="rect">
            <a:avLst/>
          </a:prstGeom>
          <a:solidFill>
            <a:srgbClr val="E8F1FB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57900" y="4261104"/>
            <a:ext cx="54864" cy="749808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85916" y="4315968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2E6FD4"/>
                </a:solidFill>
                <a:latin typeface="Pretendard"/>
              </a:rPr>
              <a:t>S2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3116" y="4315968"/>
            <a:ext cx="48326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복약 관리 &amp; 라이프 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5916" y="4590288"/>
            <a:ext cx="530809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150" b="0" i="0">
                <a:solidFill>
                  <a:srgbClr val="5A6A85"/>
                </a:solidFill>
                <a:latin typeface="Pretendard"/>
              </a:rPr>
              <a:t>복약 기억 가물가물 → 기기 내 기록으로 중복 복용 방지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5102352"/>
            <a:ext cx="5509260" cy="749808"/>
          </a:xfrm>
          <a:prstGeom prst="rect">
            <a:avLst/>
          </a:prstGeom>
          <a:solidFill>
            <a:srgbClr val="E2F4EB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8912" y="5102352"/>
            <a:ext cx="54864" cy="74980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5157216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A7A4A"/>
                </a:solidFill>
                <a:latin typeface="Pretendard"/>
              </a:rPr>
              <a:t>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157216"/>
            <a:ext cx="48326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말 동무 &amp; 정서 케어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431536"/>
            <a:ext cx="530809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150" b="0" i="0">
                <a:solidFill>
                  <a:srgbClr val="5A6A85"/>
                </a:solidFill>
                <a:latin typeface="Pretendard"/>
              </a:rPr>
              <a:t>혼자 있는 오후 → 연속 대화 · 라이프 로그 · 기기 내 저장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57900" y="5102352"/>
            <a:ext cx="5509260" cy="749808"/>
          </a:xfrm>
          <a:prstGeom prst="rect">
            <a:avLst/>
          </a:prstGeom>
          <a:solidFill>
            <a:srgbClr val="FFF8E8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57900" y="5102352"/>
            <a:ext cx="54864" cy="749808"/>
          </a:xfrm>
          <a:prstGeom prst="rect">
            <a:avLst/>
          </a:prstGeom>
          <a:solidFill>
            <a:srgbClr val="D47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85916" y="5157216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D47B0A"/>
                </a:solidFill>
                <a:latin typeface="Pretendard"/>
              </a:rPr>
              <a:t>S4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3116" y="5157216"/>
            <a:ext cx="48326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프라이버시 (온디바이스 구조)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5916" y="5431536"/>
            <a:ext cx="530809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150" b="0" i="0">
                <a:solidFill>
                  <a:srgbClr val="5A6A85"/>
                </a:solidFill>
                <a:latin typeface="Pretendard"/>
              </a:rPr>
              <a:t>건강 데이터 기기 밖으로 나가지 않음 → 가족 신뢰 근거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C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" y="6620256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900" b="0" i="0">
                <a:solidFill>
                  <a:srgbClr val="8A9BB8"/>
                </a:solidFill>
                <a:latin typeface="Pretendard"/>
              </a:rPr>
              <a:t>발표자: 박철민   |   섹션 6 — 실버케어 적용 예시 시나리오   |   2026-06-03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6202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r"/>
            <a:r>
              <a:rPr sz="900" b="0" i="0">
                <a:solidFill>
                  <a:srgbClr val="8A9BB8"/>
                </a:solidFill>
                <a:latin typeface="Pretendard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54864" cy="685800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1078992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"/>
            <a:ext cx="1051560" cy="27432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09728"/>
            <a:ext cx="10351007" cy="96926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etendard"/>
              </a:rPr>
              <a:t>[배경] 독거·농어촌·프라이버시 세 제약이 겹치는 환경에서 경량화 모델은 선택이 아닌 요건임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18288"/>
          </a:xfrm>
          <a:prstGeom prst="rect">
            <a:avLst/>
          </a:prstGeom>
          <a:solidFill>
            <a:srgbClr val="C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650138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900" b="0" i="0">
                <a:solidFill>
                  <a:srgbClr val="8A9BB8"/>
                </a:solidFill>
                <a:latin typeface="Pretendard"/>
              </a:rPr>
              <a:t>섹션 6 | 실버케어 적용 예시 시나리오 | 박철민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r"/>
            <a:r>
              <a:rPr sz="900" b="0" i="0">
                <a:solidFill>
                  <a:srgbClr val="8A9BB8"/>
                </a:solidFill>
                <a:latin typeface="Pretendard"/>
              </a:rPr>
              <a:t>2 /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16152"/>
            <a:ext cx="5591555" cy="329184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252728"/>
            <a:ext cx="54635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50" b="1" i="0">
                <a:solidFill>
                  <a:srgbClr val="FFFFFF"/>
                </a:solidFill>
                <a:latin typeface="Pretendard"/>
              </a:rPr>
              <a:t>오늘 시나리오의 주인공 — 김말순 (78세)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45336"/>
            <a:ext cx="5591555" cy="1120139"/>
          </a:xfrm>
          <a:prstGeom prst="rect">
            <a:avLst/>
          </a:prstGeom>
          <a:solidFill>
            <a:srgbClr val="F2F4F8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1581912"/>
            <a:ext cx="822960" cy="1046987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8233F"/>
                </a:solidFill>
                <a:latin typeface="Pretendard"/>
              </a:rPr>
              <a:t>거주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581912"/>
            <a:ext cx="4539996" cy="1046987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0" i="0">
                <a:solidFill>
                  <a:srgbClr val="202635"/>
                </a:solidFill>
                <a:latin typeface="Pretendard"/>
              </a:rPr>
              <a:t>경북 의성군 농촌 (LTE 불안정·Wi-Fi 없음)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65476"/>
            <a:ext cx="5591555" cy="1120139"/>
          </a:xfrm>
          <a:prstGeom prst="rect">
            <a:avLst/>
          </a:prstGeom>
          <a:solidFill>
            <a:srgbClr val="FFFFFF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702052"/>
            <a:ext cx="822960" cy="1046987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8233F"/>
                </a:solidFill>
                <a:latin typeface="Pretendard"/>
              </a:rPr>
              <a:t>가족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702052"/>
            <a:ext cx="4539996" cy="1046987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0" i="0">
                <a:solidFill>
                  <a:srgbClr val="202635"/>
                </a:solidFill>
                <a:latin typeface="Pretendard"/>
              </a:rPr>
              <a:t>독거 (자녀 타지, 주 1회 전화)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85615"/>
            <a:ext cx="5591555" cy="1120139"/>
          </a:xfrm>
          <a:prstGeom prst="rect">
            <a:avLst/>
          </a:prstGeom>
          <a:solidFill>
            <a:srgbClr val="F2F4F8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3822191"/>
            <a:ext cx="822960" cy="1046987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8233F"/>
                </a:solidFill>
                <a:latin typeface="Pretendard"/>
              </a:rPr>
              <a:t>건강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822191"/>
            <a:ext cx="4539996" cy="1046987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0" i="0">
                <a:solidFill>
                  <a:srgbClr val="202635"/>
                </a:solidFill>
                <a:latin typeface="Pretendard"/>
              </a:rPr>
              <a:t>고혈압·당뇨 복합, 매일 4종 복약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05756"/>
            <a:ext cx="5591555" cy="1120139"/>
          </a:xfrm>
          <a:prstGeom prst="rect">
            <a:avLst/>
          </a:prstGeom>
          <a:solidFill>
            <a:srgbClr val="FFFFFF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4942332"/>
            <a:ext cx="822960" cy="1046987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8233F"/>
                </a:solidFill>
                <a:latin typeface="Pretendard"/>
              </a:rPr>
              <a:t>기기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42332"/>
            <a:ext cx="4539996" cy="1046987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0" i="0">
                <a:solidFill>
                  <a:srgbClr val="202635"/>
                </a:solidFill>
                <a:latin typeface="Pretendard"/>
              </a:rPr>
              <a:t>보급형 스마트폰 (약 4GB RAM, Galaxy S7 수준 가정)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3" y="1216152"/>
            <a:ext cx="5591555" cy="329184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3075" y="1252728"/>
            <a:ext cx="54635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50" b="1" i="0">
                <a:solidFill>
                  <a:srgbClr val="FFFFFF"/>
                </a:solidFill>
                <a:latin typeface="Pretendard"/>
              </a:rPr>
              <a:t>남궁철(2장)의 두 제약  →  김말순의 일상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9923" y="1545336"/>
            <a:ext cx="5591555" cy="2203703"/>
          </a:xfrm>
          <a:prstGeom prst="rect">
            <a:avLst/>
          </a:prstGeom>
          <a:solidFill>
            <a:srgbClr val="E8F1FB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49923" y="1545336"/>
            <a:ext cx="54864" cy="2203703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7939" y="1600200"/>
            <a:ext cx="1188720" cy="2093975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① 연결성·</a:t>
            </a:r>
          </a:p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프라이버시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9811" y="1600200"/>
            <a:ext cx="2848355" cy="2093975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독거 고령자 213.8만 가구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= 전체 고령자 가구의 37.8%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농어촌 5G 속도 대도시 대비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절반 수준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79608" y="2395727"/>
            <a:ext cx="1188720" cy="502920"/>
          </a:xfrm>
          <a:prstGeom prst="rect">
            <a:avLst/>
          </a:prstGeom>
          <a:solidFill>
            <a:srgbClr val="D0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/>
            <a:r>
              <a:rPr sz="1250" b="1" i="0">
                <a:solidFill>
                  <a:srgbClr val="2E6FD4"/>
                </a:solidFill>
                <a:latin typeface="Pretendard"/>
              </a:rPr>
              <a:t>오프라인</a:t>
            </a:r>
          </a:p>
          <a:p>
            <a:pPr algn="ctr"/>
            <a:r>
              <a:rPr sz="1250" b="1" i="0">
                <a:solidFill>
                  <a:srgbClr val="2E6FD4"/>
                </a:solidFill>
                <a:latin typeface="Pretendard"/>
              </a:rPr>
              <a:t>동작 요건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9923" y="3822191"/>
            <a:ext cx="5591555" cy="2203703"/>
          </a:xfrm>
          <a:prstGeom prst="rect">
            <a:avLst/>
          </a:prstGeom>
          <a:solidFill>
            <a:srgbClr val="E2F4EB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49923" y="3822191"/>
            <a:ext cx="54864" cy="2203703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77939" y="3877055"/>
            <a:ext cx="1188720" cy="2093975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06038"/>
                </a:solidFill>
                <a:latin typeface="Pretendard"/>
              </a:rPr>
              <a:t>② 연산 자원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9811" y="3877055"/>
            <a:ext cx="2848355" cy="2093975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고성능 서버 의존 불가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보급형 스마트폰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(약 4GB RAM)이 전제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79608" y="4672583"/>
            <a:ext cx="1188720" cy="502920"/>
          </a:xfrm>
          <a:prstGeom prst="rect">
            <a:avLst/>
          </a:prstGeom>
          <a:solidFill>
            <a:srgbClr val="C8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/>
            <a:r>
              <a:rPr sz="1250" b="1" i="0">
                <a:solidFill>
                  <a:srgbClr val="1A7A4A"/>
                </a:solidFill>
                <a:latin typeface="Pretendard"/>
              </a:rPr>
              <a:t>경량 모델</a:t>
            </a:r>
          </a:p>
          <a:p>
            <a:pPr algn="ctr"/>
            <a:r>
              <a:rPr sz="1250" b="1" i="0">
                <a:solidFill>
                  <a:srgbClr val="1A7A4A"/>
                </a:solidFill>
                <a:latin typeface="Pretendard"/>
              </a:rPr>
              <a:t>요건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053328"/>
            <a:ext cx="11384280" cy="40233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6053328"/>
            <a:ext cx="54864" cy="402336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3504" y="6089904"/>
            <a:ext cx="1108252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→ 두 제약이 동시에 강하게 작동하는 환경 = 경량화 연구 결과가 실질 가치를 갖는 지점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54864" cy="685800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1078992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"/>
            <a:ext cx="1051560" cy="27432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UX · 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09728"/>
            <a:ext cx="10351007" cy="96926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etendard"/>
              </a:rPr>
              <a:t>[UX] 와이파이 없는 농촌에서도 복약 후 가벼운 증상을 기기가 즉시 정보로 답하고 전문가 상담을 권고함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18288"/>
          </a:xfrm>
          <a:prstGeom prst="rect">
            <a:avLst/>
          </a:prstGeom>
          <a:solidFill>
            <a:srgbClr val="C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650138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900" b="0" i="0">
                <a:solidFill>
                  <a:srgbClr val="8A9BB8"/>
                </a:solidFill>
                <a:latin typeface="Pretendard"/>
              </a:rPr>
              <a:t>섹션 6 | 실버케어 적용 예시 시나리오 | 박철민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r"/>
            <a:r>
              <a:rPr sz="900" b="0" i="0">
                <a:solidFill>
                  <a:srgbClr val="8A9BB8"/>
                </a:solidFill>
                <a:latin typeface="Pretendard"/>
              </a:rPr>
              <a:t>3 /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384280" cy="402336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43584"/>
            <a:ext cx="11128247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450" b="1" i="0">
                <a:solidFill>
                  <a:srgbClr val="FFFFFF"/>
                </a:solidFill>
                <a:latin typeface="Pretendard"/>
              </a:rPr>
              <a:t>S1 — 일상 오프라인 의료 정보 상담  (핵심 시나리오)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09344"/>
            <a:ext cx="11384280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09728" rtlCol="0" anchor="ctr"/>
          <a:lstStyle/>
          <a:p>
            <a:pPr algn="l"/>
            <a:r>
              <a:rPr sz="1200" b="0" i="0">
                <a:solidFill>
                  <a:srgbClr val="5A6A85"/>
                </a:solidFill>
                <a:latin typeface="Pretendard"/>
              </a:rPr>
              <a:t>상황: 낮 시간 / 경북 의성 농촌 / LTE 불안정·Wi-Fi 없음 (의도된 로컬 사용)   →   혈압약 복용 후 가벼운 두통 / 자녀에게 전화하기엔 사소 / 검색창은 느림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48256"/>
            <a:ext cx="5600700" cy="310896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084832"/>
            <a:ext cx="541782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S1 처리 단계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9152"/>
            <a:ext cx="5600700" cy="900684"/>
          </a:xfrm>
          <a:prstGeom prst="rect">
            <a:avLst/>
          </a:prstGeom>
          <a:solidFill>
            <a:srgbClr val="F2F4F8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359152"/>
            <a:ext cx="45720" cy="900684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395728"/>
            <a:ext cx="1005840" cy="8275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8233F"/>
                </a:solidFill>
                <a:latin typeface="Pretendard"/>
              </a:rPr>
              <a:t>트리거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395728"/>
            <a:ext cx="4320540" cy="8275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"혈압약 먹고 나서 머리가 좀 무거운데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이거 부작용인지 알려줘"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59836"/>
            <a:ext cx="5600700" cy="900684"/>
          </a:xfrm>
          <a:prstGeom prst="rect">
            <a:avLst/>
          </a:prstGeom>
          <a:solidFill>
            <a:srgbClr val="FFFFFF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259836"/>
            <a:ext cx="45720" cy="900684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296412"/>
            <a:ext cx="1005840" cy="8275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8233F"/>
                </a:solidFill>
                <a:latin typeface="Pretendard"/>
              </a:rPr>
              <a:t>기기 내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296412"/>
            <a:ext cx="4320540" cy="8275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의료 도메인 모델이 즉시 추론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(외부 서버 미사용, 인터넷 연결 없음)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600700" cy="900684"/>
          </a:xfrm>
          <a:prstGeom prst="rect">
            <a:avLst/>
          </a:prstGeom>
          <a:solidFill>
            <a:srgbClr val="F2F4F8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160520"/>
            <a:ext cx="45720" cy="900684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197096"/>
            <a:ext cx="1005840" cy="8275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8233F"/>
                </a:solidFill>
                <a:latin typeface="Pretendard"/>
              </a:rPr>
              <a:t>출력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197096"/>
            <a:ext cx="4320540" cy="8275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해당 약 계열 흔한 반응 여부 안내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+ "충분히 쉬어보시고, 내일까지 지속되거나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심해지면 병원·약사 선생님께 확인하세요"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61204"/>
            <a:ext cx="5600700" cy="900684"/>
          </a:xfrm>
          <a:prstGeom prst="rect">
            <a:avLst/>
          </a:prstGeom>
          <a:solidFill>
            <a:srgbClr val="FFFFFF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5061204"/>
            <a:ext cx="45720" cy="90068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5097780"/>
            <a:ext cx="1005840" cy="8275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7A4A"/>
                </a:solidFill>
                <a:latin typeface="Pretendard"/>
              </a:rPr>
              <a:t>모델 경계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097780"/>
            <a:ext cx="4320540" cy="8275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진단 ✕   응급 판단 ✕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→ 정보 제공 + 전문가 상담 권고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0780" y="2048256"/>
            <a:ext cx="5600700" cy="310896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2220" y="2084832"/>
            <a:ext cx="541782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이 시나리오가 정당화하는 기술 요소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0780" y="2359152"/>
            <a:ext cx="5600700" cy="1200912"/>
          </a:xfrm>
          <a:prstGeom prst="rect">
            <a:avLst/>
          </a:prstGeom>
          <a:solidFill>
            <a:srgbClr val="E8F1FB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40780" y="2359152"/>
            <a:ext cx="54864" cy="1200912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68796" y="2414016"/>
            <a:ext cx="1234440" cy="1091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경량화</a:t>
            </a:r>
          </a:p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(KD+Pruning)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5532" y="2414016"/>
            <a:ext cx="4064508" cy="1091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보급형 스마트폰(약 4GB RAM 수준)에서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수 초 내 응답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— 5장 KD 연구의 직접 산물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0780" y="3560064"/>
            <a:ext cx="5600700" cy="1200912"/>
          </a:xfrm>
          <a:prstGeom prst="rect">
            <a:avLst/>
          </a:prstGeom>
          <a:solidFill>
            <a:srgbClr val="E8F1FB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40780" y="3560064"/>
            <a:ext cx="54864" cy="1200912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68796" y="3614928"/>
            <a:ext cx="1234440" cy="1091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오프라인</a:t>
            </a:r>
          </a:p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(의도된 로컬)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5532" y="3614928"/>
            <a:ext cx="4064508" cy="1091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Wi-Fi·데이터 없는 농어촌에서 동작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→ 보급형 기기 탑재 가능성 검증 목표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0780" y="4760976"/>
            <a:ext cx="5600700" cy="1200912"/>
          </a:xfrm>
          <a:prstGeom prst="rect">
            <a:avLst/>
          </a:prstGeom>
          <a:solidFill>
            <a:srgbClr val="E2F4EB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40780" y="4760976"/>
            <a:ext cx="54864" cy="120091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68796" y="4815840"/>
            <a:ext cx="1234440" cy="1091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의료 도메인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5532" y="4815840"/>
            <a:ext cx="4064508" cy="1091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복약 관련 의약 지식 기반 응답 정확도 향상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(2학기 도메인 FT 예정)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53328"/>
            <a:ext cx="11384280" cy="40233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6053328"/>
            <a:ext cx="54864" cy="402336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3504" y="6089904"/>
            <a:ext cx="1108252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→ "바로 답한다"는 가치는 경량화 모델이 기기에 탑재됐기 때문에 성립함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54864" cy="685800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1078992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"/>
            <a:ext cx="1051560" cy="27432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UX · S2·S3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09728"/>
            <a:ext cx="10351007" cy="96926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etendard"/>
              </a:rPr>
              <a:t>[UX] 복약 중복 오류를 막고 고독감을 줄이는 두 기능은 경량 모델이 기기에 상시 탑재돼야 성립함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18288"/>
          </a:xfrm>
          <a:prstGeom prst="rect">
            <a:avLst/>
          </a:prstGeom>
          <a:solidFill>
            <a:srgbClr val="C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650138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900" b="0" i="0">
                <a:solidFill>
                  <a:srgbClr val="8A9BB8"/>
                </a:solidFill>
                <a:latin typeface="Pretendard"/>
              </a:rPr>
              <a:t>섹션 6 | 실버케어 적용 예시 시나리오 | 박철민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r"/>
            <a:r>
              <a:rPr sz="900" b="0" i="0">
                <a:solidFill>
                  <a:srgbClr val="8A9BB8"/>
                </a:solidFill>
                <a:latin typeface="Pretendard"/>
              </a:rPr>
              <a:t>4 /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5609844" cy="47548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207008"/>
            <a:ext cx="64008" cy="475488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207008"/>
            <a:ext cx="5609844" cy="45720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243584"/>
            <a:ext cx="54086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450" b="1" i="0">
                <a:solidFill>
                  <a:srgbClr val="FFFFFF"/>
                </a:solidFill>
                <a:latin typeface="Pretendard"/>
              </a:rPr>
              <a:t>S2   복약 관리 &amp; 라이프 로그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1664208"/>
            <a:ext cx="5545836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1700784"/>
            <a:ext cx="7772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2E6FD4"/>
                </a:solidFill>
                <a:latin typeface="Pretendard"/>
              </a:rPr>
              <a:t>상황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1700784"/>
            <a:ext cx="453085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아침 8시, 어제 저녁 복약 여부 기억 가물가물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2523744"/>
            <a:ext cx="5545836" cy="859536"/>
          </a:xfrm>
          <a:prstGeom prst="rect">
            <a:avLst/>
          </a:prstGeom>
          <a:solidFill>
            <a:srgbClr val="D0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" y="2560320"/>
            <a:ext cx="7772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2E6FD4"/>
                </a:solidFill>
                <a:latin typeface="Pretendard"/>
              </a:rPr>
              <a:t>트리거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2560320"/>
            <a:ext cx="453085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"아까 혈압약 먹었나?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오늘 아침 약 챙겨야 하는 거 맞지?"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" y="3383280"/>
            <a:ext cx="5545836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3419856"/>
            <a:ext cx="7772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2E6FD4"/>
                </a:solidFill>
                <a:latin typeface="Pretendard"/>
              </a:rPr>
              <a:t>동작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3419856"/>
            <a:ext cx="453085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기기 내 대화 이력에서 어제 복약 기록 확인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"어제 저녁 드셨다고 기록돼 있어요.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오늘 아침은 아직 기록 없으니 지금 드셔도 됩니다"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중복 복용 방지 안내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" y="4242816"/>
            <a:ext cx="5545836" cy="859536"/>
          </a:xfrm>
          <a:prstGeom prst="rect">
            <a:avLst/>
          </a:prstGeom>
          <a:solidFill>
            <a:srgbClr val="D0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" y="4279392"/>
            <a:ext cx="7772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2E6FD4"/>
                </a:solidFill>
                <a:latin typeface="Pretendard"/>
              </a:rPr>
              <a:t>가치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4279392"/>
            <a:ext cx="453085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다약제 복용 오류 리스크 감소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자녀 없이 자립 지원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" y="5102352"/>
            <a:ext cx="5545836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5138928"/>
            <a:ext cx="7772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2E6FD4"/>
                </a:solidFill>
                <a:latin typeface="Pretendard"/>
              </a:rPr>
              <a:t>기술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6464" y="5138928"/>
            <a:ext cx="453085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오프라인 · 의료 도메인 · 라이프 로그 · 경량화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1636" y="1207008"/>
            <a:ext cx="5609844" cy="4754880"/>
          </a:xfrm>
          <a:prstGeom prst="rect">
            <a:avLst/>
          </a:prstGeom>
          <a:solidFill>
            <a:srgbClr val="E2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31636" y="1207008"/>
            <a:ext cx="64008" cy="47548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31636" y="1207008"/>
            <a:ext cx="5609844" cy="457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9651" y="1243584"/>
            <a:ext cx="54086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450" b="1" i="0">
                <a:solidFill>
                  <a:srgbClr val="FFFFFF"/>
                </a:solidFill>
                <a:latin typeface="Pretendard"/>
              </a:rPr>
              <a:t>S3   말 동무 &amp; 정서 케어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95644" y="1664208"/>
            <a:ext cx="5545836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9651" y="1700784"/>
            <a:ext cx="7772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7A4A"/>
                </a:solidFill>
                <a:latin typeface="Pretendard"/>
              </a:rPr>
              <a:t>상황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900" y="1700784"/>
            <a:ext cx="453085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오후 3시 / 이건호(81세) 혼자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며칠째 자녀 연락 없음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5644" y="2523744"/>
            <a:ext cx="5545836" cy="859536"/>
          </a:xfrm>
          <a:prstGeom prst="rect">
            <a:avLst/>
          </a:prstGeom>
          <a:solidFill>
            <a:srgbClr val="C8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9651" y="2560320"/>
            <a:ext cx="7772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7A4A"/>
                </a:solidFill>
                <a:latin typeface="Pretendard"/>
              </a:rPr>
              <a:t>트리거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900" y="2560320"/>
            <a:ext cx="453085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"오늘 텃밭에서 고추 땄어.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올해는 풍년이야."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5644" y="3383280"/>
            <a:ext cx="5545836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9651" y="3419856"/>
            <a:ext cx="7772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7A4A"/>
                </a:solidFill>
                <a:latin typeface="Pretendard"/>
              </a:rPr>
              <a:t>동작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0900" y="3419856"/>
            <a:ext cx="453085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"오, 올해 고추 잘 됐군요! 고추장 담글 생각도 하세요?"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대화 내용 기기 내부 라이프 로그 축적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이전 대화 기억 → 연속성 있는 대화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5644" y="4242816"/>
            <a:ext cx="5545836" cy="859536"/>
          </a:xfrm>
          <a:prstGeom prst="rect">
            <a:avLst/>
          </a:prstGeom>
          <a:solidFill>
            <a:srgbClr val="C8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9651" y="4279392"/>
            <a:ext cx="7772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7A4A"/>
                </a:solidFill>
                <a:latin typeface="Pretendard"/>
              </a:rPr>
              <a:t>가치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900" y="4279392"/>
            <a:ext cx="453085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고독감 완화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대화 내용 미전송 → 가족 프라이버시 신뢰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5644" y="5102352"/>
            <a:ext cx="5545836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9651" y="5138928"/>
            <a:ext cx="7772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7A4A"/>
                </a:solidFill>
                <a:latin typeface="Pretendard"/>
              </a:rPr>
              <a:t>기술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0900" y="5138928"/>
            <a:ext cx="453085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오프라인 · 프라이버시 · 라이프 로그 · 경량화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053328"/>
            <a:ext cx="11384280" cy="40233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6053328"/>
            <a:ext cx="54864" cy="402336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3504" y="6089904"/>
            <a:ext cx="1108252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→ 항상 켜진 경량 모델이 기기 안에 있어야 두 시나리오 모두 성립함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54864" cy="685800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1078992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"/>
            <a:ext cx="1051560" cy="27432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안전 · S4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09728"/>
            <a:ext cx="10351007" cy="96926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etendard"/>
              </a:rPr>
              <a:t>[안전] 건강 데이터를 서버로 보내지 않는 온디바이스 구조 자체가 시니어 가족이 서비스를 신뢰하는 근거임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18288"/>
          </a:xfrm>
          <a:prstGeom prst="rect">
            <a:avLst/>
          </a:prstGeom>
          <a:solidFill>
            <a:srgbClr val="C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650138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900" b="0" i="0">
                <a:solidFill>
                  <a:srgbClr val="8A9BB8"/>
                </a:solidFill>
                <a:latin typeface="Pretendard"/>
              </a:rPr>
              <a:t>섹션 6 | 실버케어 적용 예시 시나리오 | 박철민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r"/>
            <a:r>
              <a:rPr sz="900" b="0" i="0">
                <a:solidFill>
                  <a:srgbClr val="8A9BB8"/>
                </a:solidFill>
                <a:latin typeface="Pretendard"/>
              </a:rPr>
              <a:t>5 /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5609844" cy="41330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207008"/>
            <a:ext cx="64008" cy="4133088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207008"/>
            <a:ext cx="5609844" cy="420624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243584"/>
            <a:ext cx="540867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</a:rPr>
              <a:t>클라우드 방식 (시중 AI 스피커 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1627632"/>
            <a:ext cx="5545836" cy="742492"/>
          </a:xfrm>
          <a:prstGeom prst="rect">
            <a:avLst/>
          </a:prstGeom>
          <a:solidFill>
            <a:srgbClr val="FDEDED"/>
          </a:solidFill>
          <a:ln w="508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1664208"/>
            <a:ext cx="1005840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9B1C1C"/>
                </a:solidFill>
                <a:latin typeface="Pretendard"/>
              </a:rPr>
              <a:t>처리 흐름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1664208"/>
            <a:ext cx="4311396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발화 → 서버 전송 → AI 처리 → 응답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2370124"/>
            <a:ext cx="5545836" cy="742492"/>
          </a:xfrm>
          <a:prstGeom prst="rect">
            <a:avLst/>
          </a:prstGeom>
          <a:solidFill>
            <a:srgbClr val="FFFFFF"/>
          </a:solidFill>
          <a:ln w="508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" y="2406700"/>
            <a:ext cx="1005840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9B1C1C"/>
                </a:solidFill>
                <a:latin typeface="Pretendard"/>
              </a:rPr>
              <a:t>데이터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406700"/>
            <a:ext cx="4311396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건강 정보·복약 기록·대화 내용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서버에 저장됨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" y="3112617"/>
            <a:ext cx="5545836" cy="742492"/>
          </a:xfrm>
          <a:prstGeom prst="rect">
            <a:avLst/>
          </a:prstGeom>
          <a:solidFill>
            <a:srgbClr val="FDEDED"/>
          </a:solidFill>
          <a:ln w="508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3149193"/>
            <a:ext cx="1005840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9B1C1C"/>
                </a:solidFill>
                <a:latin typeface="Pretendard"/>
              </a:rPr>
              <a:t>네트워크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149193"/>
            <a:ext cx="4311396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Wi-Fi·데이터 필수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" y="3855110"/>
            <a:ext cx="5545836" cy="742492"/>
          </a:xfrm>
          <a:prstGeom prst="rect">
            <a:avLst/>
          </a:prstGeom>
          <a:solidFill>
            <a:srgbClr val="FFFFFF"/>
          </a:solidFill>
          <a:ln w="508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" y="3891686"/>
            <a:ext cx="1005840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9B1C1C"/>
                </a:solidFill>
                <a:latin typeface="Pretendard"/>
              </a:rPr>
              <a:t>기기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891686"/>
            <a:ext cx="4311396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서버 의존 (기기 사양 무관)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" y="4597603"/>
            <a:ext cx="5545836" cy="742492"/>
          </a:xfrm>
          <a:prstGeom prst="rect">
            <a:avLst/>
          </a:prstGeom>
          <a:solidFill>
            <a:srgbClr val="FDEDED"/>
          </a:solidFill>
          <a:ln w="508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4634179"/>
            <a:ext cx="1005840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9B1C1C"/>
                </a:solidFill>
                <a:latin typeface="Pretendard"/>
              </a:rPr>
              <a:t>비용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634179"/>
            <a:ext cx="4311396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클라우드 API 사용료 발생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1636" y="1207008"/>
            <a:ext cx="5609844" cy="41330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31636" y="1207008"/>
            <a:ext cx="64008" cy="4133088"/>
          </a:xfrm>
          <a:prstGeom prst="rect">
            <a:avLst/>
          </a:prstGeom>
          <a:solidFill>
            <a:srgbClr val="1A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31636" y="1207008"/>
            <a:ext cx="5609844" cy="420624"/>
          </a:xfrm>
          <a:prstGeom prst="rect">
            <a:avLst/>
          </a:prstGeom>
          <a:solidFill>
            <a:srgbClr val="1A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9651" y="1243584"/>
            <a:ext cx="540867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</a:rPr>
              <a:t>우리 온디바이스 방식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95644" y="1627632"/>
            <a:ext cx="5545836" cy="742492"/>
          </a:xfrm>
          <a:prstGeom prst="rect">
            <a:avLst/>
          </a:prstGeom>
          <a:solidFill>
            <a:srgbClr val="E8F1FB"/>
          </a:solidFill>
          <a:ln w="508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9651" y="1664208"/>
            <a:ext cx="1005840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4FA8"/>
                </a:solidFill>
                <a:latin typeface="Pretendard"/>
              </a:rPr>
              <a:t>처리 흐름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0356" y="1664208"/>
            <a:ext cx="4311396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발화 → 기기 내부 처리 → 응답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5644" y="2370124"/>
            <a:ext cx="5545836" cy="742492"/>
          </a:xfrm>
          <a:prstGeom prst="rect">
            <a:avLst/>
          </a:prstGeom>
          <a:solidFill>
            <a:srgbClr val="FFFFFF"/>
          </a:solidFill>
          <a:ln w="508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9651" y="2406700"/>
            <a:ext cx="1005840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4FA8"/>
                </a:solidFill>
                <a:latin typeface="Pretendard"/>
              </a:rPr>
              <a:t>데이터 저장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0356" y="2406700"/>
            <a:ext cx="4311396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데이터 기기 밖으로 나가지 않음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5644" y="3112617"/>
            <a:ext cx="5545836" cy="742492"/>
          </a:xfrm>
          <a:prstGeom prst="rect">
            <a:avLst/>
          </a:prstGeom>
          <a:solidFill>
            <a:srgbClr val="E8F1FB"/>
          </a:solidFill>
          <a:ln w="508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9651" y="3149193"/>
            <a:ext cx="1005840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4FA8"/>
                </a:solidFill>
                <a:latin typeface="Pretendard"/>
              </a:rPr>
              <a:t>네트워크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0356" y="3149193"/>
            <a:ext cx="4311396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Wi-Fi·데이터 없어도 동작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5644" y="3855110"/>
            <a:ext cx="5545836" cy="742492"/>
          </a:xfrm>
          <a:prstGeom prst="rect">
            <a:avLst/>
          </a:prstGeom>
          <a:solidFill>
            <a:srgbClr val="FFFFFF"/>
          </a:solidFill>
          <a:ln w="508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9651" y="3891686"/>
            <a:ext cx="1005840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4FA8"/>
                </a:solidFill>
                <a:latin typeface="Pretendard"/>
              </a:rPr>
              <a:t>기기 요건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0356" y="3891686"/>
            <a:ext cx="4311396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보급형 스마트폰</a:t>
            </a:r>
          </a:p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(약 4GB RAM 수준 가정)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5644" y="4597603"/>
            <a:ext cx="5545836" cy="742492"/>
          </a:xfrm>
          <a:prstGeom prst="rect">
            <a:avLst/>
          </a:prstGeom>
          <a:solidFill>
            <a:srgbClr val="E8F1FB"/>
          </a:solidFill>
          <a:ln w="508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9651" y="4634179"/>
            <a:ext cx="1005840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50" b="1" i="0">
                <a:solidFill>
                  <a:srgbClr val="1A4FA8"/>
                </a:solidFill>
                <a:latin typeface="Pretendard"/>
              </a:rPr>
              <a:t>비용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0356" y="4634179"/>
            <a:ext cx="4311396" cy="669340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202635"/>
                </a:solidFill>
                <a:latin typeface="Pretendard"/>
              </a:rPr>
              <a:t>로컬 실행, 추가 비용 없음 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94960"/>
            <a:ext cx="11384280" cy="585216"/>
          </a:xfrm>
          <a:prstGeom prst="rect">
            <a:avLst/>
          </a:prstGeom>
          <a:solidFill>
            <a:srgbClr val="F0F4FA"/>
          </a:solidFill>
          <a:ln w="635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5394960"/>
            <a:ext cx="54864" cy="585216"/>
          </a:xfrm>
          <a:prstGeom prst="rect">
            <a:avLst/>
          </a:prstGeom>
          <a:solidFill>
            <a:srgbClr val="D47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" y="5449824"/>
            <a:ext cx="11173967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200" b="0" i="0">
                <a:solidFill>
                  <a:srgbClr val="5A6A85"/>
                </a:solidFill>
                <a:latin typeface="Pretendard"/>
              </a:rPr>
              <a:t>참고 사례: Google Gemini Nano — 온디바이스·오프라인·데이터 미전송, 4-bit 양자화로 모바일 탑재 실증.</a:t>
            </a:r>
          </a:p>
          <a:p>
            <a:pPr algn="l"/>
            <a:r>
              <a:rPr sz="1200" b="0" i="0">
                <a:solidFill>
                  <a:srgbClr val="5A6A85"/>
                </a:solidFill>
                <a:latin typeface="Pretendard"/>
              </a:rPr>
              <a:t>단, 복잡한 의료 추론은 더 큰 모델 필요 → 우리 연구의 2학기 도메인 학습 과제와 동일 방향성.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053328"/>
            <a:ext cx="11384280" cy="40233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6053328"/>
            <a:ext cx="54864" cy="402336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3504" y="6089904"/>
            <a:ext cx="1108252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→ 온디바이스가 가능한 근거 = KD+Pruning으로 모델이 충분히 작아졌기 때문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54864" cy="685800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1078992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"/>
            <a:ext cx="1051560" cy="27432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09728"/>
            <a:ext cx="10351007" cy="96926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etendard"/>
              </a:rPr>
              <a:t>[평가] 4개 시나리오는 7장 평가지표와 8장 목표치의 입력 근거이므로 세 섹션 간 표현 정합이 필요함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18288"/>
          </a:xfrm>
          <a:prstGeom prst="rect">
            <a:avLst/>
          </a:prstGeom>
          <a:solidFill>
            <a:srgbClr val="C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650138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900" b="0" i="0">
                <a:solidFill>
                  <a:srgbClr val="8A9BB8"/>
                </a:solidFill>
                <a:latin typeface="Pretendard"/>
              </a:rPr>
              <a:t>섹션 6 | 실버케어 적용 예시 시나리오 | 박철민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r"/>
            <a:r>
              <a:rPr sz="900" b="0" i="0">
                <a:solidFill>
                  <a:srgbClr val="8A9BB8"/>
                </a:solidFill>
                <a:latin typeface="Pretendard"/>
              </a:rPr>
              <a:t>6 /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384280" cy="310896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234440"/>
            <a:ext cx="112196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시나리오  ↔  기술 요소 / 7장 평가지표 / 8장 목표치 매핑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517904"/>
          <a:ext cx="11384278" cy="2487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9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1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433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시나리오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기술 요소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7장 평가지표 연계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8장 목표치 연계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635"/>
                          </a:solidFill>
                          <a:latin typeface="Pretendard"/>
                        </a:rPr>
                        <a:t>S1. 일상 오프라인
의료 상담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KD+Pruning · 의료 도메인 FT · 오프라인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답변 정확도 · 금지 문구 오류율
응답 지연시간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보급형 기기(4GB RAM 수준)
응답 + QA 정확도 목표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635"/>
                          </a:solidFill>
                          <a:latin typeface="Pretendard"/>
                        </a:rPr>
                        <a:t>S2. 복약 관리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의료 도메인 FT · 라이프 로그 · 오프라인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복약 판단 정확도 · 오류 알림 정밀도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복약 관련 질의 N건 처리 (잠정)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635"/>
                          </a:solidFill>
                          <a:latin typeface="Pretendard"/>
                        </a:rPr>
                        <a:t>S3. 말 동무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경량화 · 오프라인 · 라이프 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대화 자연스러움(정성) · 연속 대화 유지율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일상 대화 N턴 유지 (잠정)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635"/>
                          </a:solidFill>
                          <a:latin typeface="Pretendard"/>
                        </a:rPr>
                        <a:t>S4. 프라이버시
대조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온디바이스 구조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외부 통신 0건 검증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외부 전송 0건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57200" y="4133088"/>
            <a:ext cx="11384280" cy="310896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112196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7장(서현범) 질문셋 6유형과 시나리오 커버리지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4443984"/>
          <a:ext cx="11384278" cy="1517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4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4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983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질문 유형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커버 시나리오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메모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8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응급·악화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심할 경우 119 안내 수준으로 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8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약 복용·상호작용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S1, S2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핵심 커버 시나리오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8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만성질환 관리 / 일반 증상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2학기 도메인 FT 범위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98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생활·예방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S3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대화형 정보 제공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98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진단 요구·개인정보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S4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온디바이스 구조로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57200" y="6053328"/>
            <a:ext cx="11384280" cy="40233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6053328"/>
            <a:ext cx="54864" cy="402336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" y="6089904"/>
            <a:ext cx="1108252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→ 시나리오 → 평가지표 → 목표치 흐름은 6·7·8장 담당자 간 사전 확인 후 표현 정합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54864" cy="685800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1078992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"/>
            <a:ext cx="1051560" cy="274320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09728"/>
            <a:ext cx="10351007" cy="96926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etendard"/>
              </a:rPr>
              <a:t>[정리] 경량화 연구 결과가 실질 가치를 갖는 환경은 이 4개의 일상 장면으로 설명되며, 실버케어는 그 검증 무대임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18288"/>
          </a:xfrm>
          <a:prstGeom prst="rect">
            <a:avLst/>
          </a:prstGeom>
          <a:solidFill>
            <a:srgbClr val="C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650138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900" b="0" i="0">
                <a:solidFill>
                  <a:srgbClr val="8A9BB8"/>
                </a:solidFill>
                <a:latin typeface="Pretendard"/>
              </a:rPr>
              <a:t>섹션 6 | 실버케어 적용 예시 시나리오 | 박철민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r"/>
            <a:r>
              <a:rPr sz="900" b="0" i="0">
                <a:solidFill>
                  <a:srgbClr val="8A9BB8"/>
                </a:solidFill>
                <a:latin typeface="Pretendard"/>
              </a:rPr>
              <a:t>7 /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384280" cy="310896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234440"/>
            <a:ext cx="112196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연구 흐름 속 섹션 6의 위치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517904"/>
          <a:ext cx="11384279" cy="1389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0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97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섹션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담당자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97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02635"/>
                          </a:solidFill>
                          <a:latin typeface="Pretendard"/>
                        </a:rPr>
                        <a:t>5장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635"/>
                          </a:solidFill>
                          <a:latin typeface="Pretendard"/>
                        </a:rPr>
                        <a:t>홍윤표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635"/>
                          </a:solidFill>
                          <a:latin typeface="Pretendard"/>
                        </a:rPr>
                        <a:t>KD로 Teacher 성능을 Student에 보존 + 경량화 결과 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97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02635"/>
                          </a:solidFill>
                          <a:latin typeface="Pretendard"/>
                        </a:rPr>
                        <a:t>6장 ★ (현재)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D0E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635"/>
                          </a:solidFill>
                          <a:latin typeface="Pretendard"/>
                        </a:rPr>
                        <a:t>박철민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D0E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635"/>
                          </a:solidFill>
                          <a:latin typeface="Pretendard"/>
                        </a:rPr>
                        <a:t>경량화된 모델이 있어야 가능한 4가지 실버케어 장면 형상화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D0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97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02635"/>
                          </a:solidFill>
                          <a:latin typeface="Pretendard"/>
                        </a:rPr>
                        <a:t>7장</a:t>
                      </a:r>
                    </a:p>
                  </a:txBody>
                  <a:tcP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635"/>
                          </a:solidFill>
                          <a:latin typeface="Pretendard"/>
                        </a:rPr>
                        <a:t>서현범</a:t>
                      </a:r>
                    </a:p>
                  </a:txBody>
                  <a:tcP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635"/>
                          </a:solidFill>
                          <a:latin typeface="Pretendard"/>
                        </a:rPr>
                        <a:t>4개 시나리오 기반 의료 안전·오프라인·프라이버시 평가지표 도출</a:t>
                      </a:r>
                    </a:p>
                  </a:txBody>
                  <a:tcP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97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02635"/>
                          </a:solidFill>
                          <a:latin typeface="Pretendard"/>
                        </a:rPr>
                        <a:t>8장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635"/>
                          </a:solidFill>
                          <a:latin typeface="Pretendard"/>
                        </a:rPr>
                        <a:t>박형욱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635"/>
                          </a:solidFill>
                          <a:latin typeface="Pretendard"/>
                        </a:rPr>
                        <a:t>시나리오가 제시한 환경 요건을 목표치로 구체화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57200" y="3054096"/>
            <a:ext cx="11384280" cy="310896"/>
          </a:xfrm>
          <a:prstGeom prst="rect">
            <a:avLst/>
          </a:prstGeom>
          <a:solidFill>
            <a:srgbClr val="18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81528"/>
            <a:ext cx="112196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4가지 시나리오 — 경량화 모델 유무에 따른 차이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364992"/>
          <a:ext cx="11384278" cy="197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2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0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시나리오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경량화 모델 없으면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경량화 모델 있으면</a:t>
                      </a:r>
                    </a:p>
                  </a:txBody>
                  <a:tcPr>
                    <a:solidFill>
                      <a:srgbClr val="2A3E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0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635"/>
                          </a:solidFill>
                          <a:latin typeface="Pretendard"/>
                        </a:rPr>
                        <a:t>S1. 일상 의료 상담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Wi-Fi 없어 검색 불가
/ 자녀 전화하기 민망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기기에서 즉시 정보 제공
+ 전문가 상담 권고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0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635"/>
                          </a:solidFill>
                          <a:latin typeface="Pretendard"/>
                        </a:rPr>
                        <a:t>S2. 복약 관리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기억 가물가물
중복 복용 위험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기기 내 기록으로 안전 확인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0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635"/>
                          </a:solidFill>
                          <a:latin typeface="Pretendard"/>
                        </a:rPr>
                        <a:t>S3. 말 동무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고독감
자녀 연락 없는 오후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항상 켜진 대화 파트너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0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635"/>
                          </a:solidFill>
                          <a:latin typeface="Pretendard"/>
                        </a:rPr>
                        <a:t>S4. 프라이버시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건강 대화가 서버로 전송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635"/>
                          </a:solidFill>
                          <a:latin typeface="Pretendard"/>
                        </a:rPr>
                        <a:t>데이터 기기 밖으로 나가지 않음 ✓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57200" y="5394959"/>
            <a:ext cx="11384280" cy="4754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5394959"/>
            <a:ext cx="54864" cy="475488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" y="5431536"/>
            <a:ext cx="11146536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400" b="1" i="1">
                <a:solidFill>
                  <a:srgbClr val="18233F"/>
                </a:solidFill>
                <a:latin typeface="Pretendard"/>
              </a:rPr>
              <a:t>통신이 없어도, 개인정보를 기기 밖으로 내보내지 않아도 — 경량화된 모델은 그 자리에서 바로 답한다.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053328"/>
            <a:ext cx="11384280" cy="40233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6053328"/>
            <a:ext cx="54864" cy="402336"/>
          </a:xfrm>
          <a:prstGeom prst="rect">
            <a:avLst/>
          </a:prstGeom>
          <a:solidFill>
            <a:srgbClr val="2E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" y="6089904"/>
            <a:ext cx="1108252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54864" anchor="ctr"/>
          <a:lstStyle/>
          <a:p>
            <a:pPr algn="l"/>
            <a:r>
              <a:rPr sz="1300" b="1" i="0">
                <a:solidFill>
                  <a:srgbClr val="18233F"/>
                </a:solidFill>
                <a:latin typeface="Pretendard"/>
              </a:rPr>
              <a:t>→ "바로 답한다"는 가치는 KD 기반 경량화 모델이 보급형 기기에 탑재됐기 때문에 성립함 — 실버케어는 그 연구 결과의 적용 무대임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1745</Words>
  <Application>Microsoft Macintosh PowerPoint</Application>
  <PresentationFormat>사용자 지정</PresentationFormat>
  <Paragraphs>250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박철민</cp:lastModifiedBy>
  <cp:revision>2</cp:revision>
  <dcterms:created xsi:type="dcterms:W3CDTF">2013-01-27T09:14:16Z</dcterms:created>
  <dcterms:modified xsi:type="dcterms:W3CDTF">2026-06-03T13:07:33Z</dcterms:modified>
  <cp:category/>
</cp:coreProperties>
</file>