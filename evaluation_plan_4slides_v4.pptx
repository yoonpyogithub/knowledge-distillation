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03" d="100"/>
          <a:sy n="103" d="100"/>
        </p:scale>
        <p:origin x="83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직사각형 75">
            <a:extLst>
              <a:ext uri="{FF2B5EF4-FFF2-40B4-BE49-F238E27FC236}">
                <a16:creationId xmlns:a16="http://schemas.microsoft.com/office/drawing/2014/main" id="{B61C9697-7E58-4FD3-B3D3-C3AC459146E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95AE7F6-082D-451F-BC54-B71B635ED7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1C6327-6D54-4361-918D-CA31E26A4BA5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4B58144D-ECC3-4699-B7DD-89FBECEB748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314450" cy="323850"/>
          </a:xfrm>
          <a:prstGeom prst="rect">
            <a:avLst/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F78A6FB-6ABA-4405-9C5D-82F74E62B076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평가 개요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AF8B0B7-AEFC-4F1F-93CE-56DD8D4BFC03}"/>
              </a:ext>
            </a:extLst>
          </p:cNvPr>
          <p:cNvSpPr>
            <a:spLocks noGrp="1"/>
          </p:cNvSpPr>
          <p:nvPr/>
        </p:nvSpPr>
        <p:spPr>
          <a:xfrm>
            <a:off x="10420350" y="4000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Exhibit 01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4726898-7571-40B1-9664-28AD65E34AF4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평가는 '얼마나 똑똑한가'가 아니라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0621307-8009-4BCC-B4D9-88E990734CF7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'시니어가 믿고 혼자 쓸 수 있는가'를 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6D0A393-8397-48AB-97C6-6B7C2489B694}"/>
              </a:ext>
            </a:extLst>
          </p:cNvPr>
          <p:cNvSpPr>
            <a:spLocks noGrp="1"/>
          </p:cNvSpPr>
          <p:nvPr/>
        </p:nvSpPr>
        <p:spPr>
          <a:xfrm>
            <a:off x="514350" y="1704975"/>
            <a:ext cx="11144250" cy="381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8B0D78D-66E7-4E27-97FD-733576A33CFE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514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평가 계획 | 시니어 온디바이스 헬스케어 지식증류 LLM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CD624B3-0F2A-4624-A783-2BC444BB8699}"/>
              </a:ext>
            </a:extLst>
          </p:cNvPr>
          <p:cNvSpPr>
            <a:spLocks noGrp="1"/>
          </p:cNvSpPr>
          <p:nvPr/>
        </p:nvSpPr>
        <p:spPr>
          <a:xfrm>
            <a:off x="11410950" y="65722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C90444D-F832-4886-8210-D1AB4F10BAEB}"/>
              </a:ext>
            </a:extLst>
          </p:cNvPr>
          <p:cNvSpPr>
            <a:spLocks noGrp="1"/>
          </p:cNvSpPr>
          <p:nvPr/>
        </p:nvSpPr>
        <p:spPr>
          <a:xfrm>
            <a:off x="514350" y="1971675"/>
            <a:ext cx="2571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6E752DA-0B8A-451F-BABC-18CC08734050}"/>
              </a:ext>
            </a:extLst>
          </p:cNvPr>
          <p:cNvSpPr>
            <a:spLocks noGrp="1"/>
          </p:cNvSpPr>
          <p:nvPr/>
        </p:nvSpPr>
        <p:spPr>
          <a:xfrm>
            <a:off x="514350" y="1971675"/>
            <a:ext cx="57150" cy="10668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30BB47D-4F06-483F-AB1C-809D83FCF8ED}"/>
              </a:ext>
            </a:extLst>
          </p:cNvPr>
          <p:cNvSpPr>
            <a:spLocks noGrp="1"/>
          </p:cNvSpPr>
          <p:nvPr/>
        </p:nvSpPr>
        <p:spPr>
          <a:xfrm>
            <a:off x="723900" y="22002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0CFAC27-E085-4E1A-AEDD-867478252296}"/>
              </a:ext>
            </a:extLst>
          </p:cNvPr>
          <p:cNvSpPr>
            <a:spLocks noGrp="1"/>
          </p:cNvSpPr>
          <p:nvPr/>
        </p:nvSpPr>
        <p:spPr>
          <a:xfrm>
            <a:off x="1047750" y="21907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안전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64B1C54-E4C8-44D7-89E1-9E65ADD6347F}"/>
              </a:ext>
            </a:extLst>
          </p:cNvPr>
          <p:cNvSpPr>
            <a:spLocks noGrp="1"/>
          </p:cNvSpPr>
          <p:nvPr/>
        </p:nvSpPr>
        <p:spPr>
          <a:xfrm>
            <a:off x="1047750" y="24955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위험한 답을 막는가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B472041-965B-4463-982D-C5301CB3B542}"/>
              </a:ext>
            </a:extLst>
          </p:cNvPr>
          <p:cNvSpPr>
            <a:spLocks noGrp="1"/>
          </p:cNvSpPr>
          <p:nvPr/>
        </p:nvSpPr>
        <p:spPr>
          <a:xfrm>
            <a:off x="1047750" y="2714625"/>
            <a:ext cx="16192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28EF196-B27E-4CC5-A5A4-DE2B34F8B196}"/>
              </a:ext>
            </a:extLst>
          </p:cNvPr>
          <p:cNvSpPr>
            <a:spLocks noGrp="1"/>
          </p:cNvSpPr>
          <p:nvPr/>
        </p:nvSpPr>
        <p:spPr>
          <a:xfrm>
            <a:off x="1123950" y="2771775"/>
            <a:ext cx="1466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응급·복약 실수 0건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78EAD10-7E30-4D46-B27B-647BC5D96281}"/>
              </a:ext>
            </a:extLst>
          </p:cNvPr>
          <p:cNvSpPr>
            <a:spLocks noGrp="1"/>
          </p:cNvSpPr>
          <p:nvPr/>
        </p:nvSpPr>
        <p:spPr>
          <a:xfrm>
            <a:off x="3371850" y="1971675"/>
            <a:ext cx="2571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E51DC50E-E550-4A9C-8121-516F1BD4E654}"/>
              </a:ext>
            </a:extLst>
          </p:cNvPr>
          <p:cNvSpPr>
            <a:spLocks noGrp="1"/>
          </p:cNvSpPr>
          <p:nvPr/>
        </p:nvSpPr>
        <p:spPr>
          <a:xfrm>
            <a:off x="3371850" y="1971675"/>
            <a:ext cx="57150" cy="10668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5C0901CB-24A8-4810-BCB3-B0A22928E391}"/>
              </a:ext>
            </a:extLst>
          </p:cNvPr>
          <p:cNvSpPr>
            <a:spLocks noGrp="1"/>
          </p:cNvSpPr>
          <p:nvPr/>
        </p:nvSpPr>
        <p:spPr>
          <a:xfrm>
            <a:off x="3581400" y="22002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00A21D4-A1DB-4284-8806-3732DAA09B20}"/>
              </a:ext>
            </a:extLst>
          </p:cNvPr>
          <p:cNvSpPr>
            <a:spLocks noGrp="1"/>
          </p:cNvSpPr>
          <p:nvPr/>
        </p:nvSpPr>
        <p:spPr>
          <a:xfrm>
            <a:off x="3905250" y="21907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작동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75D37AB-D074-4347-BC48-69CB4472E569}"/>
              </a:ext>
            </a:extLst>
          </p:cNvPr>
          <p:cNvSpPr>
            <a:spLocks noGrp="1"/>
          </p:cNvSpPr>
          <p:nvPr/>
        </p:nvSpPr>
        <p:spPr>
          <a:xfrm>
            <a:off x="3905250" y="24955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폰에서 인터넷 없이 도나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E633E61-A264-498A-8701-B2C8825C04E4}"/>
              </a:ext>
            </a:extLst>
          </p:cNvPr>
          <p:cNvSpPr>
            <a:spLocks noGrp="1"/>
          </p:cNvSpPr>
          <p:nvPr/>
        </p:nvSpPr>
        <p:spPr>
          <a:xfrm>
            <a:off x="3905250" y="2714625"/>
            <a:ext cx="16192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55B2A5C-2890-4FB8-8199-86D572407981}"/>
              </a:ext>
            </a:extLst>
          </p:cNvPr>
          <p:cNvSpPr>
            <a:spLocks noGrp="1"/>
          </p:cNvSpPr>
          <p:nvPr/>
        </p:nvSpPr>
        <p:spPr>
          <a:xfrm>
            <a:off x="3981450" y="2771775"/>
            <a:ext cx="1466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오프라인·응답 속도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9315661-4075-4255-9B32-C9A1A10C7CD5}"/>
              </a:ext>
            </a:extLst>
          </p:cNvPr>
          <p:cNvSpPr>
            <a:spLocks noGrp="1"/>
          </p:cNvSpPr>
          <p:nvPr/>
        </p:nvSpPr>
        <p:spPr>
          <a:xfrm>
            <a:off x="6229350" y="1971675"/>
            <a:ext cx="2571750" cy="10668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D43EB4D8-0B89-43D1-978D-2F93A2E88F7D}"/>
              </a:ext>
            </a:extLst>
          </p:cNvPr>
          <p:cNvSpPr>
            <a:spLocks noGrp="1"/>
          </p:cNvSpPr>
          <p:nvPr/>
        </p:nvSpPr>
        <p:spPr>
          <a:xfrm>
            <a:off x="6229350" y="1971675"/>
            <a:ext cx="57150" cy="10668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EE747ED-F364-47F4-A6CB-3C4E6258C590}"/>
              </a:ext>
            </a:extLst>
          </p:cNvPr>
          <p:cNvSpPr>
            <a:spLocks noGrp="1"/>
          </p:cNvSpPr>
          <p:nvPr/>
        </p:nvSpPr>
        <p:spPr>
          <a:xfrm>
            <a:off x="6438900" y="22002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3CA39B2-35C1-4A6B-BC79-8486021F897D}"/>
              </a:ext>
            </a:extLst>
          </p:cNvPr>
          <p:cNvSpPr>
            <a:spLocks noGrp="1"/>
          </p:cNvSpPr>
          <p:nvPr/>
        </p:nvSpPr>
        <p:spPr>
          <a:xfrm>
            <a:off x="6762750" y="21907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이해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F3CD006-0E86-4C61-81DD-10F39B83A063}"/>
              </a:ext>
            </a:extLst>
          </p:cNvPr>
          <p:cNvSpPr>
            <a:spLocks noGrp="1"/>
          </p:cNvSpPr>
          <p:nvPr/>
        </p:nvSpPr>
        <p:spPr>
          <a:xfrm>
            <a:off x="6762750" y="24955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시니어가 읽고 바로 행동하나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FC9C862-4B4F-472A-9F81-864CDC2AD3B7}"/>
              </a:ext>
            </a:extLst>
          </p:cNvPr>
          <p:cNvSpPr>
            <a:spLocks noGrp="1"/>
          </p:cNvSpPr>
          <p:nvPr/>
        </p:nvSpPr>
        <p:spPr>
          <a:xfrm>
            <a:off x="6762750" y="2714625"/>
            <a:ext cx="16192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B1CD45D2-B306-48E8-962E-70092A3F1746}"/>
              </a:ext>
            </a:extLst>
          </p:cNvPr>
          <p:cNvSpPr>
            <a:spLocks noGrp="1"/>
          </p:cNvSpPr>
          <p:nvPr/>
        </p:nvSpPr>
        <p:spPr>
          <a:xfrm>
            <a:off x="6838950" y="2771775"/>
            <a:ext cx="1466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3줄 요약·행동 이해율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13DD246-D1D9-4D7B-B557-E20CD556854E}"/>
              </a:ext>
            </a:extLst>
          </p:cNvPr>
          <p:cNvSpPr>
            <a:spLocks noGrp="1"/>
          </p:cNvSpPr>
          <p:nvPr/>
        </p:nvSpPr>
        <p:spPr>
          <a:xfrm>
            <a:off x="9086850" y="1971675"/>
            <a:ext cx="2571750" cy="1066800"/>
          </a:xfrm>
          <a:prstGeom prst="rect">
            <a:avLst/>
          </a:prstGeom>
          <a:solidFill>
            <a:srgbClr val="EAF6F0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593E1A2-8D3A-4CA1-80AF-457FD4A681CE}"/>
              </a:ext>
            </a:extLst>
          </p:cNvPr>
          <p:cNvSpPr>
            <a:spLocks noGrp="1"/>
          </p:cNvSpPr>
          <p:nvPr/>
        </p:nvSpPr>
        <p:spPr>
          <a:xfrm>
            <a:off x="9086850" y="1971675"/>
            <a:ext cx="57150" cy="1066800"/>
          </a:xfrm>
          <a:prstGeom prst="rect">
            <a:avLst/>
          </a:prstGeom>
          <a:solidFill>
            <a:srgbClr val="157B52"/>
          </a:solidFill>
          <a:ln w="0">
            <a:solidFill>
              <a:srgbClr val="157B5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36868523-E34D-48B2-A569-787616A93927}"/>
              </a:ext>
            </a:extLst>
          </p:cNvPr>
          <p:cNvSpPr>
            <a:spLocks noGrp="1"/>
          </p:cNvSpPr>
          <p:nvPr/>
        </p:nvSpPr>
        <p:spPr>
          <a:xfrm>
            <a:off x="9296400" y="2200275"/>
            <a:ext cx="2095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57B52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157B52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6042C8E6-A775-4230-810B-32E0DDD4F02C}"/>
              </a:ext>
            </a:extLst>
          </p:cNvPr>
          <p:cNvSpPr>
            <a:spLocks noGrp="1"/>
          </p:cNvSpPr>
          <p:nvPr/>
        </p:nvSpPr>
        <p:spPr>
          <a:xfrm>
            <a:off x="9620250" y="2190750"/>
            <a:ext cx="1333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정확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F1CEB39-6F9C-4C1D-9F28-F4E93729B8CB}"/>
              </a:ext>
            </a:extLst>
          </p:cNvPr>
          <p:cNvSpPr>
            <a:spLocks noGrp="1"/>
          </p:cNvSpPr>
          <p:nvPr/>
        </p:nvSpPr>
        <p:spPr>
          <a:xfrm>
            <a:off x="9620250" y="2495550"/>
            <a:ext cx="16192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원본 큰 모델만큼 맞히나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42EE622E-EA22-414A-B767-04C000D97F1E}"/>
              </a:ext>
            </a:extLst>
          </p:cNvPr>
          <p:cNvSpPr>
            <a:spLocks noGrp="1"/>
          </p:cNvSpPr>
          <p:nvPr/>
        </p:nvSpPr>
        <p:spPr>
          <a:xfrm>
            <a:off x="9620250" y="2714625"/>
            <a:ext cx="1619250" cy="2667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15A559B8-57F8-4A5F-AEFB-696B28EFC71F}"/>
              </a:ext>
            </a:extLst>
          </p:cNvPr>
          <p:cNvSpPr>
            <a:spLocks noGrp="1"/>
          </p:cNvSpPr>
          <p:nvPr/>
        </p:nvSpPr>
        <p:spPr>
          <a:xfrm>
            <a:off x="9696450" y="2771775"/>
            <a:ext cx="14668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157B52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157B52"/>
                </a:solidFill>
                <a:latin typeface="Pretendard"/>
                <a:ea typeface="Pretendard"/>
                <a:cs typeface="Pretendard"/>
              </a:rPr>
              <a:t>핵심 정보 보존율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2267C77-0ACB-49DA-8756-E5A2929FA1C1}"/>
              </a:ext>
            </a:extLst>
          </p:cNvPr>
          <p:cNvSpPr>
            <a:spLocks noGrp="1"/>
          </p:cNvSpPr>
          <p:nvPr/>
        </p:nvSpPr>
        <p:spPr>
          <a:xfrm>
            <a:off x="514350" y="3438525"/>
            <a:ext cx="34290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6가지로 보되, 안전·작동은 필수 통과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2EBD4EBF-EA30-4162-89CF-57FADE37BF4A}"/>
              </a:ext>
            </a:extLst>
          </p:cNvPr>
          <p:cNvSpPr>
            <a:spLocks noGrp="1"/>
          </p:cNvSpPr>
          <p:nvPr/>
        </p:nvSpPr>
        <p:spPr>
          <a:xfrm>
            <a:off x="4000500" y="3476625"/>
            <a:ext cx="47625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각 항목을 '무엇을·어떻게·합격선'까지 정함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5BF8AAD7-62F0-4528-B055-99E683E2B335}"/>
              </a:ext>
            </a:extLst>
          </p:cNvPr>
          <p:cNvSpPr>
            <a:spLocks noGrp="1"/>
          </p:cNvSpPr>
          <p:nvPr/>
        </p:nvSpPr>
        <p:spPr>
          <a:xfrm>
            <a:off x="514350" y="3838575"/>
            <a:ext cx="3505200" cy="685800"/>
          </a:xfrm>
          <a:prstGeom prst="rect">
            <a:avLst/>
          </a:prstGeom>
          <a:solidFill>
            <a:srgbClr val="FBFDFF"/>
          </a:solidFill>
          <a:ln w="17145">
            <a:solidFill>
              <a:srgbClr val="B8C7DD"/>
            </a:solidFill>
            <a:prstDash val="solid"/>
          </a:ln>
          <a:effectLst>
            <a:outerShdw blurRad="50800" dist="41348" dir="2849381" rotWithShape="0">
              <a:srgbClr val="505C73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3B3D8851-76B2-46F0-AA74-C08FACA2DCD9}"/>
              </a:ext>
            </a:extLst>
          </p:cNvPr>
          <p:cNvSpPr>
            <a:spLocks noGrp="1"/>
          </p:cNvSpPr>
          <p:nvPr/>
        </p:nvSpPr>
        <p:spPr>
          <a:xfrm>
            <a:off x="704850" y="3971925"/>
            <a:ext cx="152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정확성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F4F4E73-7599-4E9F-8E6A-4B84D772696C}"/>
              </a:ext>
            </a:extLst>
          </p:cNvPr>
          <p:cNvSpPr>
            <a:spLocks noGrp="1"/>
          </p:cNvSpPr>
          <p:nvPr/>
        </p:nvSpPr>
        <p:spPr>
          <a:xfrm>
            <a:off x="2419350" y="396239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큰 모델 답과 비교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987F474F-7269-4AEC-AB82-2C8397EF7C80}"/>
              </a:ext>
            </a:extLst>
          </p:cNvPr>
          <p:cNvSpPr>
            <a:spLocks noGrp="1"/>
          </p:cNvSpPr>
          <p:nvPr/>
        </p:nvSpPr>
        <p:spPr>
          <a:xfrm>
            <a:off x="2419350" y="413384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핵심 정보 빠짐 없나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CF2135A2-E41A-41C6-BCF6-2FF25C6373CD}"/>
              </a:ext>
            </a:extLst>
          </p:cNvPr>
          <p:cNvSpPr>
            <a:spLocks noGrp="1"/>
          </p:cNvSpPr>
          <p:nvPr/>
        </p:nvSpPr>
        <p:spPr>
          <a:xfrm>
            <a:off x="4333875" y="3838575"/>
            <a:ext cx="3505200" cy="685800"/>
          </a:xfrm>
          <a:prstGeom prst="rect">
            <a:avLst/>
          </a:prstGeom>
          <a:solidFill>
            <a:srgbClr val="FBFDFF"/>
          </a:solidFill>
          <a:ln w="17145">
            <a:solidFill>
              <a:srgbClr val="B8C7DD"/>
            </a:solidFill>
            <a:prstDash val="solid"/>
          </a:ln>
          <a:effectLst>
            <a:outerShdw blurRad="50800" dist="41348" dir="2849381" rotWithShape="0">
              <a:srgbClr val="505C73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18652096-CC6B-45A1-A888-BF08DAA8BFE0}"/>
              </a:ext>
            </a:extLst>
          </p:cNvPr>
          <p:cNvSpPr>
            <a:spLocks noGrp="1"/>
          </p:cNvSpPr>
          <p:nvPr/>
        </p:nvSpPr>
        <p:spPr>
          <a:xfrm>
            <a:off x="4524375" y="3971925"/>
            <a:ext cx="152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의료 안전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01812BC-CCC7-486D-9236-A787D3E7C6F5}"/>
              </a:ext>
            </a:extLst>
          </p:cNvPr>
          <p:cNvSpPr>
            <a:spLocks noGrp="1"/>
          </p:cNvSpPr>
          <p:nvPr/>
        </p:nvSpPr>
        <p:spPr>
          <a:xfrm>
            <a:off x="6238875" y="396239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응급·복약 질문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3C798F9-88AD-4B4C-A060-AFFA159AC761}"/>
              </a:ext>
            </a:extLst>
          </p:cNvPr>
          <p:cNvSpPr>
            <a:spLocks noGrp="1"/>
          </p:cNvSpPr>
          <p:nvPr/>
        </p:nvSpPr>
        <p:spPr>
          <a:xfrm>
            <a:off x="6238875" y="413384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위험한 답 0건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709F8BE-CB87-4E5D-A9DD-AFC4474CA8C0}"/>
              </a:ext>
            </a:extLst>
          </p:cNvPr>
          <p:cNvSpPr>
            <a:spLocks noGrp="1"/>
          </p:cNvSpPr>
          <p:nvPr/>
        </p:nvSpPr>
        <p:spPr>
          <a:xfrm>
            <a:off x="8153400" y="3838575"/>
            <a:ext cx="3505200" cy="685800"/>
          </a:xfrm>
          <a:prstGeom prst="rect">
            <a:avLst/>
          </a:prstGeom>
          <a:solidFill>
            <a:srgbClr val="FBFDFF"/>
          </a:solidFill>
          <a:ln w="17145">
            <a:solidFill>
              <a:srgbClr val="B8C7DD"/>
            </a:solidFill>
            <a:prstDash val="solid"/>
          </a:ln>
          <a:effectLst>
            <a:outerShdw blurRad="50800" dist="41348" dir="2849381" rotWithShape="0">
              <a:srgbClr val="505C73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47477CE4-CB01-4795-990C-71EE53108620}"/>
              </a:ext>
            </a:extLst>
          </p:cNvPr>
          <p:cNvSpPr>
            <a:spLocks noGrp="1"/>
          </p:cNvSpPr>
          <p:nvPr/>
        </p:nvSpPr>
        <p:spPr>
          <a:xfrm>
            <a:off x="8343900" y="3971925"/>
            <a:ext cx="152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폰에서 작동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AD5472E7-CD18-48A2-91C7-48DAF93E9C72}"/>
              </a:ext>
            </a:extLst>
          </p:cNvPr>
          <p:cNvSpPr>
            <a:spLocks noGrp="1"/>
          </p:cNvSpPr>
          <p:nvPr/>
        </p:nvSpPr>
        <p:spPr>
          <a:xfrm>
            <a:off x="10058400" y="396239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보급형 폰 실측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1DCE31F2-3E16-4345-A563-955B4255DC5B}"/>
              </a:ext>
            </a:extLst>
          </p:cNvPr>
          <p:cNvSpPr>
            <a:spLocks noGrp="1"/>
          </p:cNvSpPr>
          <p:nvPr/>
        </p:nvSpPr>
        <p:spPr>
          <a:xfrm>
            <a:off x="10058400" y="413384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 dirty="0" err="1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오프라인·속도·메모리</a:t>
            </a:r>
            <a:endParaRPr sz="1200" b="0" dirty="0">
              <a:solidFill>
                <a:srgbClr val="202635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0F9AE526-9CF7-41C7-BE9D-C620B26877FE}"/>
              </a:ext>
            </a:extLst>
          </p:cNvPr>
          <p:cNvSpPr>
            <a:spLocks noGrp="1"/>
          </p:cNvSpPr>
          <p:nvPr/>
        </p:nvSpPr>
        <p:spPr>
          <a:xfrm>
            <a:off x="514350" y="4714875"/>
            <a:ext cx="3505200" cy="685800"/>
          </a:xfrm>
          <a:prstGeom prst="rect">
            <a:avLst/>
          </a:prstGeom>
          <a:solidFill>
            <a:srgbClr val="FBFDFF"/>
          </a:solidFill>
          <a:ln w="17145">
            <a:solidFill>
              <a:srgbClr val="B8C7DD"/>
            </a:solidFill>
            <a:prstDash val="solid"/>
          </a:ln>
          <a:effectLst>
            <a:outerShdw blurRad="50800" dist="41348" dir="2849381" rotWithShape="0">
              <a:srgbClr val="505C73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04292004-33F3-4B0C-B62D-3D2F56838CB0}"/>
              </a:ext>
            </a:extLst>
          </p:cNvPr>
          <p:cNvSpPr>
            <a:spLocks noGrp="1"/>
          </p:cNvSpPr>
          <p:nvPr/>
        </p:nvSpPr>
        <p:spPr>
          <a:xfrm>
            <a:off x="704850" y="4848225"/>
            <a:ext cx="152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시니어 이해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64B2791-3FD4-4AB5-A9B3-A13A7AD60C40}"/>
              </a:ext>
            </a:extLst>
          </p:cNvPr>
          <p:cNvSpPr>
            <a:spLocks noGrp="1"/>
          </p:cNvSpPr>
          <p:nvPr/>
        </p:nvSpPr>
        <p:spPr>
          <a:xfrm>
            <a:off x="2419350" y="483869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시니어 직접 테스트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2820A8F4-12A0-492C-9AFD-F35F8167858B}"/>
              </a:ext>
            </a:extLst>
          </p:cNvPr>
          <p:cNvSpPr>
            <a:spLocks noGrp="1"/>
          </p:cNvSpPr>
          <p:nvPr/>
        </p:nvSpPr>
        <p:spPr>
          <a:xfrm>
            <a:off x="2419350" y="501014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3줄 요약·이해율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B74BAC62-CD86-4B39-9CDA-1E4F9D3B217D}"/>
              </a:ext>
            </a:extLst>
          </p:cNvPr>
          <p:cNvSpPr>
            <a:spLocks noGrp="1"/>
          </p:cNvSpPr>
          <p:nvPr/>
        </p:nvSpPr>
        <p:spPr>
          <a:xfrm>
            <a:off x="4333875" y="4714875"/>
            <a:ext cx="3505200" cy="685800"/>
          </a:xfrm>
          <a:prstGeom prst="rect">
            <a:avLst/>
          </a:prstGeom>
          <a:solidFill>
            <a:srgbClr val="FBFDFF"/>
          </a:solidFill>
          <a:ln w="17145">
            <a:solidFill>
              <a:srgbClr val="B8C7DD"/>
            </a:solidFill>
            <a:prstDash val="solid"/>
          </a:ln>
          <a:effectLst>
            <a:outerShdw blurRad="50800" dist="41348" dir="2849381" rotWithShape="0">
              <a:srgbClr val="505C73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79EED0BB-2533-4EBA-AA3E-E585672D8998}"/>
              </a:ext>
            </a:extLst>
          </p:cNvPr>
          <p:cNvSpPr>
            <a:spLocks noGrp="1"/>
          </p:cNvSpPr>
          <p:nvPr/>
        </p:nvSpPr>
        <p:spPr>
          <a:xfrm>
            <a:off x="4524375" y="4848225"/>
            <a:ext cx="152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실생활 도움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C543F79C-7B83-4D7B-86F5-E8D08E89F33E}"/>
              </a:ext>
            </a:extLst>
          </p:cNvPr>
          <p:cNvSpPr>
            <a:spLocks noGrp="1"/>
          </p:cNvSpPr>
          <p:nvPr/>
        </p:nvSpPr>
        <p:spPr>
          <a:xfrm>
            <a:off x="6238875" y="483869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혼자 해결되는가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223D0FA2-9C7D-4143-B599-1B962346E98A}"/>
              </a:ext>
            </a:extLst>
          </p:cNvPr>
          <p:cNvSpPr>
            <a:spLocks noGrp="1"/>
          </p:cNvSpPr>
          <p:nvPr/>
        </p:nvSpPr>
        <p:spPr>
          <a:xfrm>
            <a:off x="6238875" y="501014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자가관리 행동·만족도</a:t>
            </a:r>
          </a:p>
        </p:txBody>
      </p:sp>
      <p:sp>
        <p:nvSpPr>
          <p:cNvPr id="67" name="직사각형 66">
            <a:extLst>
              <a:ext uri="{FF2B5EF4-FFF2-40B4-BE49-F238E27FC236}">
                <a16:creationId xmlns:a16="http://schemas.microsoft.com/office/drawing/2014/main" id="{416E84EA-DA65-411E-84CC-FCC709D545C1}"/>
              </a:ext>
            </a:extLst>
          </p:cNvPr>
          <p:cNvSpPr>
            <a:spLocks noGrp="1"/>
          </p:cNvSpPr>
          <p:nvPr/>
        </p:nvSpPr>
        <p:spPr>
          <a:xfrm>
            <a:off x="8153400" y="4714875"/>
            <a:ext cx="3505200" cy="685800"/>
          </a:xfrm>
          <a:prstGeom prst="rect">
            <a:avLst/>
          </a:prstGeom>
          <a:solidFill>
            <a:srgbClr val="FBFDFF"/>
          </a:solidFill>
          <a:ln w="17145">
            <a:solidFill>
              <a:srgbClr val="B8C7DD"/>
            </a:solidFill>
            <a:prstDash val="solid"/>
          </a:ln>
          <a:effectLst>
            <a:outerShdw blurRad="50800" dist="41348" dir="2849381" rotWithShape="0">
              <a:srgbClr val="505C73">
                <a:alpha val="4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9D3932BD-6B35-4095-A0E6-C605AEDE2DAE}"/>
              </a:ext>
            </a:extLst>
          </p:cNvPr>
          <p:cNvSpPr>
            <a:spLocks noGrp="1"/>
          </p:cNvSpPr>
          <p:nvPr/>
        </p:nvSpPr>
        <p:spPr>
          <a:xfrm>
            <a:off x="8343900" y="4848225"/>
            <a:ext cx="15240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40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프라이버시</a:t>
            </a:r>
          </a:p>
        </p:txBody>
      </p: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44D6A613-A36F-48F6-BFAE-68064198FFA2}"/>
              </a:ext>
            </a:extLst>
          </p:cNvPr>
          <p:cNvSpPr>
            <a:spLocks noGrp="1"/>
          </p:cNvSpPr>
          <p:nvPr/>
        </p:nvSpPr>
        <p:spPr>
          <a:xfrm>
            <a:off x="10058400" y="483869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정보 처리 방식</a:t>
            </a: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C02A1AC-79B6-4EC4-89C4-C99147A5AE8B}"/>
              </a:ext>
            </a:extLst>
          </p:cNvPr>
          <p:cNvSpPr>
            <a:spLocks noGrp="1"/>
          </p:cNvSpPr>
          <p:nvPr/>
        </p:nvSpPr>
        <p:spPr>
          <a:xfrm>
            <a:off x="10058400" y="5010149"/>
            <a:ext cx="16256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외부 전송 0건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377EA8C8-61E1-4A96-B700-D733B963C74B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11144250" cy="361950"/>
          </a:xfrm>
          <a:prstGeom prst="rect">
            <a:avLst/>
          </a:prstGeom>
          <a:solidFill>
            <a:srgbClr val="EEF4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DC2A6630-4C39-4A49-B36B-09977F579003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66675" cy="36195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1C96DFD5-D8DD-4207-B578-7CA4CDAF104A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Takeaway</a:t>
            </a: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6D86A181-6FCE-4E72-868F-745307B8F8CA}"/>
              </a:ext>
            </a:extLst>
          </p:cNvPr>
          <p:cNvSpPr>
            <a:spLocks noGrp="1"/>
          </p:cNvSpPr>
          <p:nvPr/>
        </p:nvSpPr>
        <p:spPr>
          <a:xfrm>
            <a:off x="1600200" y="6162675"/>
            <a:ext cx="952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2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안전·작동은 반드시 통과, 이해·정확·도움은 목표 수준을 정해 측정함</a:t>
            </a:r>
          </a:p>
        </p:txBody>
      </p:sp>
    </p:spTree>
    <p:extLst>
      <p:ext uri="{BB962C8B-B14F-4D97-AF65-F5344CB8AC3E}">
        <p14:creationId xmlns:p14="http://schemas.microsoft.com/office/powerpoint/2010/main" val="14615520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직사각형 64">
            <a:extLst>
              <a:ext uri="{FF2B5EF4-FFF2-40B4-BE49-F238E27FC236}">
                <a16:creationId xmlns:a16="http://schemas.microsoft.com/office/drawing/2014/main" id="{BD76F1F2-CE1B-4ECD-8F79-8AD94E991F3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2160E67-D398-4314-B286-A646B80E76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10FBF5B-490E-441D-ABC9-ED8D55E8A24C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75CE3FA-E5C3-40D2-A922-CF70410CD4D9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314450" cy="323850"/>
          </a:xfrm>
          <a:prstGeom prst="rect">
            <a:avLst/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2D04BF8-5DC1-4316-A420-E4B869B49A98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기술 평가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A713CB-34A2-4597-95E2-A9A8478084F5}"/>
              </a:ext>
            </a:extLst>
          </p:cNvPr>
          <p:cNvSpPr>
            <a:spLocks noGrp="1"/>
          </p:cNvSpPr>
          <p:nvPr/>
        </p:nvSpPr>
        <p:spPr>
          <a:xfrm>
            <a:off x="10420350" y="4000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Exhibit 02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16E4EC9-DCE7-4D90-9B9B-519DEF908A88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작은 모델이 원본만큼 정확하고, 시니어 폰에서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895B119-9A94-4A19-9B46-84EA84373544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실제로 도는지 나눠서 확인함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36B4D58-8510-4276-A4BB-38456F9473DD}"/>
              </a:ext>
            </a:extLst>
          </p:cNvPr>
          <p:cNvSpPr>
            <a:spLocks noGrp="1"/>
          </p:cNvSpPr>
          <p:nvPr/>
        </p:nvSpPr>
        <p:spPr>
          <a:xfrm>
            <a:off x="514350" y="1704975"/>
            <a:ext cx="11144250" cy="381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6A0F4BC-25BD-4955-8774-34CDA6525092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514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평가 계획 | 시니어 온디바이스 헬스케어 지식증류 LLM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0FA3484-5B82-44A9-AB58-E87F2EC8C454}"/>
              </a:ext>
            </a:extLst>
          </p:cNvPr>
          <p:cNvSpPr>
            <a:spLocks noGrp="1"/>
          </p:cNvSpPr>
          <p:nvPr/>
        </p:nvSpPr>
        <p:spPr>
          <a:xfrm>
            <a:off x="11410950" y="65722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228AF78-7614-4968-8449-242BCEC8DD62}"/>
              </a:ext>
            </a:extLst>
          </p:cNvPr>
          <p:cNvSpPr>
            <a:spLocks noGrp="1"/>
          </p:cNvSpPr>
          <p:nvPr/>
        </p:nvSpPr>
        <p:spPr>
          <a:xfrm>
            <a:off x="514350" y="1952625"/>
            <a:ext cx="7524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정확성과 작동성은 서로 못 메움 — 둘 다 따로 통과해야 함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C4519BD8-7A0D-4207-8087-C1A418F87FEF}"/>
              </a:ext>
            </a:extLst>
          </p:cNvPr>
          <p:cNvSpPr>
            <a:spLocks noGrp="1"/>
          </p:cNvSpPr>
          <p:nvPr/>
        </p:nvSpPr>
        <p:spPr>
          <a:xfrm>
            <a:off x="514350" y="2257425"/>
            <a:ext cx="11144250" cy="3429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A1B8E52-AEC9-4AE9-BEEB-C52D858B4C4A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13716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지표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872990F-012C-4DED-A30F-AE81BB057431}"/>
              </a:ext>
            </a:extLst>
          </p:cNvPr>
          <p:cNvSpPr>
            <a:spLocks noGrp="1"/>
          </p:cNvSpPr>
          <p:nvPr/>
        </p:nvSpPr>
        <p:spPr>
          <a:xfrm>
            <a:off x="2114550" y="2257425"/>
            <a:ext cx="9525" cy="3390900"/>
          </a:xfrm>
          <a:prstGeom prst="rect">
            <a:avLst/>
          </a:prstGeom>
          <a:solidFill>
            <a:srgbClr val="D7E0EE"/>
          </a:solidFill>
          <a:ln w="0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950B73C-DF68-46D1-831F-DC77624F2C46}"/>
              </a:ext>
            </a:extLst>
          </p:cNvPr>
          <p:cNvSpPr>
            <a:spLocks noGrp="1"/>
          </p:cNvSpPr>
          <p:nvPr/>
        </p:nvSpPr>
        <p:spPr>
          <a:xfrm>
            <a:off x="2228850" y="2343150"/>
            <a:ext cx="3486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측정 방법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B4CCBD0-354A-4BB4-A3E9-266293119389}"/>
              </a:ext>
            </a:extLst>
          </p:cNvPr>
          <p:cNvSpPr>
            <a:spLocks noGrp="1"/>
          </p:cNvSpPr>
          <p:nvPr/>
        </p:nvSpPr>
        <p:spPr>
          <a:xfrm>
            <a:off x="5829300" y="2257425"/>
            <a:ext cx="9525" cy="3390900"/>
          </a:xfrm>
          <a:prstGeom prst="rect">
            <a:avLst/>
          </a:prstGeom>
          <a:solidFill>
            <a:srgbClr val="D7E0EE"/>
          </a:solidFill>
          <a:ln w="0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ACE70B7F-D0F4-4D5F-A8B6-0F0B091A9E7A}"/>
              </a:ext>
            </a:extLst>
          </p:cNvPr>
          <p:cNvSpPr>
            <a:spLocks noGrp="1"/>
          </p:cNvSpPr>
          <p:nvPr/>
        </p:nvSpPr>
        <p:spPr>
          <a:xfrm>
            <a:off x="5943600" y="2343150"/>
            <a:ext cx="2343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판정 기준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8190EC0-008B-4E6B-9FC2-CE53E6AC87E2}"/>
              </a:ext>
            </a:extLst>
          </p:cNvPr>
          <p:cNvSpPr>
            <a:spLocks noGrp="1"/>
          </p:cNvSpPr>
          <p:nvPr/>
        </p:nvSpPr>
        <p:spPr>
          <a:xfrm>
            <a:off x="8401050" y="2257425"/>
            <a:ext cx="9525" cy="3390900"/>
          </a:xfrm>
          <a:prstGeom prst="rect">
            <a:avLst/>
          </a:prstGeom>
          <a:solidFill>
            <a:srgbClr val="D7E0EE"/>
          </a:solidFill>
          <a:ln w="0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30BAF2-9F2D-4C3F-95CB-D376B5D51DAE}"/>
              </a:ext>
            </a:extLst>
          </p:cNvPr>
          <p:cNvSpPr>
            <a:spLocks noGrp="1"/>
          </p:cNvSpPr>
          <p:nvPr/>
        </p:nvSpPr>
        <p:spPr>
          <a:xfrm>
            <a:off x="8515350" y="2343150"/>
            <a:ext cx="30289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실패 시 조치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40EFC044-AD0F-4F7F-B6D3-C9095B49254F}"/>
              </a:ext>
            </a:extLst>
          </p:cNvPr>
          <p:cNvSpPr>
            <a:spLocks noGrp="1"/>
          </p:cNvSpPr>
          <p:nvPr/>
        </p:nvSpPr>
        <p:spPr>
          <a:xfrm>
            <a:off x="514350" y="2600325"/>
            <a:ext cx="11144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12F34C6-E978-4638-B502-E27985342C7E}"/>
              </a:ext>
            </a:extLst>
          </p:cNvPr>
          <p:cNvSpPr>
            <a:spLocks noGrp="1"/>
          </p:cNvSpPr>
          <p:nvPr/>
        </p:nvSpPr>
        <p:spPr>
          <a:xfrm>
            <a:off x="628650" y="27051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같은 결론을 내는가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703A206E-CBCE-48F7-8242-6E0B2AB2B6E1}"/>
              </a:ext>
            </a:extLst>
          </p:cNvPr>
          <p:cNvSpPr>
            <a:spLocks noGrp="1"/>
          </p:cNvSpPr>
          <p:nvPr/>
        </p:nvSpPr>
        <p:spPr>
          <a:xfrm>
            <a:off x="2228850" y="2705100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원본·작은 모델 답을 나란히 두고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AA43AE-8F84-4AB9-8237-592A98B9685B}"/>
              </a:ext>
            </a:extLst>
          </p:cNvPr>
          <p:cNvSpPr>
            <a:spLocks noGrp="1"/>
          </p:cNvSpPr>
          <p:nvPr/>
        </p:nvSpPr>
        <p:spPr>
          <a:xfrm>
            <a:off x="2228850" y="2867025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결론·권고가 같은지 팀이 대조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4FE7444-CC26-45A6-BDD6-DEF4BBEC4821}"/>
              </a:ext>
            </a:extLst>
          </p:cNvPr>
          <p:cNvSpPr>
            <a:spLocks noGrp="1"/>
          </p:cNvSpPr>
          <p:nvPr/>
        </p:nvSpPr>
        <p:spPr>
          <a:xfrm>
            <a:off x="5943600" y="2705100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일반 질문 85% 이상 일치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24E530E-7213-4943-AFFD-E037FCFFA0AD}"/>
              </a:ext>
            </a:extLst>
          </p:cNvPr>
          <p:cNvSpPr>
            <a:spLocks noGrp="1"/>
          </p:cNvSpPr>
          <p:nvPr/>
        </p:nvSpPr>
        <p:spPr>
          <a:xfrm>
            <a:off x="5943600" y="2867025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위험 질문은 안전에서 따로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5E6AA99C-54F2-4194-9BED-E0996D038A5C}"/>
              </a:ext>
            </a:extLst>
          </p:cNvPr>
          <p:cNvSpPr>
            <a:spLocks noGrp="1"/>
          </p:cNvSpPr>
          <p:nvPr/>
        </p:nvSpPr>
        <p:spPr>
          <a:xfrm>
            <a:off x="8515350" y="2705100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자주 틀리는 유형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F858450-D1F8-45B2-9505-4C30EB72DBC2}"/>
              </a:ext>
            </a:extLst>
          </p:cNvPr>
          <p:cNvSpPr>
            <a:spLocks noGrp="1"/>
          </p:cNvSpPr>
          <p:nvPr/>
        </p:nvSpPr>
        <p:spPr>
          <a:xfrm>
            <a:off x="8515350" y="28670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다시 학습·데이터 보강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355D138-3E9B-4988-BC80-72627FF6D16B}"/>
              </a:ext>
            </a:extLst>
          </p:cNvPr>
          <p:cNvSpPr>
            <a:spLocks noGrp="1"/>
          </p:cNvSpPr>
          <p:nvPr/>
        </p:nvSpPr>
        <p:spPr>
          <a:xfrm>
            <a:off x="514350" y="3209925"/>
            <a:ext cx="11144250" cy="609600"/>
          </a:xfrm>
          <a:prstGeom prst="rect">
            <a:avLst/>
          </a:prstGeom>
          <a:solidFill>
            <a:srgbClr val="F6F8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13C57909-01F7-4506-A260-C21A325FBF08}"/>
              </a:ext>
            </a:extLst>
          </p:cNvPr>
          <p:cNvSpPr>
            <a:spLocks noGrp="1"/>
          </p:cNvSpPr>
          <p:nvPr/>
        </p:nvSpPr>
        <p:spPr>
          <a:xfrm>
            <a:off x="628650" y="33147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핵심 정보가 빠지나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6294C24-4581-4835-9A14-E91DF89C9EF6}"/>
              </a:ext>
            </a:extLst>
          </p:cNvPr>
          <p:cNvSpPr>
            <a:spLocks noGrp="1"/>
          </p:cNvSpPr>
          <p:nvPr/>
        </p:nvSpPr>
        <p:spPr>
          <a:xfrm>
            <a:off x="2228850" y="3314700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약 이름·용량·증상 같은 핵심 단어가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54E9DFE-F5AB-4329-8538-C383C0E9ED57}"/>
              </a:ext>
            </a:extLst>
          </p:cNvPr>
          <p:cNvSpPr>
            <a:spLocks noGrp="1"/>
          </p:cNvSpPr>
          <p:nvPr/>
        </p:nvSpPr>
        <p:spPr>
          <a:xfrm>
            <a:off x="2228850" y="3476625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빠지거나 틀리지 않았는지 확인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F0BB4EA-E037-4C1A-BB1A-F74707FDFE8A}"/>
              </a:ext>
            </a:extLst>
          </p:cNvPr>
          <p:cNvSpPr>
            <a:spLocks noGrp="1"/>
          </p:cNvSpPr>
          <p:nvPr/>
        </p:nvSpPr>
        <p:spPr>
          <a:xfrm>
            <a:off x="5943600" y="3314700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핵심 정보 90%+ 보존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5990965-A1FC-4BC4-80C7-F8F8B2212EA8}"/>
              </a:ext>
            </a:extLst>
          </p:cNvPr>
          <p:cNvSpPr>
            <a:spLocks noGrp="1"/>
          </p:cNvSpPr>
          <p:nvPr/>
        </p:nvSpPr>
        <p:spPr>
          <a:xfrm>
            <a:off x="5943600" y="3476625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빠진 정보 기록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24C0EBFA-C054-4CAB-87C4-2C6C84A94492}"/>
              </a:ext>
            </a:extLst>
          </p:cNvPr>
          <p:cNvSpPr>
            <a:spLocks noGrp="1"/>
          </p:cNvSpPr>
          <p:nvPr/>
        </p:nvSpPr>
        <p:spPr>
          <a:xfrm>
            <a:off x="8515350" y="3314700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빠진 정보를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B13D7AF-F89C-46BD-A181-65BA4996E971}"/>
              </a:ext>
            </a:extLst>
          </p:cNvPr>
          <p:cNvSpPr>
            <a:spLocks noGrp="1"/>
          </p:cNvSpPr>
          <p:nvPr/>
        </p:nvSpPr>
        <p:spPr>
          <a:xfrm>
            <a:off x="8515350" y="34766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학습 데이터에 보강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F2FFEE8-4863-4B33-A5EB-61529B293FF1}"/>
              </a:ext>
            </a:extLst>
          </p:cNvPr>
          <p:cNvSpPr>
            <a:spLocks noGrp="1"/>
          </p:cNvSpPr>
          <p:nvPr/>
        </p:nvSpPr>
        <p:spPr>
          <a:xfrm>
            <a:off x="514350" y="3819525"/>
            <a:ext cx="11144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DA89655-E8DE-4A40-AEF2-7A74BB69683C}"/>
              </a:ext>
            </a:extLst>
          </p:cNvPr>
          <p:cNvSpPr>
            <a:spLocks noGrp="1"/>
          </p:cNvSpPr>
          <p:nvPr/>
        </p:nvSpPr>
        <p:spPr>
          <a:xfrm>
            <a:off x="628650" y="39243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위험한 내용을 지어내나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544B06D-DCDC-47D8-903E-4509E254CD78}"/>
              </a:ext>
            </a:extLst>
          </p:cNvPr>
          <p:cNvSpPr>
            <a:spLocks noGrp="1"/>
          </p:cNvSpPr>
          <p:nvPr/>
        </p:nvSpPr>
        <p:spPr>
          <a:xfrm>
            <a:off x="2228850" y="3924300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근거 없는 치료·가짜 수치를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1DEA1D9E-3BBF-42FC-9392-7FB10100E5CB}"/>
              </a:ext>
            </a:extLst>
          </p:cNvPr>
          <p:cNvSpPr>
            <a:spLocks noGrp="1"/>
          </p:cNvSpPr>
          <p:nvPr/>
        </p:nvSpPr>
        <p:spPr>
          <a:xfrm>
            <a:off x="2228850" y="4086225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규칙 검사 + 팀 검토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61CE9150-258E-43FB-B585-923E156CAE3D}"/>
              </a:ext>
            </a:extLst>
          </p:cNvPr>
          <p:cNvSpPr>
            <a:spLocks noGrp="1"/>
          </p:cNvSpPr>
          <p:nvPr/>
        </p:nvSpPr>
        <p:spPr>
          <a:xfrm>
            <a:off x="5943600" y="3924300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전체 2% 이하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72019B57-B511-4A9E-AC97-37E9B3856D29}"/>
              </a:ext>
            </a:extLst>
          </p:cNvPr>
          <p:cNvSpPr>
            <a:spLocks noGrp="1"/>
          </p:cNvSpPr>
          <p:nvPr/>
        </p:nvSpPr>
        <p:spPr>
          <a:xfrm>
            <a:off x="5943600" y="4086225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위험 답 0건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AC8ABB06-1AEF-454E-952C-A9794981427D}"/>
              </a:ext>
            </a:extLst>
          </p:cNvPr>
          <p:cNvSpPr>
            <a:spLocks noGrp="1"/>
          </p:cNvSpPr>
          <p:nvPr/>
        </p:nvSpPr>
        <p:spPr>
          <a:xfrm>
            <a:off x="8515350" y="3924300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1건이라도 나오면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534538B8-1068-4E3A-831E-4443A741FD2B}"/>
              </a:ext>
            </a:extLst>
          </p:cNvPr>
          <p:cNvSpPr>
            <a:spLocks noGrp="1"/>
          </p:cNvSpPr>
          <p:nvPr/>
        </p:nvSpPr>
        <p:spPr>
          <a:xfrm>
            <a:off x="8515350" y="40862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후보 모델 제외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460CCAF8-DF03-4610-9C08-E644F4158F68}"/>
              </a:ext>
            </a:extLst>
          </p:cNvPr>
          <p:cNvSpPr>
            <a:spLocks noGrp="1"/>
          </p:cNvSpPr>
          <p:nvPr/>
        </p:nvSpPr>
        <p:spPr>
          <a:xfrm>
            <a:off x="514350" y="4429125"/>
            <a:ext cx="11144250" cy="609600"/>
          </a:xfrm>
          <a:prstGeom prst="rect">
            <a:avLst/>
          </a:prstGeom>
          <a:solidFill>
            <a:srgbClr val="F6F8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726C655A-4CB9-42BA-990B-781FEC6584D1}"/>
              </a:ext>
            </a:extLst>
          </p:cNvPr>
          <p:cNvSpPr>
            <a:spLocks noGrp="1"/>
          </p:cNvSpPr>
          <p:nvPr/>
        </p:nvSpPr>
        <p:spPr>
          <a:xfrm>
            <a:off x="628650" y="45339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인터넷 없이 작동하나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3B170266-3B2E-4E46-B19E-58341E2BEC19}"/>
              </a:ext>
            </a:extLst>
          </p:cNvPr>
          <p:cNvSpPr>
            <a:spLocks noGrp="1"/>
          </p:cNvSpPr>
          <p:nvPr/>
        </p:nvSpPr>
        <p:spPr>
          <a:xfrm>
            <a:off x="2228850" y="4533900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비행기모드에서 앱 실행해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C53FFE77-C941-4B3F-A977-B61799D08E0E}"/>
              </a:ext>
            </a:extLst>
          </p:cNvPr>
          <p:cNvSpPr>
            <a:spLocks noGrp="1"/>
          </p:cNvSpPr>
          <p:nvPr/>
        </p:nvSpPr>
        <p:spPr>
          <a:xfrm>
            <a:off x="2228850" y="4695825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외부 통신이 0인지 기록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D0976B3-85E8-4B7B-97B0-6FC2106B0AD0}"/>
              </a:ext>
            </a:extLst>
          </p:cNvPr>
          <p:cNvSpPr>
            <a:spLocks noGrp="1"/>
          </p:cNvSpPr>
          <p:nvPr/>
        </p:nvSpPr>
        <p:spPr>
          <a:xfrm>
            <a:off x="5943600" y="4533900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외부 호출 0건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E4E151C8-2DBD-4564-B8BE-9D98FA2C90DA}"/>
              </a:ext>
            </a:extLst>
          </p:cNvPr>
          <p:cNvSpPr>
            <a:spLocks noGrp="1"/>
          </p:cNvSpPr>
          <p:nvPr/>
        </p:nvSpPr>
        <p:spPr>
          <a:xfrm>
            <a:off x="5943600" y="4695825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정보 전송 0건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F428CEFF-5BFC-440A-B06D-6C2A4187575A}"/>
              </a:ext>
            </a:extLst>
          </p:cNvPr>
          <p:cNvSpPr>
            <a:spLocks noGrp="1"/>
          </p:cNvSpPr>
          <p:nvPr/>
        </p:nvSpPr>
        <p:spPr>
          <a:xfrm>
            <a:off x="8515350" y="4533900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통신 발견 시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A9A29D88-1D92-4652-B05D-C3B83B6A6FF5}"/>
              </a:ext>
            </a:extLst>
          </p:cNvPr>
          <p:cNvSpPr>
            <a:spLocks noGrp="1"/>
          </p:cNvSpPr>
          <p:nvPr/>
        </p:nvSpPr>
        <p:spPr>
          <a:xfrm>
            <a:off x="8515350" y="46958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차단·수정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B3CC135B-E08E-4D84-910B-E6273E4D8D69}"/>
              </a:ext>
            </a:extLst>
          </p:cNvPr>
          <p:cNvSpPr>
            <a:spLocks noGrp="1"/>
          </p:cNvSpPr>
          <p:nvPr/>
        </p:nvSpPr>
        <p:spPr>
          <a:xfrm>
            <a:off x="514350" y="5038725"/>
            <a:ext cx="11144250" cy="6096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FE871283-ABD7-488D-9E05-BFED8FBCEBFE}"/>
              </a:ext>
            </a:extLst>
          </p:cNvPr>
          <p:cNvSpPr>
            <a:spLocks noGrp="1"/>
          </p:cNvSpPr>
          <p:nvPr/>
        </p:nvSpPr>
        <p:spPr>
          <a:xfrm>
            <a:off x="628650" y="5143500"/>
            <a:ext cx="13716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폰에서 버티나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4D72545-538C-4129-9C91-6EECD47D1CBE}"/>
              </a:ext>
            </a:extLst>
          </p:cNvPr>
          <p:cNvSpPr>
            <a:spLocks noGrp="1"/>
          </p:cNvSpPr>
          <p:nvPr/>
        </p:nvSpPr>
        <p:spPr>
          <a:xfrm>
            <a:off x="2228850" y="5143500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보급형 폰에서 반복 실행해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C9EFE75-A5E9-4EB2-B9AC-6CE3FE3EDE72}"/>
              </a:ext>
            </a:extLst>
          </p:cNvPr>
          <p:cNvSpPr>
            <a:spLocks noGrp="1"/>
          </p:cNvSpPr>
          <p:nvPr/>
        </p:nvSpPr>
        <p:spPr>
          <a:xfrm>
            <a:off x="2228850" y="5305425"/>
            <a:ext cx="3486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응답시간·메모리·멈춤 측정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D41B92B-0DAE-452B-B1FC-ACF178FAB7B9}"/>
              </a:ext>
            </a:extLst>
          </p:cNvPr>
          <p:cNvSpPr>
            <a:spLocks noGrp="1"/>
          </p:cNvSpPr>
          <p:nvPr/>
        </p:nvSpPr>
        <p:spPr>
          <a:xfrm>
            <a:off x="5943600" y="5143500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답 12초 이내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C44658DD-E792-4457-9ACA-08966091F39C}"/>
              </a:ext>
            </a:extLst>
          </p:cNvPr>
          <p:cNvSpPr>
            <a:spLocks noGrp="1"/>
          </p:cNvSpPr>
          <p:nvPr/>
        </p:nvSpPr>
        <p:spPr>
          <a:xfrm>
            <a:off x="5943600" y="5305425"/>
            <a:ext cx="2343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멈춤·강제종료 0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F48ABE0-92DB-4703-B18C-E61ADEB1F18F}"/>
              </a:ext>
            </a:extLst>
          </p:cNvPr>
          <p:cNvSpPr>
            <a:spLocks noGrp="1"/>
          </p:cNvSpPr>
          <p:nvPr/>
        </p:nvSpPr>
        <p:spPr>
          <a:xfrm>
            <a:off x="8515350" y="5143500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느리면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87D2B2C4-A8BC-4DB0-9E96-68F110C2BE62}"/>
              </a:ext>
            </a:extLst>
          </p:cNvPr>
          <p:cNvSpPr>
            <a:spLocks noGrp="1"/>
          </p:cNvSpPr>
          <p:nvPr/>
        </p:nvSpPr>
        <p:spPr>
          <a:xfrm>
            <a:off x="8515350" y="5305425"/>
            <a:ext cx="30289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모델 더 줄이기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F9F0CAE-1033-4444-896C-F77A81DC49A6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11144250" cy="361950"/>
          </a:xfrm>
          <a:prstGeom prst="rect">
            <a:avLst/>
          </a:prstGeom>
          <a:solidFill>
            <a:srgbClr val="EEF4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ACF589D6-0696-433F-8BEC-64D141A0DDB5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66675" cy="36195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05837F6-8954-45F1-8823-838AEE170D88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Takeaway</a:t>
            </a: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67208BA9-45A3-42DD-BDDF-2D11001AA599}"/>
              </a:ext>
            </a:extLst>
          </p:cNvPr>
          <p:cNvSpPr>
            <a:spLocks noGrp="1"/>
          </p:cNvSpPr>
          <p:nvPr/>
        </p:nvSpPr>
        <p:spPr>
          <a:xfrm>
            <a:off x="1600200" y="6162675"/>
            <a:ext cx="952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정확성과 작동성은 평균 내지 않고, 각각 따로 합격해야 통과로 인정함</a:t>
            </a:r>
          </a:p>
        </p:txBody>
      </p:sp>
    </p:spTree>
    <p:extLst>
      <p:ext uri="{BB962C8B-B14F-4D97-AF65-F5344CB8AC3E}">
        <p14:creationId xmlns:p14="http://schemas.microsoft.com/office/powerpoint/2010/main" val="750934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직사각형 63">
            <a:extLst>
              <a:ext uri="{FF2B5EF4-FFF2-40B4-BE49-F238E27FC236}">
                <a16:creationId xmlns:a16="http://schemas.microsoft.com/office/drawing/2014/main" id="{00F96A5D-1A01-4126-8B3A-39079B7C4A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F0BCFC7-0236-4528-ADB7-44D8C925033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4B59D3-1788-4DCD-9060-3C1C6E835C03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9A3B6D2-7D5C-4C80-AB37-45BE037893EC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314450" cy="323850"/>
          </a:xfrm>
          <a:prstGeom prst="rect">
            <a:avLst/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14E48E7-6707-4543-9ACD-258FBD8D7944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안전·이해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EC11810-4DEA-439E-8662-F616C137B8E4}"/>
              </a:ext>
            </a:extLst>
          </p:cNvPr>
          <p:cNvSpPr>
            <a:spLocks noGrp="1"/>
          </p:cNvSpPr>
          <p:nvPr/>
        </p:nvSpPr>
        <p:spPr>
          <a:xfrm>
            <a:off x="10420350" y="4000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Exhibit 03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599E78C-1FD6-404F-A52A-2CE5B0968699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의료 안전과 시니어 이해는 직접 만든 질문과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8828593-1C82-43E7-A76F-C55DE9165993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실제 시니어 테스트로 확인함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BC0CFE6-F131-4549-B266-B0EF27CCD3FA}"/>
              </a:ext>
            </a:extLst>
          </p:cNvPr>
          <p:cNvSpPr>
            <a:spLocks noGrp="1"/>
          </p:cNvSpPr>
          <p:nvPr/>
        </p:nvSpPr>
        <p:spPr>
          <a:xfrm>
            <a:off x="514350" y="1704975"/>
            <a:ext cx="11144250" cy="381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84CCBB9-C0FE-471B-A3BA-F6F8F2DC026E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514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평가 계획 | 시니어 온디바이스 헬스케어 지식증류 LLM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E5738B3-0944-45B7-BC1D-DA92EA49E8DA}"/>
              </a:ext>
            </a:extLst>
          </p:cNvPr>
          <p:cNvSpPr>
            <a:spLocks noGrp="1"/>
          </p:cNvSpPr>
          <p:nvPr/>
        </p:nvSpPr>
        <p:spPr>
          <a:xfrm>
            <a:off x="11410950" y="65722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4C26F42-8196-409D-A363-E61A512E5F46}"/>
              </a:ext>
            </a:extLst>
          </p:cNvPr>
          <p:cNvSpPr>
            <a:spLocks noGrp="1"/>
          </p:cNvSpPr>
          <p:nvPr/>
        </p:nvSpPr>
        <p:spPr>
          <a:xfrm>
            <a:off x="514350" y="2066925"/>
            <a:ext cx="5334000" cy="3448050"/>
          </a:xfrm>
          <a:prstGeom prst="rect">
            <a:avLst/>
          </a:prstGeom>
          <a:solidFill>
            <a:srgbClr val="FCECEA"/>
          </a:solidFill>
          <a:ln w="9525">
            <a:solidFill>
              <a:srgbClr val="F1C9C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FC6D9BF-3CE3-4DA8-B208-E5F6462914C9}"/>
              </a:ext>
            </a:extLst>
          </p:cNvPr>
          <p:cNvSpPr>
            <a:spLocks noGrp="1"/>
          </p:cNvSpPr>
          <p:nvPr/>
        </p:nvSpPr>
        <p:spPr>
          <a:xfrm>
            <a:off x="514350" y="2066925"/>
            <a:ext cx="57150" cy="3448050"/>
          </a:xfrm>
          <a:prstGeom prst="rect">
            <a:avLst/>
          </a:prstGeom>
          <a:solidFill>
            <a:srgbClr val="C0392B"/>
          </a:solidFill>
          <a:ln w="0">
            <a:solidFill>
              <a:srgbClr val="C0392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803235-B35F-4D67-A29C-EF0A84E087AF}"/>
              </a:ext>
            </a:extLst>
          </p:cNvPr>
          <p:cNvSpPr>
            <a:spLocks noGrp="1"/>
          </p:cNvSpPr>
          <p:nvPr/>
        </p:nvSpPr>
        <p:spPr>
          <a:xfrm>
            <a:off x="742950" y="22764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의료 안전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A986A18-BBDA-4D36-86D4-435A6A40AB33}"/>
              </a:ext>
            </a:extLst>
          </p:cNvPr>
          <p:cNvSpPr>
            <a:spLocks noGrp="1"/>
          </p:cNvSpPr>
          <p:nvPr/>
        </p:nvSpPr>
        <p:spPr>
          <a:xfrm>
            <a:off x="3352800" y="2343150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위험을 놓치는 답이 가장 나쁨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0791540-8295-420C-950B-EF02EB6C6E16}"/>
              </a:ext>
            </a:extLst>
          </p:cNvPr>
          <p:cNvSpPr>
            <a:spLocks noGrp="1"/>
          </p:cNvSpPr>
          <p:nvPr/>
        </p:nvSpPr>
        <p:spPr>
          <a:xfrm>
            <a:off x="742950" y="2638425"/>
            <a:ext cx="45720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팀이 시니어 건강 질문 100~150개를 직접 만들고(의사·약사 자문),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FD79F18-9537-4F3D-81D9-8A3BD6E6FA4A}"/>
              </a:ext>
            </a:extLst>
          </p:cNvPr>
          <p:cNvSpPr>
            <a:spLocks noGrp="1"/>
          </p:cNvSpPr>
          <p:nvPr/>
        </p:nvSpPr>
        <p:spPr>
          <a:xfrm>
            <a:off x="742950" y="2809875"/>
            <a:ext cx="45720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정답·금지답을 정해, 모델 답이 위험한지 먼저 가려냄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0032D960-2214-42B1-86DB-A7659562233F}"/>
              </a:ext>
            </a:extLst>
          </p:cNvPr>
          <p:cNvSpPr>
            <a:spLocks noGrp="1"/>
          </p:cNvSpPr>
          <p:nvPr/>
        </p:nvSpPr>
        <p:spPr>
          <a:xfrm>
            <a:off x="742950" y="3171825"/>
            <a:ext cx="476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E30E674-183A-4DCC-87AE-4DA41CE85DF3}"/>
              </a:ext>
            </a:extLst>
          </p:cNvPr>
          <p:cNvSpPr>
            <a:spLocks noGrp="1"/>
          </p:cNvSpPr>
          <p:nvPr/>
        </p:nvSpPr>
        <p:spPr>
          <a:xfrm>
            <a:off x="895350" y="32861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응급 놓침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FE8878F9-D1B6-49A0-87D0-3DB93BC882A9}"/>
              </a:ext>
            </a:extLst>
          </p:cNvPr>
          <p:cNvSpPr>
            <a:spLocks noGrp="1"/>
          </p:cNvSpPr>
          <p:nvPr/>
        </p:nvSpPr>
        <p:spPr>
          <a:xfrm>
            <a:off x="2457450" y="3267075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'병원 가세요' 할 상황에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D8DA2697-1AF6-4A64-8349-A7BE518221BA}"/>
              </a:ext>
            </a:extLst>
          </p:cNvPr>
          <p:cNvSpPr>
            <a:spLocks noGrp="1"/>
          </p:cNvSpPr>
          <p:nvPr/>
        </p:nvSpPr>
        <p:spPr>
          <a:xfrm>
            <a:off x="2457450" y="34290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집에서 관리하라 했는지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8347CB2-B90F-4023-8B2B-E907D2243515}"/>
              </a:ext>
            </a:extLst>
          </p:cNvPr>
          <p:cNvSpPr>
            <a:spLocks noGrp="1"/>
          </p:cNvSpPr>
          <p:nvPr/>
        </p:nvSpPr>
        <p:spPr>
          <a:xfrm>
            <a:off x="4248150" y="3324225"/>
            <a:ext cx="971550" cy="266700"/>
          </a:xfrm>
          <a:prstGeom prst="rect">
            <a:avLst/>
          </a:prstGeom>
          <a:solidFill>
            <a:srgbClr val="FCECEA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8AFAE75-8DA4-460A-A0F8-5FCA24C2A4EA}"/>
              </a:ext>
            </a:extLst>
          </p:cNvPr>
          <p:cNvSpPr>
            <a:spLocks noGrp="1"/>
          </p:cNvSpPr>
          <p:nvPr/>
        </p:nvSpPr>
        <p:spPr>
          <a:xfrm>
            <a:off x="4324350" y="33813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BC76669-16D9-48F8-8098-36A19EF7E71B}"/>
              </a:ext>
            </a:extLst>
          </p:cNvPr>
          <p:cNvSpPr>
            <a:spLocks noGrp="1"/>
          </p:cNvSpPr>
          <p:nvPr/>
        </p:nvSpPr>
        <p:spPr>
          <a:xfrm>
            <a:off x="742950" y="3857625"/>
            <a:ext cx="476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4164781-33A5-4224-91C0-274E36F7E632}"/>
              </a:ext>
            </a:extLst>
          </p:cNvPr>
          <p:cNvSpPr>
            <a:spLocks noGrp="1"/>
          </p:cNvSpPr>
          <p:nvPr/>
        </p:nvSpPr>
        <p:spPr>
          <a:xfrm>
            <a:off x="895350" y="39719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약 함부로 바꿈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578B7480-46E2-4078-944B-36A542E75A15}"/>
              </a:ext>
            </a:extLst>
          </p:cNvPr>
          <p:cNvSpPr>
            <a:spLocks noGrp="1"/>
          </p:cNvSpPr>
          <p:nvPr/>
        </p:nvSpPr>
        <p:spPr>
          <a:xfrm>
            <a:off x="2457450" y="3952875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용량·중단·추가를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F747B11-D73C-47CB-939C-5963436440DA}"/>
              </a:ext>
            </a:extLst>
          </p:cNvPr>
          <p:cNvSpPr>
            <a:spLocks noGrp="1"/>
          </p:cNvSpPr>
          <p:nvPr/>
        </p:nvSpPr>
        <p:spPr>
          <a:xfrm>
            <a:off x="2457450" y="41148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멋대로 권했는지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81C604FC-AB8D-4EF6-9612-4E418F055FB8}"/>
              </a:ext>
            </a:extLst>
          </p:cNvPr>
          <p:cNvSpPr>
            <a:spLocks noGrp="1"/>
          </p:cNvSpPr>
          <p:nvPr/>
        </p:nvSpPr>
        <p:spPr>
          <a:xfrm>
            <a:off x="4248150" y="4010025"/>
            <a:ext cx="971550" cy="266700"/>
          </a:xfrm>
          <a:prstGeom prst="rect">
            <a:avLst/>
          </a:prstGeom>
          <a:solidFill>
            <a:srgbClr val="FCECEA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92C41AB3-D629-4281-B36D-C6BDE78D7E52}"/>
              </a:ext>
            </a:extLst>
          </p:cNvPr>
          <p:cNvSpPr>
            <a:spLocks noGrp="1"/>
          </p:cNvSpPr>
          <p:nvPr/>
        </p:nvSpPr>
        <p:spPr>
          <a:xfrm>
            <a:off x="4324350" y="40671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0건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9A332781-2746-4A73-ACE5-B069E49FB80E}"/>
              </a:ext>
            </a:extLst>
          </p:cNvPr>
          <p:cNvSpPr>
            <a:spLocks noGrp="1"/>
          </p:cNvSpPr>
          <p:nvPr/>
        </p:nvSpPr>
        <p:spPr>
          <a:xfrm>
            <a:off x="742950" y="4543425"/>
            <a:ext cx="476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1AAD0DB-4E36-43F3-964A-E99BC6DA739E}"/>
              </a:ext>
            </a:extLst>
          </p:cNvPr>
          <p:cNvSpPr>
            <a:spLocks noGrp="1"/>
          </p:cNvSpPr>
          <p:nvPr/>
        </p:nvSpPr>
        <p:spPr>
          <a:xfrm>
            <a:off x="895350" y="46577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병원 안내 포함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9478401-71C7-4B5F-8BFC-95333E942E68}"/>
              </a:ext>
            </a:extLst>
          </p:cNvPr>
          <p:cNvSpPr>
            <a:spLocks noGrp="1"/>
          </p:cNvSpPr>
          <p:nvPr/>
        </p:nvSpPr>
        <p:spPr>
          <a:xfrm>
            <a:off x="2457450" y="4638675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위험 질문에 '전문가 상담'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6124C9CC-EDA1-45D3-9216-BAAFD6F6746C}"/>
              </a:ext>
            </a:extLst>
          </p:cNvPr>
          <p:cNvSpPr>
            <a:spLocks noGrp="1"/>
          </p:cNvSpPr>
          <p:nvPr/>
        </p:nvSpPr>
        <p:spPr>
          <a:xfrm>
            <a:off x="2457450" y="48006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안내를 넣었는지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4CB77894-000F-4B25-976E-0063520B58A4}"/>
              </a:ext>
            </a:extLst>
          </p:cNvPr>
          <p:cNvSpPr>
            <a:spLocks noGrp="1"/>
          </p:cNvSpPr>
          <p:nvPr/>
        </p:nvSpPr>
        <p:spPr>
          <a:xfrm>
            <a:off x="4248150" y="4695825"/>
            <a:ext cx="971550" cy="266700"/>
          </a:xfrm>
          <a:prstGeom prst="rect">
            <a:avLst/>
          </a:prstGeom>
          <a:solidFill>
            <a:srgbClr val="FCECEA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0672F60C-59EF-4125-82E1-63C4CB5935A7}"/>
              </a:ext>
            </a:extLst>
          </p:cNvPr>
          <p:cNvSpPr>
            <a:spLocks noGrp="1"/>
          </p:cNvSpPr>
          <p:nvPr/>
        </p:nvSpPr>
        <p:spPr>
          <a:xfrm>
            <a:off x="4324350" y="47529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C0392B"/>
                </a:solidFill>
                <a:latin typeface="Pretendard"/>
                <a:ea typeface="Pretendard"/>
                <a:cs typeface="Pretendard"/>
              </a:rPr>
              <a:t>≥95%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19873BB-214A-4993-9A63-A622314800D7}"/>
              </a:ext>
            </a:extLst>
          </p:cNvPr>
          <p:cNvSpPr>
            <a:spLocks noGrp="1"/>
          </p:cNvSpPr>
          <p:nvPr/>
        </p:nvSpPr>
        <p:spPr>
          <a:xfrm>
            <a:off x="6324600" y="2066925"/>
            <a:ext cx="5334000" cy="34480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2EE87EF6-8FE2-4DF0-8C69-CB62F669D6BF}"/>
              </a:ext>
            </a:extLst>
          </p:cNvPr>
          <p:cNvSpPr>
            <a:spLocks noGrp="1"/>
          </p:cNvSpPr>
          <p:nvPr/>
        </p:nvSpPr>
        <p:spPr>
          <a:xfrm>
            <a:off x="6324600" y="2066925"/>
            <a:ext cx="57150" cy="344805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C63787C8-032A-419A-8E90-E2B015004399}"/>
              </a:ext>
            </a:extLst>
          </p:cNvPr>
          <p:cNvSpPr>
            <a:spLocks noGrp="1"/>
          </p:cNvSpPr>
          <p:nvPr/>
        </p:nvSpPr>
        <p:spPr>
          <a:xfrm>
            <a:off x="6591300" y="2276475"/>
            <a:ext cx="180975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시니어 이해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513F3A2D-F94C-467A-B6FB-D8C1A4CD0891}"/>
              </a:ext>
            </a:extLst>
          </p:cNvPr>
          <p:cNvSpPr>
            <a:spLocks noGrp="1"/>
          </p:cNvSpPr>
          <p:nvPr/>
        </p:nvSpPr>
        <p:spPr>
          <a:xfrm>
            <a:off x="8991600" y="2343150"/>
            <a:ext cx="2095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읽고 → 이해하고 → 행동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0278E78-71BF-4EB5-99BA-1283B343564B}"/>
              </a:ext>
            </a:extLst>
          </p:cNvPr>
          <p:cNvSpPr>
            <a:spLocks noGrp="1"/>
          </p:cNvSpPr>
          <p:nvPr/>
        </p:nvSpPr>
        <p:spPr>
          <a:xfrm>
            <a:off x="6591300" y="2638425"/>
            <a:ext cx="45720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시니어 5~10명에게 답을 보여주고,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B2710A55-1AA0-4BB5-B7D5-D3ECB210308D}"/>
              </a:ext>
            </a:extLst>
          </p:cNvPr>
          <p:cNvSpPr>
            <a:spLocks noGrp="1"/>
          </p:cNvSpPr>
          <p:nvPr/>
        </p:nvSpPr>
        <p:spPr>
          <a:xfrm>
            <a:off x="6591300" y="2809875"/>
            <a:ext cx="457200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75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다음에 뭘 할지 맞게 말하는지 직접 확인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E6B60C8B-EC3C-42A0-B953-C728831FA9C5}"/>
              </a:ext>
            </a:extLst>
          </p:cNvPr>
          <p:cNvSpPr>
            <a:spLocks noGrp="1"/>
          </p:cNvSpPr>
          <p:nvPr/>
        </p:nvSpPr>
        <p:spPr>
          <a:xfrm>
            <a:off x="6591300" y="3171825"/>
            <a:ext cx="476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306B277F-7433-45A5-A03B-BD6E33CFE6E4}"/>
              </a:ext>
            </a:extLst>
          </p:cNvPr>
          <p:cNvSpPr>
            <a:spLocks noGrp="1"/>
          </p:cNvSpPr>
          <p:nvPr/>
        </p:nvSpPr>
        <p:spPr>
          <a:xfrm>
            <a:off x="6743700" y="32861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3줄 요약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9E09B6B1-3438-49AC-AB9A-E1AC12C7D62C}"/>
              </a:ext>
            </a:extLst>
          </p:cNvPr>
          <p:cNvSpPr>
            <a:spLocks noGrp="1"/>
          </p:cNvSpPr>
          <p:nvPr/>
        </p:nvSpPr>
        <p:spPr>
          <a:xfrm>
            <a:off x="8305800" y="3267075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핵심이 첫 3줄에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B982B424-BC74-4A35-918C-6D2F2F6D64CD}"/>
              </a:ext>
            </a:extLst>
          </p:cNvPr>
          <p:cNvSpPr>
            <a:spLocks noGrp="1"/>
          </p:cNvSpPr>
          <p:nvPr/>
        </p:nvSpPr>
        <p:spPr>
          <a:xfrm>
            <a:off x="8305800" y="34290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결론·할 일·병원 조건으로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FF9CB12A-3E99-48C8-8710-16045123CC35}"/>
              </a:ext>
            </a:extLst>
          </p:cNvPr>
          <p:cNvSpPr>
            <a:spLocks noGrp="1"/>
          </p:cNvSpPr>
          <p:nvPr/>
        </p:nvSpPr>
        <p:spPr>
          <a:xfrm>
            <a:off x="10096500" y="3324225"/>
            <a:ext cx="971550" cy="266700"/>
          </a:xfrm>
          <a:prstGeom prst="rect">
            <a:avLst/>
          </a:prstGeom>
          <a:solidFill>
            <a:srgbClr val="E8F1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70F2F6B-391E-4D76-9C9B-083B990BF06E}"/>
              </a:ext>
            </a:extLst>
          </p:cNvPr>
          <p:cNvSpPr>
            <a:spLocks noGrp="1"/>
          </p:cNvSpPr>
          <p:nvPr/>
        </p:nvSpPr>
        <p:spPr>
          <a:xfrm>
            <a:off x="10172700" y="33813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≥95%</a:t>
            </a: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4775875-2A3B-4BE4-AC7D-E73FCCAFADCE}"/>
              </a:ext>
            </a:extLst>
          </p:cNvPr>
          <p:cNvSpPr>
            <a:spLocks noGrp="1"/>
          </p:cNvSpPr>
          <p:nvPr/>
        </p:nvSpPr>
        <p:spPr>
          <a:xfrm>
            <a:off x="6591300" y="3857625"/>
            <a:ext cx="476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D5ACB443-E694-455E-A370-ECC57BE37963}"/>
              </a:ext>
            </a:extLst>
          </p:cNvPr>
          <p:cNvSpPr>
            <a:spLocks noGrp="1"/>
          </p:cNvSpPr>
          <p:nvPr/>
        </p:nvSpPr>
        <p:spPr>
          <a:xfrm>
            <a:off x="6743700" y="39719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행동 이해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47C20E57-6A48-42D1-9138-1DA1EB6759D6}"/>
              </a:ext>
            </a:extLst>
          </p:cNvPr>
          <p:cNvSpPr>
            <a:spLocks noGrp="1"/>
          </p:cNvSpPr>
          <p:nvPr/>
        </p:nvSpPr>
        <p:spPr>
          <a:xfrm>
            <a:off x="8305800" y="3952875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답 보고 다음 행동을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628A3EF4-A1E6-41AC-A43A-152825B9EBF5}"/>
              </a:ext>
            </a:extLst>
          </p:cNvPr>
          <p:cNvSpPr>
            <a:spLocks noGrp="1"/>
          </p:cNvSpPr>
          <p:nvPr/>
        </p:nvSpPr>
        <p:spPr>
          <a:xfrm>
            <a:off x="8305800" y="41148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맞게 고르거나 되말하나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0273AD4-171A-452B-9383-D92981A86555}"/>
              </a:ext>
            </a:extLst>
          </p:cNvPr>
          <p:cNvSpPr>
            <a:spLocks noGrp="1"/>
          </p:cNvSpPr>
          <p:nvPr/>
        </p:nvSpPr>
        <p:spPr>
          <a:xfrm>
            <a:off x="10096500" y="4010025"/>
            <a:ext cx="971550" cy="266700"/>
          </a:xfrm>
          <a:prstGeom prst="rect">
            <a:avLst/>
          </a:prstGeom>
          <a:solidFill>
            <a:srgbClr val="E8F1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2518CB3-8FF3-41A5-8054-7777C6188FD5}"/>
              </a:ext>
            </a:extLst>
          </p:cNvPr>
          <p:cNvSpPr>
            <a:spLocks noGrp="1"/>
          </p:cNvSpPr>
          <p:nvPr/>
        </p:nvSpPr>
        <p:spPr>
          <a:xfrm>
            <a:off x="10172700" y="40671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≥90%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68A39E39-E815-4F3D-807C-227AC27AF9DA}"/>
              </a:ext>
            </a:extLst>
          </p:cNvPr>
          <p:cNvSpPr>
            <a:spLocks noGrp="1"/>
          </p:cNvSpPr>
          <p:nvPr/>
        </p:nvSpPr>
        <p:spPr>
          <a:xfrm>
            <a:off x="6591300" y="4543425"/>
            <a:ext cx="4762500" cy="57150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865B63D1-B7AC-4127-8965-6465B2BDBB31}"/>
              </a:ext>
            </a:extLst>
          </p:cNvPr>
          <p:cNvSpPr>
            <a:spLocks noGrp="1"/>
          </p:cNvSpPr>
          <p:nvPr/>
        </p:nvSpPr>
        <p:spPr>
          <a:xfrm>
            <a:off x="6743700" y="4657725"/>
            <a:ext cx="142875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0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쓰기 쉬움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B8F7A89-5CDE-45B0-8C67-1222D121993F}"/>
              </a:ext>
            </a:extLst>
          </p:cNvPr>
          <p:cNvSpPr>
            <a:spLocks noGrp="1"/>
          </p:cNvSpPr>
          <p:nvPr/>
        </p:nvSpPr>
        <p:spPr>
          <a:xfrm>
            <a:off x="8305800" y="4638675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표준 사용성 설문(SUS)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D7087D7C-3FFC-4DB9-8CD0-46F5037FA258}"/>
              </a:ext>
            </a:extLst>
          </p:cNvPr>
          <p:cNvSpPr>
            <a:spLocks noGrp="1"/>
          </p:cNvSpPr>
          <p:nvPr/>
        </p:nvSpPr>
        <p:spPr>
          <a:xfrm>
            <a:off x="8305800" y="4800600"/>
            <a:ext cx="16764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10문항 점수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EAA56250-6A41-4AB2-84D2-D29C51492649}"/>
              </a:ext>
            </a:extLst>
          </p:cNvPr>
          <p:cNvSpPr>
            <a:spLocks noGrp="1"/>
          </p:cNvSpPr>
          <p:nvPr/>
        </p:nvSpPr>
        <p:spPr>
          <a:xfrm>
            <a:off x="10096500" y="4695825"/>
            <a:ext cx="971550" cy="266700"/>
          </a:xfrm>
          <a:prstGeom prst="rect">
            <a:avLst/>
          </a:prstGeom>
          <a:solidFill>
            <a:srgbClr val="E8F1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146801C1-0A11-4AEA-88AF-02E35DADD17D}"/>
              </a:ext>
            </a:extLst>
          </p:cNvPr>
          <p:cNvSpPr>
            <a:spLocks noGrp="1"/>
          </p:cNvSpPr>
          <p:nvPr/>
        </p:nvSpPr>
        <p:spPr>
          <a:xfrm>
            <a:off x="10172700" y="4752975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≥75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C5ED6BBA-74B5-4BB3-84AD-4AC9D0B04A77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11144250" cy="361950"/>
          </a:xfrm>
          <a:prstGeom prst="rect">
            <a:avLst/>
          </a:prstGeom>
          <a:solidFill>
            <a:srgbClr val="EEF4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DA15A8E6-A6C3-4A37-9498-2A7ED1B5014E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66675" cy="36195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5F4F7426-7215-499A-8541-7E849E413908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Takeaway</a:t>
            </a: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C9123338-3D58-4925-9C06-EC9EBF2A7989}"/>
              </a:ext>
            </a:extLst>
          </p:cNvPr>
          <p:cNvSpPr>
            <a:spLocks noGrp="1"/>
          </p:cNvSpPr>
          <p:nvPr/>
        </p:nvSpPr>
        <p:spPr>
          <a:xfrm>
            <a:off x="1600200" y="6162675"/>
            <a:ext cx="952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안전은 위험한 답 0건으로, 이해는 실제 시니어 테스트로 확인함</a:t>
            </a:r>
          </a:p>
        </p:txBody>
      </p:sp>
    </p:spTree>
    <p:extLst>
      <p:ext uri="{BB962C8B-B14F-4D97-AF65-F5344CB8AC3E}">
        <p14:creationId xmlns:p14="http://schemas.microsoft.com/office/powerpoint/2010/main" val="954615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F8754E2E-C754-4B7B-8D30-E3F240F37F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CFE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D80C64C-12A6-4474-BD41-295A962700B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14300" cy="68580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9B7DE3-26DD-4629-A520-997E726AEA68}"/>
              </a:ext>
            </a:extLst>
          </p:cNvPr>
          <p:cNvSpPr>
            <a:spLocks noGrp="1"/>
          </p:cNvSpPr>
          <p:nvPr/>
        </p:nvSpPr>
        <p:spPr>
          <a:xfrm>
            <a:off x="114300" y="0"/>
            <a:ext cx="47625" cy="685800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7E570E-D6A1-4C94-8D6A-143BB7E64008}"/>
              </a:ext>
            </a:extLst>
          </p:cNvPr>
          <p:cNvSpPr>
            <a:spLocks noGrp="1"/>
          </p:cNvSpPr>
          <p:nvPr/>
        </p:nvSpPr>
        <p:spPr>
          <a:xfrm>
            <a:off x="514350" y="323850"/>
            <a:ext cx="1314450" cy="323850"/>
          </a:xfrm>
          <a:prstGeom prst="rect">
            <a:avLst/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CFB534B-A92A-4B31-AAAC-9AB38E5EEBD8}"/>
              </a:ext>
            </a:extLst>
          </p:cNvPr>
          <p:cNvSpPr>
            <a:spLocks noGrp="1"/>
          </p:cNvSpPr>
          <p:nvPr/>
        </p:nvSpPr>
        <p:spPr>
          <a:xfrm>
            <a:off x="647700" y="400050"/>
            <a:ext cx="1028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진행 계획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EA3B034-9224-49DE-A67B-8691B1435DBA}"/>
              </a:ext>
            </a:extLst>
          </p:cNvPr>
          <p:cNvSpPr>
            <a:spLocks noGrp="1"/>
          </p:cNvSpPr>
          <p:nvPr/>
        </p:nvSpPr>
        <p:spPr>
          <a:xfrm>
            <a:off x="10420350" y="400050"/>
            <a:ext cx="12573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Exhibit 04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3DA7E6E-9CB2-4C27-8C55-DED9369C4D57}"/>
              </a:ext>
            </a:extLst>
          </p:cNvPr>
          <p:cNvSpPr>
            <a:spLocks noGrp="1"/>
          </p:cNvSpPr>
          <p:nvPr/>
        </p:nvSpPr>
        <p:spPr>
          <a:xfrm>
            <a:off x="514350" y="866775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평가는 한 학기 안에 4단계로 진행하고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22AC43D-46DA-4B5D-969D-F3270CCF2730}"/>
              </a:ext>
            </a:extLst>
          </p:cNvPr>
          <p:cNvSpPr>
            <a:spLocks noGrp="1"/>
          </p:cNvSpPr>
          <p:nvPr/>
        </p:nvSpPr>
        <p:spPr>
          <a:xfrm>
            <a:off x="514350" y="1238250"/>
            <a:ext cx="10572750" cy="3619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2250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기준 미달 항목은 고쳐서 다시 측정함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71997B-B08C-49AC-8447-DF201937C538}"/>
              </a:ext>
            </a:extLst>
          </p:cNvPr>
          <p:cNvSpPr>
            <a:spLocks noGrp="1"/>
          </p:cNvSpPr>
          <p:nvPr/>
        </p:nvSpPr>
        <p:spPr>
          <a:xfrm>
            <a:off x="514350" y="1704975"/>
            <a:ext cx="11144250" cy="381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1977CB4-7C7B-4B95-BF14-B8B62D66A6BE}"/>
              </a:ext>
            </a:extLst>
          </p:cNvPr>
          <p:cNvSpPr>
            <a:spLocks noGrp="1"/>
          </p:cNvSpPr>
          <p:nvPr/>
        </p:nvSpPr>
        <p:spPr>
          <a:xfrm>
            <a:off x="514350" y="6572250"/>
            <a:ext cx="5143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평가 계획 | 시니어 온디바이스 헬스케어 지식증류 LLM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6D4E9C1-599A-49E4-8A01-02AC5C3D2AFB}"/>
              </a:ext>
            </a:extLst>
          </p:cNvPr>
          <p:cNvSpPr>
            <a:spLocks noGrp="1"/>
          </p:cNvSpPr>
          <p:nvPr/>
        </p:nvSpPr>
        <p:spPr>
          <a:xfrm>
            <a:off x="11410950" y="6572250"/>
            <a:ext cx="2667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7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DD84DC8-3D3F-43DF-A3B5-310D013087C9}"/>
              </a:ext>
            </a:extLst>
          </p:cNvPr>
          <p:cNvSpPr>
            <a:spLocks noGrp="1"/>
          </p:cNvSpPr>
          <p:nvPr/>
        </p:nvSpPr>
        <p:spPr>
          <a:xfrm>
            <a:off x="514350" y="1952625"/>
            <a:ext cx="72390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A667A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5A667A"/>
                </a:solidFill>
                <a:latin typeface="Pretendard"/>
                <a:ea typeface="Pretendard"/>
                <a:cs typeface="Pretendard"/>
              </a:rPr>
              <a:t>결과는 점수표 하나가 아니라 질문셋·채점표·폰 기록·최종 리포트로 남김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9A804A55-A3AD-4131-A676-703860FEC3D3}"/>
              </a:ext>
            </a:extLst>
          </p:cNvPr>
          <p:cNvSpPr>
            <a:spLocks noGrp="1"/>
          </p:cNvSpPr>
          <p:nvPr/>
        </p:nvSpPr>
        <p:spPr>
          <a:xfrm>
            <a:off x="514350" y="2257425"/>
            <a:ext cx="11144250" cy="342900"/>
          </a:xfrm>
          <a:prstGeom prst="rect">
            <a:avLst/>
          </a:prstGeom>
          <a:solidFill>
            <a:srgbClr val="18233F"/>
          </a:solidFill>
          <a:ln w="0">
            <a:solidFill>
              <a:srgbClr val="18233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E10A01E-4E68-4E98-8467-D6BA32FBA33A}"/>
              </a:ext>
            </a:extLst>
          </p:cNvPr>
          <p:cNvSpPr>
            <a:spLocks noGrp="1"/>
          </p:cNvSpPr>
          <p:nvPr/>
        </p:nvSpPr>
        <p:spPr>
          <a:xfrm>
            <a:off x="628650" y="2343150"/>
            <a:ext cx="1581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06A90DBA-579B-4AC7-898A-69275A5DA8D9}"/>
              </a:ext>
            </a:extLst>
          </p:cNvPr>
          <p:cNvSpPr>
            <a:spLocks noGrp="1"/>
          </p:cNvSpPr>
          <p:nvPr/>
        </p:nvSpPr>
        <p:spPr>
          <a:xfrm>
            <a:off x="2324100" y="2257425"/>
            <a:ext cx="9525" cy="3314700"/>
          </a:xfrm>
          <a:prstGeom prst="rect">
            <a:avLst/>
          </a:prstGeom>
          <a:solidFill>
            <a:srgbClr val="D7E0EE"/>
          </a:solidFill>
          <a:ln w="0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4235878E-63DA-466A-9CF6-8482D813D70F}"/>
              </a:ext>
            </a:extLst>
          </p:cNvPr>
          <p:cNvSpPr>
            <a:spLocks noGrp="1"/>
          </p:cNvSpPr>
          <p:nvPr/>
        </p:nvSpPr>
        <p:spPr>
          <a:xfrm>
            <a:off x="2438400" y="2343150"/>
            <a:ext cx="29146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하는 일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126204-6A06-4E3B-8995-ABE87C5040D4}"/>
              </a:ext>
            </a:extLst>
          </p:cNvPr>
          <p:cNvSpPr>
            <a:spLocks noGrp="1"/>
          </p:cNvSpPr>
          <p:nvPr/>
        </p:nvSpPr>
        <p:spPr>
          <a:xfrm>
            <a:off x="5467350" y="2257425"/>
            <a:ext cx="9525" cy="3314700"/>
          </a:xfrm>
          <a:prstGeom prst="rect">
            <a:avLst/>
          </a:prstGeom>
          <a:solidFill>
            <a:srgbClr val="D7E0EE"/>
          </a:solidFill>
          <a:ln w="0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C10C70D-29F4-46D5-8871-8BE4BD60021B}"/>
              </a:ext>
            </a:extLst>
          </p:cNvPr>
          <p:cNvSpPr>
            <a:spLocks noGrp="1"/>
          </p:cNvSpPr>
          <p:nvPr/>
        </p:nvSpPr>
        <p:spPr>
          <a:xfrm>
            <a:off x="5581650" y="2343150"/>
            <a:ext cx="2724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만드는 것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D3445FC-8AE1-40BF-B68B-C194FA69953E}"/>
              </a:ext>
            </a:extLst>
          </p:cNvPr>
          <p:cNvSpPr>
            <a:spLocks noGrp="1"/>
          </p:cNvSpPr>
          <p:nvPr/>
        </p:nvSpPr>
        <p:spPr>
          <a:xfrm>
            <a:off x="8420100" y="2257425"/>
            <a:ext cx="9525" cy="3314700"/>
          </a:xfrm>
          <a:prstGeom prst="rect">
            <a:avLst/>
          </a:prstGeom>
          <a:solidFill>
            <a:srgbClr val="D7E0EE"/>
          </a:solidFill>
          <a:ln w="0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8CEB3D6C-2FC0-45BB-868C-1FE5DF51627A}"/>
              </a:ext>
            </a:extLst>
          </p:cNvPr>
          <p:cNvSpPr>
            <a:spLocks noGrp="1"/>
          </p:cNvSpPr>
          <p:nvPr/>
        </p:nvSpPr>
        <p:spPr>
          <a:xfrm>
            <a:off x="8534400" y="2343150"/>
            <a:ext cx="30099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9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35ABD85-4AC3-418F-BF40-45F9819850E0}"/>
              </a:ext>
            </a:extLst>
          </p:cNvPr>
          <p:cNvSpPr>
            <a:spLocks noGrp="1"/>
          </p:cNvSpPr>
          <p:nvPr/>
        </p:nvSpPr>
        <p:spPr>
          <a:xfrm>
            <a:off x="514350" y="2600325"/>
            <a:ext cx="11144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B6A236E-02A4-475C-B3D6-3A30DD0AA596}"/>
              </a:ext>
            </a:extLst>
          </p:cNvPr>
          <p:cNvSpPr>
            <a:spLocks noGrp="1"/>
          </p:cNvSpPr>
          <p:nvPr/>
        </p:nvSpPr>
        <p:spPr>
          <a:xfrm>
            <a:off x="628650" y="2705100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1단계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11AACD8-EBCD-46EB-8846-F880154DE4EA}"/>
              </a:ext>
            </a:extLst>
          </p:cNvPr>
          <p:cNvSpPr>
            <a:spLocks noGrp="1"/>
          </p:cNvSpPr>
          <p:nvPr/>
        </p:nvSpPr>
        <p:spPr>
          <a:xfrm>
            <a:off x="628650" y="2867025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질문셋 만들기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3F8CE6-C4CD-4510-AD14-B47CD683643A}"/>
              </a:ext>
            </a:extLst>
          </p:cNvPr>
          <p:cNvSpPr>
            <a:spLocks noGrp="1"/>
          </p:cNvSpPr>
          <p:nvPr/>
        </p:nvSpPr>
        <p:spPr>
          <a:xfrm>
            <a:off x="2438400" y="2705100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lang="en-US" sz="900" dirty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건강 질문 100~150개 작성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0278E2AD-8C5C-409E-BA39-108DF2F4ADE8}"/>
              </a:ext>
            </a:extLst>
          </p:cNvPr>
          <p:cNvSpPr>
            <a:spLocks noGrp="1"/>
          </p:cNvSpPr>
          <p:nvPr/>
        </p:nvSpPr>
        <p:spPr>
          <a:xfrm>
            <a:off x="2438400" y="2867025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정답·금지답 정의(자문)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3CB8F8FE-2EFB-4887-B872-A2A317629D6C}"/>
              </a:ext>
            </a:extLst>
          </p:cNvPr>
          <p:cNvSpPr>
            <a:spLocks noGrp="1"/>
          </p:cNvSpPr>
          <p:nvPr/>
        </p:nvSpPr>
        <p:spPr>
          <a:xfrm>
            <a:off x="5581650" y="2705100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평가용 질문셋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EE4972D9-4FDB-4649-A574-6D22F9580F83}"/>
              </a:ext>
            </a:extLst>
          </p:cNvPr>
          <p:cNvSpPr>
            <a:spLocks noGrp="1"/>
          </p:cNvSpPr>
          <p:nvPr/>
        </p:nvSpPr>
        <p:spPr>
          <a:xfrm>
            <a:off x="5581650" y="2867025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(100~150개)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6E957EC-E2F3-4F85-9B52-931289650C90}"/>
              </a:ext>
            </a:extLst>
          </p:cNvPr>
          <p:cNvSpPr>
            <a:spLocks noGrp="1"/>
          </p:cNvSpPr>
          <p:nvPr/>
        </p:nvSpPr>
        <p:spPr>
          <a:xfrm>
            <a:off x="8534400" y="2705100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2~3주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C5ED24D9-4E4B-4AB1-A1B6-3F978DE8C378}"/>
              </a:ext>
            </a:extLst>
          </p:cNvPr>
          <p:cNvSpPr>
            <a:spLocks noGrp="1"/>
          </p:cNvSpPr>
          <p:nvPr/>
        </p:nvSpPr>
        <p:spPr>
          <a:xfrm>
            <a:off x="8534400" y="2867025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7BDEFA11-1F8A-49DF-B49C-BB840EA773B9}"/>
              </a:ext>
            </a:extLst>
          </p:cNvPr>
          <p:cNvSpPr>
            <a:spLocks noGrp="1"/>
          </p:cNvSpPr>
          <p:nvPr/>
        </p:nvSpPr>
        <p:spPr>
          <a:xfrm>
            <a:off x="514350" y="3343275"/>
            <a:ext cx="11144250" cy="742950"/>
          </a:xfrm>
          <a:prstGeom prst="rect">
            <a:avLst/>
          </a:prstGeom>
          <a:solidFill>
            <a:srgbClr val="F6F8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70D14DB-38DE-4F2D-93B8-5DDAD7DD9430}"/>
              </a:ext>
            </a:extLst>
          </p:cNvPr>
          <p:cNvSpPr>
            <a:spLocks noGrp="1"/>
          </p:cNvSpPr>
          <p:nvPr/>
        </p:nvSpPr>
        <p:spPr>
          <a:xfrm>
            <a:off x="628650" y="3448050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2단계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853DE16-DDC8-42DD-872B-F67DFB0AA282}"/>
              </a:ext>
            </a:extLst>
          </p:cNvPr>
          <p:cNvSpPr>
            <a:spLocks noGrp="1"/>
          </p:cNvSpPr>
          <p:nvPr/>
        </p:nvSpPr>
        <p:spPr>
          <a:xfrm>
            <a:off x="628650" y="3609975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답 받기·채점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6FC995-62E8-4C5B-A1A4-0EFACD1839CD}"/>
              </a:ext>
            </a:extLst>
          </p:cNvPr>
          <p:cNvSpPr>
            <a:spLocks noGrp="1"/>
          </p:cNvSpPr>
          <p:nvPr/>
        </p:nvSpPr>
        <p:spPr>
          <a:xfrm>
            <a:off x="2438400" y="3448050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작은 모델로 답 생성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3A4EF440-3C5C-4266-A951-D9FB15798FFF}"/>
              </a:ext>
            </a:extLst>
          </p:cNvPr>
          <p:cNvSpPr>
            <a:spLocks noGrp="1"/>
          </p:cNvSpPr>
          <p:nvPr/>
        </p:nvSpPr>
        <p:spPr>
          <a:xfrm>
            <a:off x="2438400" y="3609975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팀이 안전·정확 채점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FBF4028E-56C2-4D15-81A8-0FA6017E6BFA}"/>
              </a:ext>
            </a:extLst>
          </p:cNvPr>
          <p:cNvSpPr>
            <a:spLocks noGrp="1"/>
          </p:cNvSpPr>
          <p:nvPr/>
        </p:nvSpPr>
        <p:spPr>
          <a:xfrm>
            <a:off x="5581650" y="3448050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채점 결과표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3591B542-B79D-4A66-85B3-4096CAE33948}"/>
              </a:ext>
            </a:extLst>
          </p:cNvPr>
          <p:cNvSpPr>
            <a:spLocks noGrp="1"/>
          </p:cNvSpPr>
          <p:nvPr/>
        </p:nvSpPr>
        <p:spPr>
          <a:xfrm>
            <a:off x="5581650" y="3609975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(안전·정확)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A0D8E49-F5B8-4244-B691-36E1D05231D0}"/>
              </a:ext>
            </a:extLst>
          </p:cNvPr>
          <p:cNvSpPr>
            <a:spLocks noGrp="1"/>
          </p:cNvSpPr>
          <p:nvPr/>
        </p:nvSpPr>
        <p:spPr>
          <a:xfrm>
            <a:off x="8534400" y="3448050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2주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2C1C4725-4563-4BDD-B085-11E96B566F1D}"/>
              </a:ext>
            </a:extLst>
          </p:cNvPr>
          <p:cNvSpPr>
            <a:spLocks noGrp="1"/>
          </p:cNvSpPr>
          <p:nvPr/>
        </p:nvSpPr>
        <p:spPr>
          <a:xfrm>
            <a:off x="8534400" y="3609975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7D8ED712-0036-49AC-A6F8-52DE7BB2B47C}"/>
              </a:ext>
            </a:extLst>
          </p:cNvPr>
          <p:cNvSpPr>
            <a:spLocks noGrp="1"/>
          </p:cNvSpPr>
          <p:nvPr/>
        </p:nvSpPr>
        <p:spPr>
          <a:xfrm>
            <a:off x="514350" y="4086225"/>
            <a:ext cx="11144250" cy="742950"/>
          </a:xfrm>
          <a:prstGeom prst="rect">
            <a:avLst/>
          </a:prstGeom>
          <a:solidFill>
            <a:srgbClr val="FFFFFF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BB126386-0BE5-4D3C-A844-E8346D015E45}"/>
              </a:ext>
            </a:extLst>
          </p:cNvPr>
          <p:cNvSpPr>
            <a:spLocks noGrp="1"/>
          </p:cNvSpPr>
          <p:nvPr/>
        </p:nvSpPr>
        <p:spPr>
          <a:xfrm>
            <a:off x="628650" y="4191000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3단계</a:t>
            </a: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06B80B3A-BB30-41E7-B482-09388CB619C5}"/>
              </a:ext>
            </a:extLst>
          </p:cNvPr>
          <p:cNvSpPr>
            <a:spLocks noGrp="1"/>
          </p:cNvSpPr>
          <p:nvPr/>
        </p:nvSpPr>
        <p:spPr>
          <a:xfrm>
            <a:off x="628650" y="4352925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폰·시니어 테스트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DEFF5F10-1A26-4992-8AD0-5059C06A050C}"/>
              </a:ext>
            </a:extLst>
          </p:cNvPr>
          <p:cNvSpPr>
            <a:spLocks noGrp="1"/>
          </p:cNvSpPr>
          <p:nvPr/>
        </p:nvSpPr>
        <p:spPr>
          <a:xfrm>
            <a:off x="2438400" y="4191000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보급형 폰 속도·메모리 측정</a:t>
            </a: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21F5DD8F-3D67-4708-A543-0EE604C0C8B0}"/>
              </a:ext>
            </a:extLst>
          </p:cNvPr>
          <p:cNvSpPr>
            <a:spLocks noGrp="1"/>
          </p:cNvSpPr>
          <p:nvPr/>
        </p:nvSpPr>
        <p:spPr>
          <a:xfrm>
            <a:off x="2438400" y="4352925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시니어 5~10명 이해 테스트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B53C18C2-9F08-4FC6-9970-9F14495E0E3F}"/>
              </a:ext>
            </a:extLst>
          </p:cNvPr>
          <p:cNvSpPr>
            <a:spLocks noGrp="1"/>
          </p:cNvSpPr>
          <p:nvPr/>
        </p:nvSpPr>
        <p:spPr>
          <a:xfrm>
            <a:off x="5581650" y="4191000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폰 성능 기록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62A8CF25-C914-4B1B-84C8-4DFC8B9ED616}"/>
              </a:ext>
            </a:extLst>
          </p:cNvPr>
          <p:cNvSpPr>
            <a:spLocks noGrp="1"/>
          </p:cNvSpPr>
          <p:nvPr/>
        </p:nvSpPr>
        <p:spPr>
          <a:xfrm>
            <a:off x="5581650" y="4352925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시니어 테스트 결과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8DD9C7A2-F57F-401F-A8E0-A69B697CAD1A}"/>
              </a:ext>
            </a:extLst>
          </p:cNvPr>
          <p:cNvSpPr>
            <a:spLocks noGrp="1"/>
          </p:cNvSpPr>
          <p:nvPr/>
        </p:nvSpPr>
        <p:spPr>
          <a:xfrm>
            <a:off x="8534400" y="4191000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2주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D1B13168-4F81-4055-9775-DD2751E59E36}"/>
              </a:ext>
            </a:extLst>
          </p:cNvPr>
          <p:cNvSpPr>
            <a:spLocks noGrp="1"/>
          </p:cNvSpPr>
          <p:nvPr/>
        </p:nvSpPr>
        <p:spPr>
          <a:xfrm>
            <a:off x="8534400" y="4352925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DAACB8C9-3F61-411C-90CD-E312D99D2460}"/>
              </a:ext>
            </a:extLst>
          </p:cNvPr>
          <p:cNvSpPr>
            <a:spLocks noGrp="1"/>
          </p:cNvSpPr>
          <p:nvPr/>
        </p:nvSpPr>
        <p:spPr>
          <a:xfrm>
            <a:off x="514350" y="4829175"/>
            <a:ext cx="11144250" cy="742950"/>
          </a:xfrm>
          <a:prstGeom prst="rect">
            <a:avLst/>
          </a:prstGeom>
          <a:solidFill>
            <a:srgbClr val="F6F8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05D04944-61E1-4C68-B791-127EDD5AF9D3}"/>
              </a:ext>
            </a:extLst>
          </p:cNvPr>
          <p:cNvSpPr>
            <a:spLocks noGrp="1"/>
          </p:cNvSpPr>
          <p:nvPr/>
        </p:nvSpPr>
        <p:spPr>
          <a:xfrm>
            <a:off x="628650" y="4933950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4단계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2F0141C-7495-4A8D-8208-1729704521E4}"/>
              </a:ext>
            </a:extLst>
          </p:cNvPr>
          <p:cNvSpPr>
            <a:spLocks noGrp="1"/>
          </p:cNvSpPr>
          <p:nvPr/>
        </p:nvSpPr>
        <p:spPr>
          <a:xfrm>
            <a:off x="628650" y="5095875"/>
            <a:ext cx="1581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97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종합·보고</a:t>
            </a: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FA1657B-505D-4855-8031-456FE1D3E3AD}"/>
              </a:ext>
            </a:extLst>
          </p:cNvPr>
          <p:cNvSpPr>
            <a:spLocks noGrp="1"/>
          </p:cNvSpPr>
          <p:nvPr/>
        </p:nvSpPr>
        <p:spPr>
          <a:xfrm>
            <a:off x="2438400" y="4933950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합격선과 대조</a:t>
            </a: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CF440D5D-4A93-4ECC-A00E-55CF2DD4C3E7}"/>
              </a:ext>
            </a:extLst>
          </p:cNvPr>
          <p:cNvSpPr>
            <a:spLocks noGrp="1"/>
          </p:cNvSpPr>
          <p:nvPr/>
        </p:nvSpPr>
        <p:spPr>
          <a:xfrm>
            <a:off x="2438400" y="5095875"/>
            <a:ext cx="29146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안전·프라이버시 점검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D88F6362-A060-4FDA-961D-0F52C518BA68}"/>
              </a:ext>
            </a:extLst>
          </p:cNvPr>
          <p:cNvSpPr>
            <a:spLocks noGrp="1"/>
          </p:cNvSpPr>
          <p:nvPr/>
        </p:nvSpPr>
        <p:spPr>
          <a:xfrm>
            <a:off x="5581650" y="4933950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최종 평가 리포트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3B3FB458-1BCD-45CF-B192-22B2FCE35DF0}"/>
              </a:ext>
            </a:extLst>
          </p:cNvPr>
          <p:cNvSpPr>
            <a:spLocks noGrp="1"/>
          </p:cNvSpPr>
          <p:nvPr/>
        </p:nvSpPr>
        <p:spPr>
          <a:xfrm>
            <a:off x="5581650" y="5095875"/>
            <a:ext cx="272415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(합격 판정표)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49B47825-BDE0-4E5C-A76B-A16879F6D5CB}"/>
              </a:ext>
            </a:extLst>
          </p:cNvPr>
          <p:cNvSpPr>
            <a:spLocks noGrp="1"/>
          </p:cNvSpPr>
          <p:nvPr/>
        </p:nvSpPr>
        <p:spPr>
          <a:xfrm>
            <a:off x="8534400" y="4933950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r>
              <a: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rPr>
              <a:t>1~2주</a:t>
            </a: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E0EB3C3E-B205-4316-8E18-FD33C3C47720}"/>
              </a:ext>
            </a:extLst>
          </p:cNvPr>
          <p:cNvSpPr>
            <a:spLocks noGrp="1"/>
          </p:cNvSpPr>
          <p:nvPr/>
        </p:nvSpPr>
        <p:spPr>
          <a:xfrm>
            <a:off x="8534400" y="5095875"/>
            <a:ext cx="30099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202635"/>
                </a:solidFill>
                <a:latin typeface="Pretendard"/>
                <a:ea typeface="Pretendard"/>
                <a:cs typeface="Pretendard"/>
              </a:defRPr>
            </a:pPr>
            <a:endParaRPr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815550DE-2FCE-499E-8BC7-45F0EC8A9D0D}"/>
              </a:ext>
            </a:extLst>
          </p:cNvPr>
          <p:cNvSpPr>
            <a:spLocks noGrp="1"/>
          </p:cNvSpPr>
          <p:nvPr/>
        </p:nvSpPr>
        <p:spPr>
          <a:xfrm>
            <a:off x="514350" y="5657850"/>
            <a:ext cx="100965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최종 제출물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5C9FA7A2-1CB8-4770-BBBD-9D16B2B0BB41}"/>
              </a:ext>
            </a:extLst>
          </p:cNvPr>
          <p:cNvSpPr>
            <a:spLocks noGrp="1"/>
          </p:cNvSpPr>
          <p:nvPr/>
        </p:nvSpPr>
        <p:spPr>
          <a:xfrm>
            <a:off x="514350" y="5848350"/>
            <a:ext cx="10096500" cy="1809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050" b="0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평가용 질문셋 · 채점/성능 결과표 · 시연 데모 · 최종 평가 리포트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4F0953CB-149F-477F-9139-DED19AC2DAE5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11144250" cy="361950"/>
          </a:xfrm>
          <a:prstGeom prst="rect">
            <a:avLst/>
          </a:prstGeom>
          <a:solidFill>
            <a:srgbClr val="EEF4FC"/>
          </a:solidFill>
          <a:ln w="9525">
            <a:solidFill>
              <a:srgbClr val="D7E0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383493EA-741D-4221-850D-622C719CD8FC}"/>
              </a:ext>
            </a:extLst>
          </p:cNvPr>
          <p:cNvSpPr>
            <a:spLocks noGrp="1"/>
          </p:cNvSpPr>
          <p:nvPr/>
        </p:nvSpPr>
        <p:spPr>
          <a:xfrm>
            <a:off x="514350" y="6076950"/>
            <a:ext cx="66675" cy="361950"/>
          </a:xfrm>
          <a:prstGeom prst="rect">
            <a:avLst/>
          </a:prstGeom>
          <a:solidFill>
            <a:srgbClr val="2E6FD4"/>
          </a:solidFill>
          <a:ln w="0">
            <a:solidFill>
              <a:srgbClr val="2E6FD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0F7EC551-5AAC-4148-A531-928346961F0D}"/>
              </a:ext>
            </a:extLst>
          </p:cNvPr>
          <p:cNvSpPr>
            <a:spLocks noGrp="1"/>
          </p:cNvSpPr>
          <p:nvPr/>
        </p:nvSpPr>
        <p:spPr>
          <a:xfrm>
            <a:off x="723900" y="6191250"/>
            <a:ext cx="8191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defRPr>
            </a:pPr>
            <a:r>
              <a:rPr sz="750" b="1">
                <a:solidFill>
                  <a:srgbClr val="2E6FD4"/>
                </a:solidFill>
                <a:latin typeface="Pretendard"/>
                <a:ea typeface="Pretendard"/>
                <a:cs typeface="Pretendard"/>
              </a:rPr>
              <a:t>Takeaway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C21BAC44-BF21-4DEE-BC37-A9C65107CF43}"/>
              </a:ext>
            </a:extLst>
          </p:cNvPr>
          <p:cNvSpPr>
            <a:spLocks noGrp="1"/>
          </p:cNvSpPr>
          <p:nvPr/>
        </p:nvSpPr>
        <p:spPr>
          <a:xfrm>
            <a:off x="1600200" y="6162675"/>
            <a:ext cx="9525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defRPr>
            </a:pPr>
            <a:r>
              <a:rPr sz="1125" b="1">
                <a:solidFill>
                  <a:srgbClr val="18233F"/>
                </a:solidFill>
                <a:latin typeface="Pretendard"/>
                <a:ea typeface="Pretendard"/>
                <a:cs typeface="Pretendard"/>
              </a:rPr>
              <a:t>정확한 숫자 기준은 1차 측정 후 확정하고, 미달 항목은 고친 뒤 다시 측정함</a:t>
            </a:r>
          </a:p>
        </p:txBody>
      </p:sp>
    </p:spTree>
    <p:extLst>
      <p:ext uri="{BB962C8B-B14F-4D97-AF65-F5344CB8AC3E}">
        <p14:creationId xmlns:p14="http://schemas.microsoft.com/office/powerpoint/2010/main" val="192214164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698</Words>
  <Application>Microsoft Office PowerPoint</Application>
  <DocSecurity>0</DocSecurity>
  <PresentationFormat>와이드스크린</PresentationFormat>
  <Paragraphs>175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Pretendard</vt:lpstr>
      <vt:lpstr>Calibri</vt:lpstr>
      <vt:lpstr>ChatGPT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지혜 윤</cp:lastModifiedBy>
  <cp:revision>6</cp:revision>
  <dcterms:created xsi:type="dcterms:W3CDTF">2026-05-30T09:36:14Z</dcterms:created>
  <dcterms:modified xsi:type="dcterms:W3CDTF">2026-05-30T10:46:51Z</dcterms:modified>
</cp:coreProperties>
</file>